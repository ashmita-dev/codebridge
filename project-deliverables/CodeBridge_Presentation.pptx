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CodeBridge: a compiler written from scratch in Python that translates a small pseudocode language into C++17. The screenshot is the live deployment compiling FizzBuzz. Fill in name, roll number, guide and institution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one-sentence summary, then the numbers: six phases, 233 automated tests, twelve examples and a 300-program differential test. Stress that correctness of the generated C++ is checked by compiling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gaps motivate the project: phases are taught separately, optimizers are a black box, and a translator is only useful if its output is correct. The problem statement on the slide is the project's formal goal.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has three parts: the compiler, the API and the workbench, tied together by testing. Read the five objectives; each is revisited later with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FizzBuzz: let, while, an else-if chain, print. The table lists everything the language supports; functions, arrays, for loops and input are intentionally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Versions are the ones pinned in requirements.txt and package.json. The compiler uses only the Python standard library; FastAPI and Pydantic are only in the web layer.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tiers. The browser sends the editor contents as JSON to POST /compile. main.py validates the request, applies the size limit and CORS, and calls compile_source, which runs the six compiler modules. The compiler package has no FastAPI imports, so every phase is unit-tested on its own. VITE_API_URL is baked into the frontend at build time; CORS on Render allows only the Vercel origin.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phases, the module that implements each and what it produces. Only the first three phases can report user errors: lexical L001 to L005, syntax P001 and P002, semantic S001 to S006. When a phase fails the pipeline stops, so the UI never shows TAC or C++ for an invalid program. Each artifact maps to one tab.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lexer collects every lexical error so the user sees them all at once. The parser is predictive recursive descent; precedence is encoded by which method calls which, and left associativity by loops. Depth limits stop malicious input from overflowing Python's call stack. The screenshot is the live AST tab.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Semantic analysis assigns a type to every expression and reports the six semantic error codes. TAC is the intermediate representation: one operator per instruction, labels and conditional jumps. The code panels show exact compiler output for let x = 2 * 3 + 4 before a loop: folding and propagation reduce three instructions to x = 10. Propagation is reset at labels, so it never crosses into a loop body.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pair is unedited compiler output; the last C++ statement is wrapped here only to fit the slide. The generator never sees the AST, only optimized TAC, and reconstructs structured control flow from jump patterns. On the right is the error handling: structured diagnostics, HTTP limits, and the rule that no C++ is produced for a failing program.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screenshot of the deployed site, not a mock-up. If the network allows, switch to the live site and follow the five steps: load the Optimizer showcase, show Optimized TAC, introduce a typo to show an inline error, then open the C++ tab.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the two kinds of evidence. The table is the automated suite, run locally and in GitHub Actions: 213 backend and 20 frontend tests, all passing. The box on the right lists checks done by hand or with one-off scripts against the deployed site on 13 October 2026; they are not part of the automated suite.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the language is intentionally small and the optimizer is intentionally conservative. The future work list follows from the limitations; WebAssembly would show program output without executing code on the server.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four outcomes, then invite questions. Likely questions: why recursive descent (simple, precise errors, no generator), why optimize TAC rather than the AST (classical, easier to reason about), how correctness is checked (reference interpreters and g++), and why code is not executed on the server (security).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85800" y="685800"/>
            <a:ext cx="5943600" cy="365760"/>
          </a:xfrm>
          <a:prstGeom prst="rect">
            <a:avLst/>
          </a:prstGeom>
          <a:noFill/>
        </p:spPr>
        <p:txBody>
          <a:bodyPr wrap="square" lIns="45720" rIns="45720" tIns="27432" bIns="27432" anchor="t"/>
          <a:lstStyle/>
          <a:p>
            <a:pPr algn="l">
              <a:lnSpc>
                <a:spcPct val="110000"/>
              </a:lnSpc>
              <a:spcAft>
                <a:spcPts val="400"/>
              </a:spcAft>
            </a:pPr>
            <a:r>
              <a:rPr sz="1400" b="1" i="0">
                <a:solidFill>
                  <a:srgbClr val="2DD4BF"/>
                </a:solidFill>
                <a:latin typeface="Segoe UI Semibold"/>
              </a:rPr>
              <a:t>COMPILER DESIGN MINI-PROJECT</a:t>
            </a:r>
          </a:p>
        </p:txBody>
      </p:sp>
      <p:sp>
        <p:nvSpPr>
          <p:cNvPr id="4" name="TextBox 3"/>
          <p:cNvSpPr txBox="1"/>
          <p:nvPr/>
        </p:nvSpPr>
        <p:spPr>
          <a:xfrm>
            <a:off x="685800" y="1143000"/>
            <a:ext cx="6035040" cy="1005840"/>
          </a:xfrm>
          <a:prstGeom prst="rect">
            <a:avLst/>
          </a:prstGeom>
          <a:noFill/>
        </p:spPr>
        <p:txBody>
          <a:bodyPr wrap="square" lIns="45720" rIns="45720" tIns="27432" bIns="27432" anchor="t"/>
          <a:lstStyle/>
          <a:p>
            <a:pPr algn="l">
              <a:lnSpc>
                <a:spcPct val="110000"/>
              </a:lnSpc>
              <a:spcAft>
                <a:spcPts val="400"/>
              </a:spcAft>
            </a:pPr>
            <a:r>
              <a:rPr sz="6000" b="1" i="0">
                <a:solidFill>
                  <a:srgbClr val="FFFFFF"/>
                </a:solidFill>
                <a:latin typeface="Segoe UI Semibold"/>
              </a:rPr>
              <a:t>CodeBridge</a:t>
            </a:r>
          </a:p>
        </p:txBody>
      </p:sp>
      <p:sp>
        <p:nvSpPr>
          <p:cNvPr id="5" name="TextBox 4"/>
          <p:cNvSpPr txBox="1"/>
          <p:nvPr/>
        </p:nvSpPr>
        <p:spPr>
          <a:xfrm>
            <a:off x="685800" y="2148840"/>
            <a:ext cx="5852160" cy="914400"/>
          </a:xfrm>
          <a:prstGeom prst="rect">
            <a:avLst/>
          </a:prstGeom>
          <a:noFill/>
        </p:spPr>
        <p:txBody>
          <a:bodyPr wrap="square" lIns="45720" rIns="45720" tIns="27432" bIns="27432" anchor="t"/>
          <a:lstStyle/>
          <a:p>
            <a:pPr algn="l">
              <a:lnSpc>
                <a:spcPct val="110000"/>
              </a:lnSpc>
              <a:spcAft>
                <a:spcPts val="400"/>
              </a:spcAft>
            </a:pPr>
            <a:r>
              <a:rPr sz="3000" b="0" i="0">
                <a:solidFill>
                  <a:srgbClr val="FFFFFF"/>
                </a:solidFill>
                <a:latin typeface="Segoe UI"/>
              </a:rPr>
              <a:t>Pseudocode-to-C++ Compiler</a:t>
            </a:r>
          </a:p>
        </p:txBody>
      </p:sp>
      <p:sp>
        <p:nvSpPr>
          <p:cNvPr id="6" name="TextBox 5"/>
          <p:cNvSpPr txBox="1"/>
          <p:nvPr/>
        </p:nvSpPr>
        <p:spPr>
          <a:xfrm>
            <a:off x="685800" y="2971800"/>
            <a:ext cx="5669280" cy="822960"/>
          </a:xfrm>
          <a:prstGeom prst="rect">
            <a:avLst/>
          </a:prstGeom>
          <a:noFill/>
        </p:spPr>
        <p:txBody>
          <a:bodyPr wrap="square" lIns="45720" rIns="45720" tIns="27432" bIns="27432" anchor="t"/>
          <a:lstStyle/>
          <a:p>
            <a:pPr algn="l">
              <a:lnSpc>
                <a:spcPct val="110000"/>
              </a:lnSpc>
              <a:spcAft>
                <a:spcPts val="400"/>
              </a:spcAft>
            </a:pPr>
            <a:r>
              <a:rPr sz="1600" b="0" i="0">
                <a:solidFill>
                  <a:srgbClr val="CBD5E1"/>
                </a:solidFill>
                <a:latin typeface="Segoe UI"/>
              </a:rPr>
              <a:t>A hand-written six-phase compiler with a live web workbench that shows every phase.</a:t>
            </a:r>
          </a:p>
        </p:txBody>
      </p:sp>
      <p:sp>
        <p:nvSpPr>
          <p:cNvPr id="7" name="TextBox 6"/>
          <p:cNvSpPr txBox="1"/>
          <p:nvPr/>
        </p:nvSpPr>
        <p:spPr>
          <a:xfrm>
            <a:off x="685800" y="4069080"/>
            <a:ext cx="5852160" cy="1097280"/>
          </a:xfrm>
          <a:prstGeom prst="rect">
            <a:avLst/>
          </a:prstGeom>
          <a:noFill/>
        </p:spPr>
        <p:txBody>
          <a:bodyPr wrap="square" lIns="45720" rIns="45720" tIns="27432" bIns="27432" anchor="t"/>
          <a:lstStyle/>
          <a:p>
            <a:pPr algn="l">
              <a:lnSpc>
                <a:spcPct val="110000"/>
              </a:lnSpc>
              <a:spcAft>
                <a:spcPts val="600"/>
              </a:spcAft>
            </a:pPr>
            <a:r>
              <a:rPr sz="1400" b="1" i="0">
                <a:solidFill>
                  <a:srgbClr val="2DD4BF"/>
                </a:solidFill>
                <a:latin typeface="Segoe UI"/>
              </a:rPr>
              <a:t>Presented by  </a:t>
            </a:r>
            <a:r>
              <a:rPr sz="1400" b="0" i="0">
                <a:solidFill>
                  <a:srgbClr val="FFFFFF"/>
                </a:solidFill>
                <a:latin typeface="Segoe UI"/>
              </a:rPr>
              <a:t>[Student Name]  ·  [Roll Number]</a:t>
            </a:r>
          </a:p>
          <a:p>
            <a:pPr algn="l">
              <a:lnSpc>
                <a:spcPct val="110000"/>
              </a:lnSpc>
              <a:spcAft>
                <a:spcPts val="600"/>
              </a:spcAft>
            </a:pPr>
            <a:r>
              <a:rPr sz="1400" b="1" i="0">
                <a:solidFill>
                  <a:srgbClr val="2DD4BF"/>
                </a:solidFill>
                <a:latin typeface="Segoe UI"/>
              </a:rPr>
              <a:t>Guide  </a:t>
            </a:r>
            <a:r>
              <a:rPr sz="1400" b="0" i="0">
                <a:solidFill>
                  <a:srgbClr val="FFFFFF"/>
                </a:solidFill>
                <a:latin typeface="Segoe UI"/>
              </a:rPr>
              <a:t>[Guide Name]</a:t>
            </a:r>
          </a:p>
          <a:p>
            <a:pPr algn="l">
              <a:lnSpc>
                <a:spcPct val="110000"/>
              </a:lnSpc>
              <a:spcAft>
                <a:spcPts val="600"/>
              </a:spcAft>
            </a:pPr>
            <a:r>
              <a:rPr sz="1400" b="1" i="0">
                <a:solidFill>
                  <a:srgbClr val="2DD4BF"/>
                </a:solidFill>
                <a:latin typeface="Segoe UI"/>
              </a:rPr>
              <a:t>Department  </a:t>
            </a:r>
            <a:r>
              <a:rPr sz="1400" b="0" i="0">
                <a:solidFill>
                  <a:srgbClr val="FFFFFF"/>
                </a:solidFill>
                <a:latin typeface="Segoe UI"/>
              </a:rPr>
              <a:t>[Department], [Institution]  ·  [Academic Year]</a:t>
            </a:r>
          </a:p>
        </p:txBody>
      </p:sp>
      <p:sp>
        <p:nvSpPr>
          <p:cNvPr id="8" name="TextBox 7"/>
          <p:cNvSpPr txBox="1"/>
          <p:nvPr/>
        </p:nvSpPr>
        <p:spPr>
          <a:xfrm>
            <a:off x="685800" y="5394960"/>
            <a:ext cx="5852160" cy="640080"/>
          </a:xfrm>
          <a:prstGeom prst="rect">
            <a:avLst/>
          </a:prstGeom>
          <a:noFill/>
        </p:spPr>
        <p:txBody>
          <a:bodyPr wrap="square" lIns="45720" rIns="45720" tIns="27432" bIns="27432" anchor="t"/>
          <a:lstStyle/>
          <a:p>
            <a:pPr algn="l">
              <a:lnSpc>
                <a:spcPct val="110000"/>
              </a:lnSpc>
              <a:spcAft>
                <a:spcPts val="400"/>
              </a:spcAft>
            </a:pPr>
            <a:r>
              <a:rPr sz="1400" b="1" i="0">
                <a:solidFill>
                  <a:srgbClr val="2DD4BF"/>
                </a:solidFill>
                <a:latin typeface="Segoe UI"/>
              </a:rPr>
              <a:t>Live  </a:t>
            </a:r>
            <a:r>
              <a:rPr sz="1400" b="0" i="0">
                <a:solidFill>
                  <a:srgbClr val="FFFFFF"/>
                </a:solidFill>
                <a:latin typeface="Segoe UI"/>
              </a:rPr>
              <a:t>codebridge-swart.vercel.app</a:t>
            </a:r>
          </a:p>
          <a:p>
            <a:pPr algn="l">
              <a:lnSpc>
                <a:spcPct val="110000"/>
              </a:lnSpc>
              <a:spcAft>
                <a:spcPts val="400"/>
              </a:spcAft>
            </a:pPr>
            <a:r>
              <a:rPr sz="1400" b="1" i="0">
                <a:solidFill>
                  <a:srgbClr val="2DD4BF"/>
                </a:solidFill>
                <a:latin typeface="Segoe UI"/>
              </a:rPr>
              <a:t>Code  </a:t>
            </a:r>
            <a:r>
              <a:rPr sz="1400" b="0" i="0">
                <a:solidFill>
                  <a:srgbClr val="FFFFFF"/>
                </a:solidFill>
                <a:latin typeface="Segoe UI"/>
              </a:rPr>
              <a:t>github.com/ashmita-dev/CodeBridge</a:t>
            </a:r>
          </a:p>
        </p:txBody>
      </p:sp>
      <p:pic>
        <p:nvPicPr>
          <p:cNvPr id="9" name="Picture 8" descr="live-cpp-fizzbuzz.png"/>
          <p:cNvPicPr>
            <a:picLocks noChangeAspect="1"/>
          </p:cNvPicPr>
          <p:nvPr/>
        </p:nvPicPr>
        <p:blipFill>
          <a:blip r:embed="rId2"/>
          <a:stretch>
            <a:fillRect/>
          </a:stretch>
        </p:blipFill>
        <p:spPr>
          <a:xfrm>
            <a:off x="6812280" y="1417320"/>
            <a:ext cx="4937760" cy="3086100"/>
          </a:xfrm>
          <a:prstGeom prst="rect">
            <a:avLst/>
          </a:prstGeom>
        </p:spPr>
      </p:pic>
      <p:sp>
        <p:nvSpPr>
          <p:cNvPr id="10" name="Rectangle 9"/>
          <p:cNvSpPr/>
          <p:nvPr/>
        </p:nvSpPr>
        <p:spPr>
          <a:xfrm>
            <a:off x="6812280" y="1417320"/>
            <a:ext cx="4937760" cy="3086100"/>
          </a:xfrm>
          <a:prstGeom prst="rect">
            <a:avLst/>
          </a:prstGeom>
          <a:no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12280" y="4572000"/>
            <a:ext cx="4937760" cy="320040"/>
          </a:xfrm>
          <a:prstGeom prst="rect">
            <a:avLst/>
          </a:prstGeom>
          <a:noFill/>
        </p:spPr>
        <p:txBody>
          <a:bodyPr wrap="square" lIns="45720" rIns="45720" tIns="27432" bIns="27432" anchor="t"/>
          <a:lstStyle/>
          <a:p>
            <a:pPr algn="ctr">
              <a:lnSpc>
                <a:spcPct val="110000"/>
              </a:lnSpc>
              <a:spcAft>
                <a:spcPts val="400"/>
              </a:spcAft>
            </a:pPr>
            <a:r>
              <a:rPr sz="1100" b="0" i="0">
                <a:solidFill>
                  <a:srgbClr val="94A3B8"/>
                </a:solidFill>
                <a:latin typeface="Segoe UI"/>
              </a:rPr>
              <a:t>Live deployment: FizzBuzz compiled to 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INTRODUCTION</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Introduction and project overview</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2 / 15</a:t>
            </a:r>
          </a:p>
        </p:txBody>
      </p:sp>
      <p:sp>
        <p:nvSpPr>
          <p:cNvPr id="8" name="TextBox 7"/>
          <p:cNvSpPr txBox="1"/>
          <p:nvPr/>
        </p:nvSpPr>
        <p:spPr>
          <a:xfrm>
            <a:off x="548640" y="1508760"/>
            <a:ext cx="6035040" cy="4206240"/>
          </a:xfrm>
          <a:prstGeom prst="rect">
            <a:avLst/>
          </a:prstGeom>
          <a:noFill/>
        </p:spPr>
        <p:txBody>
          <a:bodyPr wrap="square" lIns="45720" rIns="45720" tIns="27432" bIns="27432" anchor="t"/>
          <a:lstStyle/>
          <a:p>
            <a:pPr algn="l" marL="256032" indent="-256032">
              <a:lnSpc>
                <a:spcPct val="110000"/>
              </a:lnSpc>
              <a:spcAft>
                <a:spcPts val="1200"/>
              </a:spcAft>
            </a:pPr>
            <a:r>
              <a:rPr sz="1800" b="1" i="0">
                <a:solidFill>
                  <a:srgbClr val="0D9488"/>
                </a:solidFill>
                <a:latin typeface="Segoe UI"/>
              </a:rPr>
              <a:t>▸	</a:t>
            </a:r>
            <a:r>
              <a:rPr sz="1800" b="0" i="0">
                <a:solidFill>
                  <a:srgbClr val="0F172A"/>
                </a:solidFill>
                <a:latin typeface="Segoe UI"/>
              </a:rPr>
              <a:t>CodeBridge translates a small, statically typed </a:t>
            </a:r>
            <a:r>
              <a:rPr sz="1800" b="1" i="0">
                <a:solidFill>
                  <a:srgbClr val="0F172A"/>
                </a:solidFill>
                <a:latin typeface="Segoe UI"/>
              </a:rPr>
              <a:t>pseudocode language</a:t>
            </a:r>
            <a:r>
              <a:rPr sz="1800" b="0" i="0">
                <a:solidFill>
                  <a:srgbClr val="0F172A"/>
                </a:solidFill>
                <a:latin typeface="Segoe UI"/>
              </a:rPr>
              <a:t> into </a:t>
            </a:r>
            <a:r>
              <a:rPr sz="1800" b="1" i="0">
                <a:solidFill>
                  <a:srgbClr val="0F172A"/>
                </a:solidFill>
                <a:latin typeface="Segoe UI"/>
              </a:rPr>
              <a:t>C++17</a:t>
            </a:r>
            <a:r>
              <a:rPr sz="1800" b="0" i="0">
                <a:solidFill>
                  <a:srgbClr val="0F172A"/>
                </a:solidFill>
                <a:latin typeface="Segoe UI"/>
              </a:rPr>
              <a:t> source code.</a:t>
            </a:r>
          </a:p>
          <a:p>
            <a:pPr algn="l" marL="256032" indent="-256032">
              <a:lnSpc>
                <a:spcPct val="110000"/>
              </a:lnSpc>
              <a:spcAft>
                <a:spcPts val="1200"/>
              </a:spcAft>
            </a:pPr>
            <a:r>
              <a:rPr sz="1800" b="1" i="0">
                <a:solidFill>
                  <a:srgbClr val="0D9488"/>
                </a:solidFill>
                <a:latin typeface="Segoe UI"/>
              </a:rPr>
              <a:t>▸	</a:t>
            </a:r>
            <a:r>
              <a:rPr sz="1800" b="0" i="0">
                <a:solidFill>
                  <a:srgbClr val="0F172A"/>
                </a:solidFill>
                <a:latin typeface="Segoe UI"/>
              </a:rPr>
              <a:t>Every phase is </a:t>
            </a:r>
            <a:r>
              <a:rPr sz="1800" b="1" i="0">
                <a:solidFill>
                  <a:srgbClr val="0F172A"/>
                </a:solidFill>
                <a:latin typeface="Segoe UI"/>
              </a:rPr>
              <a:t>hand-written in Python</a:t>
            </a:r>
            <a:r>
              <a:rPr sz="1800" b="0" i="0">
                <a:solidFill>
                  <a:srgbClr val="0F172A"/>
                </a:solidFill>
                <a:latin typeface="Segoe UI"/>
              </a:rPr>
              <a:t>: lexer, recursive-descent parser, semantic analysis, TAC, optimizer and C++ generator. No parser generators.</a:t>
            </a:r>
          </a:p>
          <a:p>
            <a:pPr algn="l" marL="256032" indent="-256032">
              <a:lnSpc>
                <a:spcPct val="110000"/>
              </a:lnSpc>
              <a:spcAft>
                <a:spcPts val="1200"/>
              </a:spcAft>
            </a:pPr>
            <a:r>
              <a:rPr sz="1800" b="1" i="0">
                <a:solidFill>
                  <a:srgbClr val="0D9488"/>
                </a:solidFill>
                <a:latin typeface="Segoe UI"/>
              </a:rPr>
              <a:t>▸	</a:t>
            </a:r>
            <a:r>
              <a:rPr sz="1800" b="0" i="0">
                <a:solidFill>
                  <a:srgbClr val="0F172A"/>
                </a:solidFill>
                <a:latin typeface="Segoe UI"/>
              </a:rPr>
              <a:t>A </a:t>
            </a:r>
            <a:r>
              <a:rPr sz="1800" b="1" i="0">
                <a:solidFill>
                  <a:srgbClr val="0F172A"/>
                </a:solidFill>
                <a:latin typeface="Segoe UI"/>
              </a:rPr>
              <a:t>web workbench</a:t>
            </a:r>
            <a:r>
              <a:rPr sz="1800" b="0" i="0">
                <a:solidFill>
                  <a:srgbClr val="0F172A"/>
                </a:solidFill>
                <a:latin typeface="Segoe UI"/>
              </a:rPr>
              <a:t> shows tokens, AST, symbol table, original and optimized TAC, C++ and diagnostics for the code being edited.</a:t>
            </a:r>
          </a:p>
          <a:p>
            <a:pPr algn="l" marL="256032" indent="-256032">
              <a:lnSpc>
                <a:spcPct val="110000"/>
              </a:lnSpc>
              <a:spcAft>
                <a:spcPts val="1200"/>
              </a:spcAft>
            </a:pPr>
            <a:r>
              <a:rPr sz="1800" b="1" i="0">
                <a:solidFill>
                  <a:srgbClr val="0D9488"/>
                </a:solidFill>
                <a:latin typeface="Segoe UI"/>
              </a:rPr>
              <a:t>▸	</a:t>
            </a:r>
            <a:r>
              <a:rPr sz="1800" b="0" i="0">
                <a:solidFill>
                  <a:srgbClr val="0F172A"/>
                </a:solidFill>
                <a:latin typeface="Segoe UI"/>
              </a:rPr>
              <a:t>Deployed: React frontend on </a:t>
            </a:r>
            <a:r>
              <a:rPr sz="1800" b="1" i="0">
                <a:solidFill>
                  <a:srgbClr val="0F172A"/>
                </a:solidFill>
                <a:latin typeface="Segoe UI"/>
              </a:rPr>
              <a:t>Vercel</a:t>
            </a:r>
            <a:r>
              <a:rPr sz="1800" b="0" i="0">
                <a:solidFill>
                  <a:srgbClr val="0F172A"/>
                </a:solidFill>
                <a:latin typeface="Segoe UI"/>
              </a:rPr>
              <a:t>, FastAPI backend on </a:t>
            </a:r>
            <a:r>
              <a:rPr sz="1800" b="1" i="0">
                <a:solidFill>
                  <a:srgbClr val="0F172A"/>
                </a:solidFill>
                <a:latin typeface="Segoe UI"/>
              </a:rPr>
              <a:t>Render</a:t>
            </a:r>
            <a:r>
              <a:rPr sz="1800" b="0" i="0">
                <a:solidFill>
                  <a:srgbClr val="0F172A"/>
                </a:solidFill>
                <a:latin typeface="Segoe UI"/>
              </a:rPr>
              <a:t>.</a:t>
            </a:r>
          </a:p>
        </p:txBody>
      </p:sp>
      <p:sp>
        <p:nvSpPr>
          <p:cNvPr id="9" name="Rounded Rectangle 8"/>
          <p:cNvSpPr/>
          <p:nvPr/>
        </p:nvSpPr>
        <p:spPr>
          <a:xfrm>
            <a:off x="7040880" y="1600200"/>
            <a:ext cx="2240280" cy="137160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040880" y="1655064"/>
            <a:ext cx="2240280" cy="594360"/>
          </a:xfrm>
          <a:prstGeom prst="rect">
            <a:avLst/>
          </a:prstGeom>
          <a:noFill/>
        </p:spPr>
        <p:txBody>
          <a:bodyPr wrap="square" lIns="45720" rIns="45720" tIns="27432" bIns="27432" anchor="t"/>
          <a:lstStyle/>
          <a:p>
            <a:pPr algn="ctr">
              <a:lnSpc>
                <a:spcPct val="110000"/>
              </a:lnSpc>
              <a:spcAft>
                <a:spcPts val="400"/>
              </a:spcAft>
            </a:pPr>
            <a:r>
              <a:rPr sz="3400" b="1" i="0">
                <a:solidFill>
                  <a:srgbClr val="0D9488"/>
                </a:solidFill>
                <a:latin typeface="Segoe UI Semibold"/>
              </a:rPr>
              <a:t>6</a:t>
            </a:r>
          </a:p>
        </p:txBody>
      </p:sp>
      <p:sp>
        <p:nvSpPr>
          <p:cNvPr id="11" name="TextBox 10"/>
          <p:cNvSpPr txBox="1"/>
          <p:nvPr/>
        </p:nvSpPr>
        <p:spPr>
          <a:xfrm>
            <a:off x="7132320" y="2295144"/>
            <a:ext cx="2057400" cy="603504"/>
          </a:xfrm>
          <a:prstGeom prst="rect">
            <a:avLst/>
          </a:prstGeom>
          <a:noFill/>
        </p:spPr>
        <p:txBody>
          <a:bodyPr wrap="square" lIns="45720" rIns="45720" tIns="27432" bIns="27432" anchor="t"/>
          <a:lstStyle/>
          <a:p>
            <a:pPr algn="ctr">
              <a:lnSpc>
                <a:spcPct val="100000"/>
              </a:lnSpc>
              <a:spcAft>
                <a:spcPts val="0"/>
              </a:spcAft>
            </a:pPr>
            <a:r>
              <a:rPr sz="1200" b="0" i="0">
                <a:solidFill>
                  <a:srgbClr val="475569"/>
                </a:solidFill>
                <a:latin typeface="Segoe UI"/>
              </a:rPr>
              <a:t>compiler phases</a:t>
            </a:r>
          </a:p>
        </p:txBody>
      </p:sp>
      <p:sp>
        <p:nvSpPr>
          <p:cNvPr id="12" name="Rounded Rectangle 11"/>
          <p:cNvSpPr/>
          <p:nvPr/>
        </p:nvSpPr>
        <p:spPr>
          <a:xfrm>
            <a:off x="9418320" y="1600200"/>
            <a:ext cx="2240280" cy="137160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418320" y="1655064"/>
            <a:ext cx="2240280" cy="594360"/>
          </a:xfrm>
          <a:prstGeom prst="rect">
            <a:avLst/>
          </a:prstGeom>
          <a:noFill/>
        </p:spPr>
        <p:txBody>
          <a:bodyPr wrap="square" lIns="45720" rIns="45720" tIns="27432" bIns="27432" anchor="t"/>
          <a:lstStyle/>
          <a:p>
            <a:pPr algn="ctr">
              <a:lnSpc>
                <a:spcPct val="110000"/>
              </a:lnSpc>
              <a:spcAft>
                <a:spcPts val="400"/>
              </a:spcAft>
            </a:pPr>
            <a:r>
              <a:rPr sz="3400" b="1" i="0">
                <a:solidFill>
                  <a:srgbClr val="0D9488"/>
                </a:solidFill>
                <a:latin typeface="Segoe UI Semibold"/>
              </a:rPr>
              <a:t>233</a:t>
            </a:r>
          </a:p>
        </p:txBody>
      </p:sp>
      <p:sp>
        <p:nvSpPr>
          <p:cNvPr id="14" name="TextBox 13"/>
          <p:cNvSpPr txBox="1"/>
          <p:nvPr/>
        </p:nvSpPr>
        <p:spPr>
          <a:xfrm>
            <a:off x="9509760" y="2295144"/>
            <a:ext cx="2057400" cy="603504"/>
          </a:xfrm>
          <a:prstGeom prst="rect">
            <a:avLst/>
          </a:prstGeom>
          <a:noFill/>
        </p:spPr>
        <p:txBody>
          <a:bodyPr wrap="square" lIns="45720" rIns="45720" tIns="27432" bIns="27432" anchor="t"/>
          <a:lstStyle/>
          <a:p>
            <a:pPr algn="ctr">
              <a:lnSpc>
                <a:spcPct val="100000"/>
              </a:lnSpc>
              <a:spcAft>
                <a:spcPts val="0"/>
              </a:spcAft>
            </a:pPr>
            <a:r>
              <a:rPr sz="1200" b="0" i="0">
                <a:solidFill>
                  <a:srgbClr val="475569"/>
                </a:solidFill>
                <a:latin typeface="Segoe UI"/>
              </a:rPr>
              <a:t>automated tests
(213 backend + 20 frontend)</a:t>
            </a:r>
          </a:p>
        </p:txBody>
      </p:sp>
      <p:sp>
        <p:nvSpPr>
          <p:cNvPr id="15" name="Rounded Rectangle 14"/>
          <p:cNvSpPr/>
          <p:nvPr/>
        </p:nvSpPr>
        <p:spPr>
          <a:xfrm>
            <a:off x="7040880" y="3108960"/>
            <a:ext cx="2240280" cy="137160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040880" y="3163824"/>
            <a:ext cx="2240280" cy="594360"/>
          </a:xfrm>
          <a:prstGeom prst="rect">
            <a:avLst/>
          </a:prstGeom>
          <a:noFill/>
        </p:spPr>
        <p:txBody>
          <a:bodyPr wrap="square" lIns="45720" rIns="45720" tIns="27432" bIns="27432" anchor="t"/>
          <a:lstStyle/>
          <a:p>
            <a:pPr algn="ctr">
              <a:lnSpc>
                <a:spcPct val="110000"/>
              </a:lnSpc>
              <a:spcAft>
                <a:spcPts val="400"/>
              </a:spcAft>
            </a:pPr>
            <a:r>
              <a:rPr sz="3400" b="1" i="0">
                <a:solidFill>
                  <a:srgbClr val="0D9488"/>
                </a:solidFill>
                <a:latin typeface="Segoe UI Semibold"/>
              </a:rPr>
              <a:t>12</a:t>
            </a:r>
          </a:p>
        </p:txBody>
      </p:sp>
      <p:sp>
        <p:nvSpPr>
          <p:cNvPr id="17" name="TextBox 16"/>
          <p:cNvSpPr txBox="1"/>
          <p:nvPr/>
        </p:nvSpPr>
        <p:spPr>
          <a:xfrm>
            <a:off x="7132320" y="3803904"/>
            <a:ext cx="2057400" cy="603504"/>
          </a:xfrm>
          <a:prstGeom prst="rect">
            <a:avLst/>
          </a:prstGeom>
          <a:noFill/>
        </p:spPr>
        <p:txBody>
          <a:bodyPr wrap="square" lIns="45720" rIns="45720" tIns="27432" bIns="27432" anchor="t"/>
          <a:lstStyle/>
          <a:p>
            <a:pPr algn="ctr">
              <a:lnSpc>
                <a:spcPct val="100000"/>
              </a:lnSpc>
              <a:spcAft>
                <a:spcPts val="0"/>
              </a:spcAft>
            </a:pPr>
            <a:r>
              <a:rPr sz="1200" b="0" i="0">
                <a:solidFill>
                  <a:srgbClr val="475569"/>
                </a:solidFill>
                <a:latin typeface="Segoe UI"/>
              </a:rPr>
              <a:t>bundled example
programs</a:t>
            </a:r>
          </a:p>
        </p:txBody>
      </p:sp>
      <p:sp>
        <p:nvSpPr>
          <p:cNvPr id="18" name="Rounded Rectangle 17"/>
          <p:cNvSpPr/>
          <p:nvPr/>
        </p:nvSpPr>
        <p:spPr>
          <a:xfrm>
            <a:off x="9418320" y="3108960"/>
            <a:ext cx="2240280" cy="137160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418320" y="3163824"/>
            <a:ext cx="2240280" cy="594360"/>
          </a:xfrm>
          <a:prstGeom prst="rect">
            <a:avLst/>
          </a:prstGeom>
          <a:noFill/>
        </p:spPr>
        <p:txBody>
          <a:bodyPr wrap="square" lIns="45720" rIns="45720" tIns="27432" bIns="27432" anchor="t"/>
          <a:lstStyle/>
          <a:p>
            <a:pPr algn="ctr">
              <a:lnSpc>
                <a:spcPct val="110000"/>
              </a:lnSpc>
              <a:spcAft>
                <a:spcPts val="400"/>
              </a:spcAft>
            </a:pPr>
            <a:r>
              <a:rPr sz="3400" b="1" i="0">
                <a:solidFill>
                  <a:srgbClr val="0D9488"/>
                </a:solidFill>
                <a:latin typeface="Segoe UI Semibold"/>
              </a:rPr>
              <a:t>300</a:t>
            </a:r>
          </a:p>
        </p:txBody>
      </p:sp>
      <p:sp>
        <p:nvSpPr>
          <p:cNvPr id="20" name="TextBox 19"/>
          <p:cNvSpPr txBox="1"/>
          <p:nvPr/>
        </p:nvSpPr>
        <p:spPr>
          <a:xfrm>
            <a:off x="9509760" y="3803904"/>
            <a:ext cx="2057400" cy="603504"/>
          </a:xfrm>
          <a:prstGeom prst="rect">
            <a:avLst/>
          </a:prstGeom>
          <a:noFill/>
        </p:spPr>
        <p:txBody>
          <a:bodyPr wrap="square" lIns="45720" rIns="45720" tIns="27432" bIns="27432" anchor="t"/>
          <a:lstStyle/>
          <a:p>
            <a:pPr algn="ctr">
              <a:lnSpc>
                <a:spcPct val="100000"/>
              </a:lnSpc>
              <a:spcAft>
                <a:spcPts val="0"/>
              </a:spcAft>
            </a:pPr>
            <a:r>
              <a:rPr sz="1200" b="0" i="0">
                <a:solidFill>
                  <a:srgbClr val="475569"/>
                </a:solidFill>
                <a:latin typeface="Segoe UI"/>
              </a:rPr>
              <a:t>random programs in the
optimizer differential test</a:t>
            </a:r>
          </a:p>
        </p:txBody>
      </p:sp>
      <p:sp>
        <p:nvSpPr>
          <p:cNvPr id="21" name="Rounded Rectangle 20"/>
          <p:cNvSpPr/>
          <p:nvPr/>
        </p:nvSpPr>
        <p:spPr>
          <a:xfrm>
            <a:off x="7040880" y="4663440"/>
            <a:ext cx="4617720" cy="146304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4754880"/>
            <a:ext cx="4297680" cy="1325880"/>
          </a:xfrm>
          <a:prstGeom prst="rect">
            <a:avLst/>
          </a:prstGeom>
          <a:noFill/>
        </p:spPr>
        <p:txBody>
          <a:bodyPr wrap="square" lIns="45720" rIns="45720" tIns="27432" bIns="27432" anchor="t"/>
          <a:lstStyle/>
          <a:p>
            <a:pPr algn="l">
              <a:lnSpc>
                <a:spcPct val="110000"/>
              </a:lnSpc>
              <a:spcAft>
                <a:spcPts val="400"/>
              </a:spcAft>
            </a:pPr>
            <a:r>
              <a:rPr sz="1500" b="1" i="0">
                <a:solidFill>
                  <a:srgbClr val="0D9488"/>
                </a:solidFill>
                <a:latin typeface="Segoe UI"/>
              </a:rPr>
              <a:t>Output is real C++.</a:t>
            </a:r>
          </a:p>
          <a:p>
            <a:pPr algn="l">
              <a:lnSpc>
                <a:spcPct val="110000"/>
              </a:lnSpc>
              <a:spcAft>
                <a:spcPts val="400"/>
              </a:spcAft>
            </a:pPr>
            <a:r>
              <a:rPr sz="1500" b="0" i="0">
                <a:solidFill>
                  <a:srgbClr val="0F172A"/>
                </a:solidFill>
                <a:latin typeface="Segoe UI"/>
              </a:rPr>
              <a:t>Generated programs are built with g++ in the test suite and must print exactly what the source program means.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WHY THIS PROJECT</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Problem statement</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3 / 15</a:t>
            </a:r>
          </a:p>
        </p:txBody>
      </p:sp>
      <p:sp>
        <p:nvSpPr>
          <p:cNvPr id="8" name="Rounded Rectangle 7"/>
          <p:cNvSpPr/>
          <p:nvPr/>
        </p:nvSpPr>
        <p:spPr>
          <a:xfrm>
            <a:off x="548640" y="1600200"/>
            <a:ext cx="3520440" cy="251460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82296" cy="2514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3108960" cy="457200"/>
          </a:xfrm>
          <a:prstGeom prst="rect">
            <a:avLst/>
          </a:prstGeom>
          <a:noFill/>
        </p:spPr>
        <p:txBody>
          <a:bodyPr wrap="square" lIns="45720" rIns="45720" tIns="27432" bIns="27432" anchor="t"/>
          <a:lstStyle/>
          <a:p>
            <a:pPr algn="l">
              <a:lnSpc>
                <a:spcPct val="110000"/>
              </a:lnSpc>
              <a:spcAft>
                <a:spcPts val="400"/>
              </a:spcAft>
            </a:pPr>
            <a:r>
              <a:rPr sz="1900" b="1" i="0">
                <a:solidFill>
                  <a:srgbClr val="1D4ED8"/>
                </a:solidFill>
                <a:latin typeface="Segoe UI Semibold"/>
              </a:rPr>
              <a:t>Phases learned in isolation</a:t>
            </a:r>
          </a:p>
        </p:txBody>
      </p:sp>
      <p:sp>
        <p:nvSpPr>
          <p:cNvPr id="11" name="TextBox 10"/>
          <p:cNvSpPr txBox="1"/>
          <p:nvPr/>
        </p:nvSpPr>
        <p:spPr>
          <a:xfrm>
            <a:off x="822959" y="2423160"/>
            <a:ext cx="3063240" cy="1645920"/>
          </a:xfrm>
          <a:prstGeom prst="rect">
            <a:avLst/>
          </a:prstGeom>
          <a:noFill/>
        </p:spPr>
        <p:txBody>
          <a:bodyPr wrap="square" lIns="45720" rIns="45720" tIns="27432" bIns="27432" anchor="t"/>
          <a:lstStyle/>
          <a:p>
            <a:pPr algn="l">
              <a:lnSpc>
                <a:spcPct val="110000"/>
              </a:lnSpc>
              <a:spcAft>
                <a:spcPts val="400"/>
              </a:spcAft>
            </a:pPr>
            <a:r>
              <a:rPr sz="1600" b="0" i="0">
                <a:solidFill>
                  <a:srgbClr val="0F172A"/>
                </a:solidFill>
                <a:latin typeface="Segoe UI"/>
              </a:rPr>
              <a:t>Lexing, parsing, semantic analysis, IR and optimization are usually taught separately and on paper.</a:t>
            </a:r>
          </a:p>
        </p:txBody>
      </p:sp>
      <p:sp>
        <p:nvSpPr>
          <p:cNvPr id="12" name="Rounded Rectangle 11"/>
          <p:cNvSpPr/>
          <p:nvPr/>
        </p:nvSpPr>
        <p:spPr>
          <a:xfrm>
            <a:off x="4297679" y="1600200"/>
            <a:ext cx="3520440" cy="251460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297679" y="1600200"/>
            <a:ext cx="82296" cy="25146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1999" y="1783080"/>
            <a:ext cx="3108960" cy="457200"/>
          </a:xfrm>
          <a:prstGeom prst="rect">
            <a:avLst/>
          </a:prstGeom>
          <a:noFill/>
        </p:spPr>
        <p:txBody>
          <a:bodyPr wrap="square" lIns="45720" rIns="45720" tIns="27432" bIns="27432" anchor="t"/>
          <a:lstStyle/>
          <a:p>
            <a:pPr algn="l">
              <a:lnSpc>
                <a:spcPct val="110000"/>
              </a:lnSpc>
              <a:spcAft>
                <a:spcPts val="400"/>
              </a:spcAft>
            </a:pPr>
            <a:r>
              <a:rPr sz="1900" b="1" i="0">
                <a:solidFill>
                  <a:srgbClr val="B45309"/>
                </a:solidFill>
                <a:latin typeface="Segoe UI Semibold"/>
              </a:rPr>
              <a:t>Optimizers are invisible</a:t>
            </a:r>
          </a:p>
        </p:txBody>
      </p:sp>
      <p:sp>
        <p:nvSpPr>
          <p:cNvPr id="15" name="TextBox 14"/>
          <p:cNvSpPr txBox="1"/>
          <p:nvPr/>
        </p:nvSpPr>
        <p:spPr>
          <a:xfrm>
            <a:off x="4571999" y="2423160"/>
            <a:ext cx="3063240" cy="1645920"/>
          </a:xfrm>
          <a:prstGeom prst="rect">
            <a:avLst/>
          </a:prstGeom>
          <a:noFill/>
        </p:spPr>
        <p:txBody>
          <a:bodyPr wrap="square" lIns="45720" rIns="45720" tIns="27432" bIns="27432" anchor="t"/>
          <a:lstStyle/>
          <a:p>
            <a:pPr algn="l">
              <a:lnSpc>
                <a:spcPct val="110000"/>
              </a:lnSpc>
              <a:spcAft>
                <a:spcPts val="400"/>
              </a:spcAft>
            </a:pPr>
            <a:r>
              <a:rPr sz="1600" b="0" i="0">
                <a:solidFill>
                  <a:srgbClr val="0F172A"/>
                </a:solidFill>
                <a:latin typeface="Segoe UI"/>
              </a:rPr>
              <a:t>Students rarely see how an optimizer rewrites intermediate code, or why a transformation is safe.</a:t>
            </a:r>
          </a:p>
        </p:txBody>
      </p:sp>
      <p:sp>
        <p:nvSpPr>
          <p:cNvPr id="16" name="Rounded Rectangle 15"/>
          <p:cNvSpPr/>
          <p:nvPr/>
        </p:nvSpPr>
        <p:spPr>
          <a:xfrm>
            <a:off x="8046719" y="1600200"/>
            <a:ext cx="3520440" cy="2514600"/>
          </a:xfrm>
          <a:prstGeom prst="roundRect">
            <a:avLst>
              <a:gd name="adj" fmla="val 6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46719" y="1600200"/>
            <a:ext cx="82296" cy="25146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21040" y="1783080"/>
            <a:ext cx="3108960" cy="457200"/>
          </a:xfrm>
          <a:prstGeom prst="rect">
            <a:avLst/>
          </a:prstGeom>
          <a:noFill/>
        </p:spPr>
        <p:txBody>
          <a:bodyPr wrap="square" lIns="45720" rIns="45720" tIns="27432" bIns="27432" anchor="t"/>
          <a:lstStyle/>
          <a:p>
            <a:pPr algn="l">
              <a:lnSpc>
                <a:spcPct val="110000"/>
              </a:lnSpc>
              <a:spcAft>
                <a:spcPts val="400"/>
              </a:spcAft>
            </a:pPr>
            <a:r>
              <a:rPr sz="1900" b="1" i="0">
                <a:solidFill>
                  <a:srgbClr val="B91C1C"/>
                </a:solidFill>
                <a:latin typeface="Segoe UI Semibold"/>
              </a:rPr>
              <a:t>Translation must be correct</a:t>
            </a:r>
          </a:p>
        </p:txBody>
      </p:sp>
      <p:sp>
        <p:nvSpPr>
          <p:cNvPr id="19" name="TextBox 18"/>
          <p:cNvSpPr txBox="1"/>
          <p:nvPr/>
        </p:nvSpPr>
        <p:spPr>
          <a:xfrm>
            <a:off x="8321040" y="2423160"/>
            <a:ext cx="3063240" cy="1645920"/>
          </a:xfrm>
          <a:prstGeom prst="rect">
            <a:avLst/>
          </a:prstGeom>
          <a:noFill/>
        </p:spPr>
        <p:txBody>
          <a:bodyPr wrap="square" lIns="45720" rIns="45720" tIns="27432" bIns="27432" anchor="t"/>
          <a:lstStyle/>
          <a:p>
            <a:pPr algn="l">
              <a:lnSpc>
                <a:spcPct val="110000"/>
              </a:lnSpc>
              <a:spcAft>
                <a:spcPts val="400"/>
              </a:spcAft>
            </a:pPr>
            <a:r>
              <a:rPr sz="1600" b="0" i="0">
                <a:solidFill>
                  <a:srgbClr val="0F172A"/>
                </a:solidFill>
                <a:latin typeface="Segoe UI"/>
              </a:rPr>
              <a:t>A translator that emits plausible but wrong C++ is worse than none. Output must preserve meaning.</a:t>
            </a:r>
          </a:p>
        </p:txBody>
      </p:sp>
      <p:sp>
        <p:nvSpPr>
          <p:cNvPr id="20" name="Rounded Rectangle 19"/>
          <p:cNvSpPr/>
          <p:nvPr/>
        </p:nvSpPr>
        <p:spPr>
          <a:xfrm>
            <a:off x="548640" y="4434840"/>
            <a:ext cx="11091672" cy="169164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572000"/>
            <a:ext cx="10515600" cy="365760"/>
          </a:xfrm>
          <a:prstGeom prst="rect">
            <a:avLst/>
          </a:prstGeom>
          <a:noFill/>
        </p:spPr>
        <p:txBody>
          <a:bodyPr wrap="square" lIns="45720" rIns="45720" tIns="27432" bIns="27432" anchor="t"/>
          <a:lstStyle/>
          <a:p>
            <a:pPr algn="l">
              <a:lnSpc>
                <a:spcPct val="110000"/>
              </a:lnSpc>
              <a:spcAft>
                <a:spcPts val="400"/>
              </a:spcAft>
            </a:pPr>
            <a:r>
              <a:rPr sz="1200" b="1" i="0">
                <a:solidFill>
                  <a:srgbClr val="2DD4BF"/>
                </a:solidFill>
                <a:latin typeface="Segoe UI"/>
              </a:rPr>
              <a:t>PROBLEM STATEMENT</a:t>
            </a:r>
          </a:p>
        </p:txBody>
      </p:sp>
      <p:sp>
        <p:nvSpPr>
          <p:cNvPr id="22" name="TextBox 21"/>
          <p:cNvSpPr txBox="1"/>
          <p:nvPr/>
        </p:nvSpPr>
        <p:spPr>
          <a:xfrm>
            <a:off x="868680" y="4919472"/>
            <a:ext cx="10515600" cy="1143000"/>
          </a:xfrm>
          <a:prstGeom prst="rect">
            <a:avLst/>
          </a:prstGeom>
          <a:noFill/>
        </p:spPr>
        <p:txBody>
          <a:bodyPr wrap="square" lIns="45720" rIns="45720" tIns="27432" bIns="27432" anchor="t"/>
          <a:lstStyle/>
          <a:p>
            <a:pPr algn="l">
              <a:lnSpc>
                <a:spcPct val="110000"/>
              </a:lnSpc>
              <a:spcAft>
                <a:spcPts val="400"/>
              </a:spcAft>
            </a:pPr>
            <a:r>
              <a:rPr sz="1800" b="0" i="0">
                <a:solidFill>
                  <a:srgbClr val="FFFFFF"/>
                </a:solidFill>
                <a:latin typeface="Segoe UI"/>
              </a:rPr>
              <a:t>Build a compiler that accepts a simple pseudocode language, reports lexical, syntax and semantic errors precisely, generates and optimizes intermediate code, and emits equivalent C++, with every phase visible through a web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SOLUTION</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Proposed solution and objectives</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4 / 15</a:t>
            </a:r>
          </a:p>
        </p:txBody>
      </p:sp>
      <p:sp>
        <p:nvSpPr>
          <p:cNvPr id="8" name="Rounded Rectangle 7"/>
          <p:cNvSpPr/>
          <p:nvPr/>
        </p:nvSpPr>
        <p:spPr>
          <a:xfrm>
            <a:off x="548640" y="1554480"/>
            <a:ext cx="4937760" cy="45720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1737360"/>
            <a:ext cx="4480560" cy="411480"/>
          </a:xfrm>
          <a:prstGeom prst="rect">
            <a:avLst/>
          </a:prstGeom>
          <a:noFill/>
        </p:spPr>
        <p:txBody>
          <a:bodyPr wrap="square" lIns="45720" rIns="45720" tIns="27432" bIns="27432" anchor="t"/>
          <a:lstStyle/>
          <a:p>
            <a:pPr algn="l">
              <a:lnSpc>
                <a:spcPct val="110000"/>
              </a:lnSpc>
              <a:spcAft>
                <a:spcPts val="400"/>
              </a:spcAft>
            </a:pPr>
            <a:r>
              <a:rPr sz="2000" b="1" i="0">
                <a:solidFill>
                  <a:srgbClr val="0D9488"/>
                </a:solidFill>
                <a:latin typeface="Segoe UI Semibold"/>
              </a:rPr>
              <a:t>The solution</a:t>
            </a:r>
          </a:p>
        </p:txBody>
      </p:sp>
      <p:sp>
        <p:nvSpPr>
          <p:cNvPr id="10" name="TextBox 9"/>
          <p:cNvSpPr txBox="1"/>
          <p:nvPr/>
        </p:nvSpPr>
        <p:spPr>
          <a:xfrm>
            <a:off x="822960" y="2240280"/>
            <a:ext cx="4480560" cy="3749039"/>
          </a:xfrm>
          <a:prstGeom prst="rect">
            <a:avLst/>
          </a:prstGeom>
          <a:noFill/>
        </p:spPr>
        <p:txBody>
          <a:bodyPr wrap="square" lIns="45720" rIns="45720" tIns="27432" bIns="27432" anchor="t"/>
          <a:lstStyle/>
          <a:p>
            <a:pPr algn="l" marL="256032" indent="-256032">
              <a:lnSpc>
                <a:spcPct val="110000"/>
              </a:lnSpc>
              <a:spcAft>
                <a:spcPts val="1000"/>
              </a:spcAft>
            </a:pPr>
            <a:r>
              <a:rPr sz="1600" b="1" i="0">
                <a:solidFill>
                  <a:srgbClr val="0D9488"/>
                </a:solidFill>
                <a:latin typeface="Segoe UI"/>
              </a:rPr>
              <a:t>▸	</a:t>
            </a:r>
            <a:r>
              <a:rPr sz="1600" b="0" i="0">
                <a:solidFill>
                  <a:srgbClr val="0F172A"/>
                </a:solidFill>
                <a:latin typeface="Segoe UI"/>
              </a:rPr>
              <a:t>A complete source-to-source compiler from pseudocode to C++17.</a:t>
            </a:r>
          </a:p>
          <a:p>
            <a:pPr algn="l" marL="256032" indent="-256032">
              <a:lnSpc>
                <a:spcPct val="110000"/>
              </a:lnSpc>
              <a:spcAft>
                <a:spcPts val="1000"/>
              </a:spcAft>
            </a:pPr>
            <a:r>
              <a:rPr sz="1600" b="1" i="0">
                <a:solidFill>
                  <a:srgbClr val="0D9488"/>
                </a:solidFill>
                <a:latin typeface="Segoe UI"/>
              </a:rPr>
              <a:t>▸	</a:t>
            </a:r>
            <a:r>
              <a:rPr sz="1600" b="0" i="0">
                <a:solidFill>
                  <a:srgbClr val="0F172A"/>
                </a:solidFill>
                <a:latin typeface="Segoe UI"/>
              </a:rPr>
              <a:t>Exposed as a JSON API: </a:t>
            </a:r>
            <a:r>
              <a:rPr sz="1600" b="0" i="0">
                <a:solidFill>
                  <a:srgbClr val="0D9488"/>
                </a:solidFill>
                <a:latin typeface="Consolas"/>
              </a:rPr>
              <a:t>POST /compile</a:t>
            </a:r>
            <a:r>
              <a:rPr sz="1600" b="0" i="0">
                <a:solidFill>
                  <a:srgbClr val="0F172A"/>
                </a:solidFill>
                <a:latin typeface="Segoe UI"/>
              </a:rPr>
              <a:t> returns every artifact.</a:t>
            </a:r>
          </a:p>
          <a:p>
            <a:pPr algn="l" marL="256032" indent="-256032">
              <a:lnSpc>
                <a:spcPct val="110000"/>
              </a:lnSpc>
              <a:spcAft>
                <a:spcPts val="1000"/>
              </a:spcAft>
            </a:pPr>
            <a:r>
              <a:rPr sz="1600" b="1" i="0">
                <a:solidFill>
                  <a:srgbClr val="0D9488"/>
                </a:solidFill>
                <a:latin typeface="Segoe UI"/>
              </a:rPr>
              <a:t>▸	</a:t>
            </a:r>
            <a:r>
              <a:rPr sz="1600" b="0" i="0">
                <a:solidFill>
                  <a:srgbClr val="0F172A"/>
                </a:solidFill>
                <a:latin typeface="Segoe UI"/>
              </a:rPr>
              <a:t>A browser workbench that renders each phase for the current program.</a:t>
            </a:r>
          </a:p>
          <a:p>
            <a:pPr algn="l" marL="256032" indent="-256032">
              <a:lnSpc>
                <a:spcPct val="110000"/>
              </a:lnSpc>
              <a:spcAft>
                <a:spcPts val="1000"/>
              </a:spcAft>
            </a:pPr>
            <a:r>
              <a:rPr sz="1600" b="1" i="0">
                <a:solidFill>
                  <a:srgbClr val="0D9488"/>
                </a:solidFill>
                <a:latin typeface="Segoe UI"/>
              </a:rPr>
              <a:t>▸	</a:t>
            </a:r>
            <a:r>
              <a:rPr sz="1600" b="0" i="0">
                <a:solidFill>
                  <a:srgbClr val="0F172A"/>
                </a:solidFill>
                <a:latin typeface="Segoe UI"/>
              </a:rPr>
              <a:t>Testing against reference interpreters and real g++ binaries.</a:t>
            </a:r>
          </a:p>
        </p:txBody>
      </p:sp>
      <p:sp>
        <p:nvSpPr>
          <p:cNvPr id="11" name="Oval 10"/>
          <p:cNvSpPr/>
          <p:nvPr/>
        </p:nvSpPr>
        <p:spPr>
          <a:xfrm>
            <a:off x="5852160" y="160020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852160" y="1673352"/>
            <a:ext cx="566928" cy="411480"/>
          </a:xfrm>
          <a:prstGeom prst="rect">
            <a:avLst/>
          </a:prstGeom>
          <a:noFill/>
        </p:spPr>
        <p:txBody>
          <a:bodyPr wrap="square" lIns="45720" rIns="45720" tIns="27432" bIns="27432" anchor="t"/>
          <a:lstStyle/>
          <a:p>
            <a:pPr algn="ctr">
              <a:lnSpc>
                <a:spcPct val="110000"/>
              </a:lnSpc>
              <a:spcAft>
                <a:spcPts val="400"/>
              </a:spcAft>
            </a:pPr>
            <a:r>
              <a:rPr sz="1800" b="1" i="0">
                <a:solidFill>
                  <a:srgbClr val="FFFFFF"/>
                </a:solidFill>
                <a:latin typeface="Segoe UI"/>
              </a:rPr>
              <a:t>1</a:t>
            </a:r>
          </a:p>
        </p:txBody>
      </p:sp>
      <p:sp>
        <p:nvSpPr>
          <p:cNvPr id="13" name="TextBox 12"/>
          <p:cNvSpPr txBox="1"/>
          <p:nvPr/>
        </p:nvSpPr>
        <p:spPr>
          <a:xfrm>
            <a:off x="6583680" y="1581912"/>
            <a:ext cx="5029200" cy="777240"/>
          </a:xfrm>
          <a:prstGeom prst="rect">
            <a:avLst/>
          </a:prstGeom>
          <a:noFill/>
        </p:spPr>
        <p:txBody>
          <a:bodyPr wrap="square" lIns="45720" rIns="45720" tIns="27432" bIns="27432" anchor="ctr"/>
          <a:lstStyle/>
          <a:p>
            <a:pPr algn="l">
              <a:lnSpc>
                <a:spcPct val="110000"/>
              </a:lnSpc>
              <a:spcAft>
                <a:spcPts val="400"/>
              </a:spcAft>
            </a:pPr>
            <a:r>
              <a:rPr sz="1600" b="0" i="0">
                <a:solidFill>
                  <a:srgbClr val="0F172A"/>
                </a:solidFill>
                <a:latin typeface="Segoe UI"/>
              </a:rPr>
              <a:t>Design a small, complete language: int, float, string, bool, arithmetic, logic, print, if/else, while</a:t>
            </a:r>
          </a:p>
        </p:txBody>
      </p:sp>
      <p:sp>
        <p:nvSpPr>
          <p:cNvPr id="14" name="Oval 13"/>
          <p:cNvSpPr/>
          <p:nvPr/>
        </p:nvSpPr>
        <p:spPr>
          <a:xfrm>
            <a:off x="5852160" y="2496312"/>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852160" y="2569464"/>
            <a:ext cx="566928" cy="411480"/>
          </a:xfrm>
          <a:prstGeom prst="rect">
            <a:avLst/>
          </a:prstGeom>
          <a:noFill/>
        </p:spPr>
        <p:txBody>
          <a:bodyPr wrap="square" lIns="45720" rIns="45720" tIns="27432" bIns="27432" anchor="t"/>
          <a:lstStyle/>
          <a:p>
            <a:pPr algn="ctr">
              <a:lnSpc>
                <a:spcPct val="110000"/>
              </a:lnSpc>
              <a:spcAft>
                <a:spcPts val="400"/>
              </a:spcAft>
            </a:pPr>
            <a:r>
              <a:rPr sz="1800" b="1" i="0">
                <a:solidFill>
                  <a:srgbClr val="FFFFFF"/>
                </a:solidFill>
                <a:latin typeface="Segoe UI"/>
              </a:rPr>
              <a:t>2</a:t>
            </a:r>
          </a:p>
        </p:txBody>
      </p:sp>
      <p:sp>
        <p:nvSpPr>
          <p:cNvPr id="16" name="TextBox 15"/>
          <p:cNvSpPr txBox="1"/>
          <p:nvPr/>
        </p:nvSpPr>
        <p:spPr>
          <a:xfrm>
            <a:off x="6583680" y="2478024"/>
            <a:ext cx="5029200" cy="777240"/>
          </a:xfrm>
          <a:prstGeom prst="rect">
            <a:avLst/>
          </a:prstGeom>
          <a:noFill/>
        </p:spPr>
        <p:txBody>
          <a:bodyPr wrap="square" lIns="45720" rIns="45720" tIns="27432" bIns="27432" anchor="ctr"/>
          <a:lstStyle/>
          <a:p>
            <a:pPr algn="l">
              <a:lnSpc>
                <a:spcPct val="110000"/>
              </a:lnSpc>
              <a:spcAft>
                <a:spcPts val="400"/>
              </a:spcAft>
            </a:pPr>
            <a:r>
              <a:rPr sz="1600" b="0" i="0">
                <a:solidFill>
                  <a:srgbClr val="0F172A"/>
                </a:solidFill>
                <a:latin typeface="Segoe UI"/>
              </a:rPr>
              <a:t>Implement every phase by hand, each testable without the web framework</a:t>
            </a:r>
          </a:p>
        </p:txBody>
      </p:sp>
      <p:sp>
        <p:nvSpPr>
          <p:cNvPr id="17" name="Oval 16"/>
          <p:cNvSpPr/>
          <p:nvPr/>
        </p:nvSpPr>
        <p:spPr>
          <a:xfrm>
            <a:off x="5852160" y="3392424"/>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852160" y="3465576"/>
            <a:ext cx="566928" cy="411480"/>
          </a:xfrm>
          <a:prstGeom prst="rect">
            <a:avLst/>
          </a:prstGeom>
          <a:noFill/>
        </p:spPr>
        <p:txBody>
          <a:bodyPr wrap="square" lIns="45720" rIns="45720" tIns="27432" bIns="27432" anchor="t"/>
          <a:lstStyle/>
          <a:p>
            <a:pPr algn="ctr">
              <a:lnSpc>
                <a:spcPct val="110000"/>
              </a:lnSpc>
              <a:spcAft>
                <a:spcPts val="400"/>
              </a:spcAft>
            </a:pPr>
            <a:r>
              <a:rPr sz="1800" b="1" i="0">
                <a:solidFill>
                  <a:srgbClr val="FFFFFF"/>
                </a:solidFill>
                <a:latin typeface="Segoe UI"/>
              </a:rPr>
              <a:t>3</a:t>
            </a:r>
          </a:p>
        </p:txBody>
      </p:sp>
      <p:sp>
        <p:nvSpPr>
          <p:cNvPr id="19" name="TextBox 18"/>
          <p:cNvSpPr txBox="1"/>
          <p:nvPr/>
        </p:nvSpPr>
        <p:spPr>
          <a:xfrm>
            <a:off x="6583680" y="3374136"/>
            <a:ext cx="5029200" cy="777240"/>
          </a:xfrm>
          <a:prstGeom prst="rect">
            <a:avLst/>
          </a:prstGeom>
          <a:noFill/>
        </p:spPr>
        <p:txBody>
          <a:bodyPr wrap="square" lIns="45720" rIns="45720" tIns="27432" bIns="27432" anchor="ctr"/>
          <a:lstStyle/>
          <a:p>
            <a:pPr algn="l">
              <a:lnSpc>
                <a:spcPct val="110000"/>
              </a:lnSpc>
              <a:spcAft>
                <a:spcPts val="400"/>
              </a:spcAft>
            </a:pPr>
            <a:r>
              <a:rPr sz="1600" b="0" i="0">
                <a:solidFill>
                  <a:srgbClr val="0F172A"/>
                </a:solidFill>
                <a:latin typeface="Segoe UI"/>
              </a:rPr>
              <a:t>Report structured errors: stage, code, message, line and column</a:t>
            </a:r>
          </a:p>
        </p:txBody>
      </p:sp>
      <p:sp>
        <p:nvSpPr>
          <p:cNvPr id="20" name="Oval 19"/>
          <p:cNvSpPr/>
          <p:nvPr/>
        </p:nvSpPr>
        <p:spPr>
          <a:xfrm>
            <a:off x="5852160" y="4288536"/>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52160" y="4361688"/>
            <a:ext cx="566928" cy="411480"/>
          </a:xfrm>
          <a:prstGeom prst="rect">
            <a:avLst/>
          </a:prstGeom>
          <a:noFill/>
        </p:spPr>
        <p:txBody>
          <a:bodyPr wrap="square" lIns="45720" rIns="45720" tIns="27432" bIns="27432" anchor="t"/>
          <a:lstStyle/>
          <a:p>
            <a:pPr algn="ctr">
              <a:lnSpc>
                <a:spcPct val="110000"/>
              </a:lnSpc>
              <a:spcAft>
                <a:spcPts val="400"/>
              </a:spcAft>
            </a:pPr>
            <a:r>
              <a:rPr sz="1800" b="1" i="0">
                <a:solidFill>
                  <a:srgbClr val="FFFFFF"/>
                </a:solidFill>
                <a:latin typeface="Segoe UI"/>
              </a:rPr>
              <a:t>4</a:t>
            </a:r>
          </a:p>
        </p:txBody>
      </p:sp>
      <p:sp>
        <p:nvSpPr>
          <p:cNvPr id="22" name="TextBox 21"/>
          <p:cNvSpPr txBox="1"/>
          <p:nvPr/>
        </p:nvSpPr>
        <p:spPr>
          <a:xfrm>
            <a:off x="6583680" y="4270248"/>
            <a:ext cx="5029200" cy="777240"/>
          </a:xfrm>
          <a:prstGeom prst="rect">
            <a:avLst/>
          </a:prstGeom>
          <a:noFill/>
        </p:spPr>
        <p:txBody>
          <a:bodyPr wrap="square" lIns="45720" rIns="45720" tIns="27432" bIns="27432" anchor="ctr"/>
          <a:lstStyle/>
          <a:p>
            <a:pPr algn="l">
              <a:lnSpc>
                <a:spcPct val="110000"/>
              </a:lnSpc>
              <a:spcAft>
                <a:spcPts val="400"/>
              </a:spcAft>
            </a:pPr>
            <a:r>
              <a:rPr sz="1600" b="0" i="0">
                <a:solidFill>
                  <a:srgbClr val="0F172A"/>
                </a:solidFill>
                <a:latin typeface="Segoe UI"/>
              </a:rPr>
              <a:t>Generate TAC, optimize it safely, and emit behaviour-preserving C++</a:t>
            </a:r>
          </a:p>
        </p:txBody>
      </p:sp>
      <p:sp>
        <p:nvSpPr>
          <p:cNvPr id="23" name="Oval 22"/>
          <p:cNvSpPr/>
          <p:nvPr/>
        </p:nvSpPr>
        <p:spPr>
          <a:xfrm>
            <a:off x="5852160" y="5184648"/>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852160" y="5257800"/>
            <a:ext cx="566928" cy="411480"/>
          </a:xfrm>
          <a:prstGeom prst="rect">
            <a:avLst/>
          </a:prstGeom>
          <a:noFill/>
        </p:spPr>
        <p:txBody>
          <a:bodyPr wrap="square" lIns="45720" rIns="45720" tIns="27432" bIns="27432" anchor="t"/>
          <a:lstStyle/>
          <a:p>
            <a:pPr algn="ctr">
              <a:lnSpc>
                <a:spcPct val="110000"/>
              </a:lnSpc>
              <a:spcAft>
                <a:spcPts val="400"/>
              </a:spcAft>
            </a:pPr>
            <a:r>
              <a:rPr sz="1800" b="1" i="0">
                <a:solidFill>
                  <a:srgbClr val="FFFFFF"/>
                </a:solidFill>
                <a:latin typeface="Segoe UI"/>
              </a:rPr>
              <a:t>5</a:t>
            </a:r>
          </a:p>
        </p:txBody>
      </p:sp>
      <p:sp>
        <p:nvSpPr>
          <p:cNvPr id="25" name="TextBox 24"/>
          <p:cNvSpPr txBox="1"/>
          <p:nvPr/>
        </p:nvSpPr>
        <p:spPr>
          <a:xfrm>
            <a:off x="6583680" y="5166360"/>
            <a:ext cx="5029200" cy="777240"/>
          </a:xfrm>
          <a:prstGeom prst="rect">
            <a:avLst/>
          </a:prstGeom>
          <a:noFill/>
        </p:spPr>
        <p:txBody>
          <a:bodyPr wrap="square" lIns="45720" rIns="45720" tIns="27432" bIns="27432" anchor="ctr"/>
          <a:lstStyle/>
          <a:p>
            <a:pPr algn="l">
              <a:lnSpc>
                <a:spcPct val="110000"/>
              </a:lnSpc>
              <a:spcAft>
                <a:spcPts val="400"/>
              </a:spcAft>
            </a:pPr>
            <a:r>
              <a:rPr sz="1600" b="0" i="0">
                <a:solidFill>
                  <a:srgbClr val="0F172A"/>
                </a:solidFill>
                <a:latin typeface="Segoe UI"/>
              </a:rPr>
              <a:t>Present all phases in a responsive web app and deploy it publicly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LANGUAGE</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Features and supported language constructs</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5 / 15</a:t>
            </a:r>
          </a:p>
        </p:txBody>
      </p:sp>
      <p:sp>
        <p:nvSpPr>
          <p:cNvPr id="8" name="Rounded Rectangle 7"/>
          <p:cNvSpPr/>
          <p:nvPr/>
        </p:nvSpPr>
        <p:spPr>
          <a:xfrm>
            <a:off x="548640" y="1554480"/>
            <a:ext cx="5120640" cy="4526280"/>
          </a:xfrm>
          <a:prstGeom prst="roundRect">
            <a:avLst>
              <a:gd name="adj" fmla="val 4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645920"/>
            <a:ext cx="4754879" cy="292608"/>
          </a:xfrm>
          <a:prstGeom prst="rect">
            <a:avLst/>
          </a:prstGeom>
          <a:noFill/>
        </p:spPr>
        <p:txBody>
          <a:bodyPr wrap="square" lIns="45720" rIns="45720" tIns="27432" bIns="27432" anchor="t"/>
          <a:lstStyle/>
          <a:p>
            <a:pPr algn="l">
              <a:lnSpc>
                <a:spcPct val="110000"/>
              </a:lnSpc>
              <a:spcAft>
                <a:spcPts val="400"/>
              </a:spcAft>
            </a:pPr>
            <a:r>
              <a:rPr sz="1100" b="1" i="0">
                <a:solidFill>
                  <a:srgbClr val="2DD4BF"/>
                </a:solidFill>
                <a:latin typeface="Segoe UI"/>
              </a:rPr>
              <a:t>examples/fizzbuzz.cb</a:t>
            </a:r>
          </a:p>
        </p:txBody>
      </p:sp>
      <p:sp>
        <p:nvSpPr>
          <p:cNvPr id="10" name="TextBox 9"/>
          <p:cNvSpPr txBox="1"/>
          <p:nvPr/>
        </p:nvSpPr>
        <p:spPr>
          <a:xfrm>
            <a:off x="731520" y="1965960"/>
            <a:ext cx="4800600" cy="4041648"/>
          </a:xfrm>
          <a:prstGeom prst="rect">
            <a:avLst/>
          </a:prstGeom>
          <a:noFill/>
        </p:spPr>
        <p:txBody>
          <a:bodyPr wrap="square" lIns="45720" rIns="45720" tIns="27432" bIns="27432" anchor="t"/>
          <a:lstStyle/>
          <a:p>
            <a:pPr algn="l">
              <a:lnSpc>
                <a:spcPct val="105000"/>
              </a:lnSpc>
              <a:spcAft>
                <a:spcPts val="0"/>
              </a:spcAft>
            </a:pPr>
            <a:r>
              <a:rPr sz="1400" b="0" i="0">
                <a:solidFill>
                  <a:srgbClr val="64748B"/>
                </a:solidFill>
                <a:latin typeface="Consolas"/>
              </a:rPr>
              <a:t># Classic FizzBuzz from 1 to 15</a:t>
            </a:r>
          </a:p>
          <a:p>
            <a:pPr algn="l">
              <a:lnSpc>
                <a:spcPct val="105000"/>
              </a:lnSpc>
              <a:spcAft>
                <a:spcPts val="0"/>
              </a:spcAft>
            </a:pPr>
            <a:r>
              <a:rPr sz="1400" b="0" i="0">
                <a:solidFill>
                  <a:srgbClr val="C084FC"/>
                </a:solidFill>
                <a:latin typeface="Consolas"/>
              </a:rPr>
              <a:t>let</a:t>
            </a:r>
            <a:r>
              <a:rPr sz="1400" b="0" i="0">
                <a:solidFill>
                  <a:srgbClr val="E2E8F0"/>
                </a:solidFill>
                <a:latin typeface="Consolas"/>
              </a:rPr>
              <a:t> </a:t>
            </a:r>
            <a:r>
              <a:rPr sz="1400" b="0" i="0">
                <a:solidFill>
                  <a:srgbClr val="E2E8F0"/>
                </a:solidFill>
                <a:latin typeface="Consolas"/>
              </a:rPr>
              <a:t>i</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1</a:t>
            </a:r>
          </a:p>
          <a:p>
            <a:pPr algn="l">
              <a:lnSpc>
                <a:spcPct val="105000"/>
              </a:lnSpc>
              <a:spcAft>
                <a:spcPts val="0"/>
              </a:spcAft>
            </a:pPr>
            <a:r>
              <a:rPr sz="1400" b="0" i="0">
                <a:solidFill>
                  <a:srgbClr val="C084FC"/>
                </a:solidFill>
                <a:latin typeface="Consolas"/>
              </a:rPr>
              <a:t>while</a:t>
            </a:r>
            <a:r>
              <a:rPr sz="1400" b="0" i="0">
                <a:solidFill>
                  <a:srgbClr val="E2E8F0"/>
                </a:solidFill>
                <a:latin typeface="Consolas"/>
              </a:rPr>
              <a:t> </a:t>
            </a:r>
            <a:r>
              <a:rPr sz="1400" b="0" i="0">
                <a:solidFill>
                  <a:srgbClr val="E2E8F0"/>
                </a:solidFill>
                <a:latin typeface="Consolas"/>
              </a:rPr>
              <a:t>i</a:t>
            </a:r>
            <a:r>
              <a:rPr sz="1400" b="0" i="0">
                <a:solidFill>
                  <a:srgbClr val="E2E8F0"/>
                </a:solidFill>
                <a:latin typeface="Consolas"/>
              </a:rPr>
              <a:t> </a:t>
            </a:r>
            <a:r>
              <a:rPr sz="1400" b="0" i="0">
                <a:solidFill>
                  <a:srgbClr val="E2E8F0"/>
                </a:solidFill>
                <a:latin typeface="Consolas"/>
              </a:rPr>
              <a:t>&lt;</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15</a:t>
            </a:r>
            <a:r>
              <a:rPr sz="1400" b="0" i="0">
                <a:solidFill>
                  <a:srgbClr val="E2E8F0"/>
                </a:solidFill>
                <a:latin typeface="Consolas"/>
              </a:rPr>
              <a:t> </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C084FC"/>
                </a:solidFill>
                <a:latin typeface="Consolas"/>
              </a:rPr>
              <a:t>if</a:t>
            </a:r>
            <a:r>
              <a:rPr sz="1400" b="0" i="0">
                <a:solidFill>
                  <a:srgbClr val="E2E8F0"/>
                </a:solidFill>
                <a:latin typeface="Consolas"/>
              </a:rPr>
              <a:t> </a:t>
            </a:r>
            <a:r>
              <a:rPr sz="1400" b="0" i="0">
                <a:solidFill>
                  <a:srgbClr val="E2E8F0"/>
                </a:solidFill>
                <a:latin typeface="Consolas"/>
              </a:rPr>
              <a:t>i</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15</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0</a:t>
            </a:r>
            <a:r>
              <a:rPr sz="1400" b="0" i="0">
                <a:solidFill>
                  <a:srgbClr val="E2E8F0"/>
                </a:solidFill>
                <a:latin typeface="Consolas"/>
              </a:rPr>
              <a:t> </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C084FC"/>
                </a:solidFill>
                <a:latin typeface="Consolas"/>
              </a:rPr>
              <a:t>print</a:t>
            </a:r>
            <a:r>
              <a:rPr sz="1400" b="0" i="0">
                <a:solidFill>
                  <a:srgbClr val="E2E8F0"/>
                </a:solidFill>
                <a:latin typeface="Consolas"/>
              </a:rPr>
              <a:t>(</a:t>
            </a:r>
            <a:r>
              <a:rPr sz="1400" b="0" i="0">
                <a:solidFill>
                  <a:srgbClr val="86EFAC"/>
                </a:solidFill>
                <a:latin typeface="Consolas"/>
              </a:rPr>
              <a:t>"FizzBuzz"</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C084FC"/>
                </a:solidFill>
                <a:latin typeface="Consolas"/>
              </a:rPr>
              <a:t>else</a:t>
            </a:r>
            <a:r>
              <a:rPr sz="1400" b="0" i="0">
                <a:solidFill>
                  <a:srgbClr val="E2E8F0"/>
                </a:solidFill>
                <a:latin typeface="Consolas"/>
              </a:rPr>
              <a:t> </a:t>
            </a:r>
            <a:r>
              <a:rPr sz="1400" b="0" i="0">
                <a:solidFill>
                  <a:srgbClr val="C084FC"/>
                </a:solidFill>
                <a:latin typeface="Consolas"/>
              </a:rPr>
              <a:t>if</a:t>
            </a:r>
            <a:r>
              <a:rPr sz="1400" b="0" i="0">
                <a:solidFill>
                  <a:srgbClr val="E2E8F0"/>
                </a:solidFill>
                <a:latin typeface="Consolas"/>
              </a:rPr>
              <a:t> </a:t>
            </a:r>
            <a:r>
              <a:rPr sz="1400" b="0" i="0">
                <a:solidFill>
                  <a:srgbClr val="E2E8F0"/>
                </a:solidFill>
                <a:latin typeface="Consolas"/>
              </a:rPr>
              <a:t>i</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3</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0</a:t>
            </a:r>
            <a:r>
              <a:rPr sz="1400" b="0" i="0">
                <a:solidFill>
                  <a:srgbClr val="E2E8F0"/>
                </a:solidFill>
                <a:latin typeface="Consolas"/>
              </a:rPr>
              <a:t> </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C084FC"/>
                </a:solidFill>
                <a:latin typeface="Consolas"/>
              </a:rPr>
              <a:t>print</a:t>
            </a:r>
            <a:r>
              <a:rPr sz="1400" b="0" i="0">
                <a:solidFill>
                  <a:srgbClr val="E2E8F0"/>
                </a:solidFill>
                <a:latin typeface="Consolas"/>
              </a:rPr>
              <a:t>(</a:t>
            </a:r>
            <a:r>
              <a:rPr sz="1400" b="0" i="0">
                <a:solidFill>
                  <a:srgbClr val="86EFAC"/>
                </a:solidFill>
                <a:latin typeface="Consolas"/>
              </a:rPr>
              <a:t>"Fizz"</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C084FC"/>
                </a:solidFill>
                <a:latin typeface="Consolas"/>
              </a:rPr>
              <a:t>else</a:t>
            </a:r>
            <a:r>
              <a:rPr sz="1400" b="0" i="0">
                <a:solidFill>
                  <a:srgbClr val="E2E8F0"/>
                </a:solidFill>
                <a:latin typeface="Consolas"/>
              </a:rPr>
              <a:t> </a:t>
            </a:r>
            <a:r>
              <a:rPr sz="1400" b="0" i="0">
                <a:solidFill>
                  <a:srgbClr val="C084FC"/>
                </a:solidFill>
                <a:latin typeface="Consolas"/>
              </a:rPr>
              <a:t>if</a:t>
            </a:r>
            <a:r>
              <a:rPr sz="1400" b="0" i="0">
                <a:solidFill>
                  <a:srgbClr val="E2E8F0"/>
                </a:solidFill>
                <a:latin typeface="Consolas"/>
              </a:rPr>
              <a:t> </a:t>
            </a:r>
            <a:r>
              <a:rPr sz="1400" b="0" i="0">
                <a:solidFill>
                  <a:srgbClr val="E2E8F0"/>
                </a:solidFill>
                <a:latin typeface="Consolas"/>
              </a:rPr>
              <a:t>i</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5</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0</a:t>
            </a:r>
            <a:r>
              <a:rPr sz="1400" b="0" i="0">
                <a:solidFill>
                  <a:srgbClr val="E2E8F0"/>
                </a:solidFill>
                <a:latin typeface="Consolas"/>
              </a:rPr>
              <a:t> </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C084FC"/>
                </a:solidFill>
                <a:latin typeface="Consolas"/>
              </a:rPr>
              <a:t>print</a:t>
            </a:r>
            <a:r>
              <a:rPr sz="1400" b="0" i="0">
                <a:solidFill>
                  <a:srgbClr val="E2E8F0"/>
                </a:solidFill>
                <a:latin typeface="Consolas"/>
              </a:rPr>
              <a:t>(</a:t>
            </a:r>
            <a:r>
              <a:rPr sz="1400" b="0" i="0">
                <a:solidFill>
                  <a:srgbClr val="86EFAC"/>
                </a:solidFill>
                <a:latin typeface="Consolas"/>
              </a:rPr>
              <a:t>"Buzz"</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C084FC"/>
                </a:solidFill>
                <a:latin typeface="Consolas"/>
              </a:rPr>
              <a:t>else</a:t>
            </a:r>
            <a:r>
              <a:rPr sz="1400" b="0" i="0">
                <a:solidFill>
                  <a:srgbClr val="E2E8F0"/>
                </a:solidFill>
                <a:latin typeface="Consolas"/>
              </a:rPr>
              <a:t> </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C084FC"/>
                </a:solidFill>
                <a:latin typeface="Consolas"/>
              </a:rPr>
              <a:t>print</a:t>
            </a:r>
            <a:r>
              <a:rPr sz="1400" b="0" i="0">
                <a:solidFill>
                  <a:srgbClr val="E2E8F0"/>
                </a:solidFill>
                <a:latin typeface="Consolas"/>
              </a:rPr>
              <a:t>(</a:t>
            </a:r>
            <a:r>
              <a:rPr sz="1400" b="0" i="0">
                <a:solidFill>
                  <a:srgbClr val="E2E8F0"/>
                </a:solidFill>
                <a:latin typeface="Consolas"/>
              </a:rPr>
              <a:t>i</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E2E8F0"/>
                </a:solidFill>
                <a:latin typeface="Consolas"/>
              </a:rPr>
              <a:t>}</a:t>
            </a:r>
          </a:p>
          <a:p>
            <a:pPr algn="l">
              <a:lnSpc>
                <a:spcPct val="105000"/>
              </a:lnSpc>
              <a:spcAft>
                <a:spcPts val="0"/>
              </a:spcAft>
            </a:pPr>
            <a:r>
              <a:rPr sz="1400" b="0" i="0">
                <a:solidFill>
                  <a:srgbClr val="E2E8F0"/>
                </a:solidFill>
                <a:latin typeface="Consolas"/>
              </a:rPr>
              <a:t>    </a:t>
            </a:r>
            <a:r>
              <a:rPr sz="1400" b="0" i="0">
                <a:solidFill>
                  <a:srgbClr val="E2E8F0"/>
                </a:solidFill>
                <a:latin typeface="Consolas"/>
              </a:rPr>
              <a:t>i</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E2E8F0"/>
                </a:solidFill>
                <a:latin typeface="Consolas"/>
              </a:rPr>
              <a:t>i</a:t>
            </a:r>
            <a:r>
              <a:rPr sz="1400" b="0" i="0">
                <a:solidFill>
                  <a:srgbClr val="E2E8F0"/>
                </a:solidFill>
                <a:latin typeface="Consolas"/>
              </a:rPr>
              <a:t> </a:t>
            </a:r>
            <a:r>
              <a:rPr sz="1400" b="0" i="0">
                <a:solidFill>
                  <a:srgbClr val="E2E8F0"/>
                </a:solidFill>
                <a:latin typeface="Consolas"/>
              </a:rPr>
              <a:t>+</a:t>
            </a:r>
            <a:r>
              <a:rPr sz="1400" b="0" i="0">
                <a:solidFill>
                  <a:srgbClr val="E2E8F0"/>
                </a:solidFill>
                <a:latin typeface="Consolas"/>
              </a:rPr>
              <a:t> </a:t>
            </a:r>
            <a:r>
              <a:rPr sz="1400" b="0" i="0">
                <a:solidFill>
                  <a:srgbClr val="FDBA74"/>
                </a:solidFill>
                <a:latin typeface="Consolas"/>
              </a:rPr>
              <a:t>1</a:t>
            </a:r>
          </a:p>
          <a:p>
            <a:pPr algn="l">
              <a:lnSpc>
                <a:spcPct val="105000"/>
              </a:lnSpc>
              <a:spcAft>
                <a:spcPts val="0"/>
              </a:spcAft>
            </a:pPr>
            <a:r>
              <a:rPr sz="1400" b="0" i="0">
                <a:solidFill>
                  <a:srgbClr val="E2E8F0"/>
                </a:solidFill>
                <a:latin typeface="Consolas"/>
              </a:rPr>
              <a:t>}</a:t>
            </a:r>
          </a:p>
        </p:txBody>
      </p:sp>
      <p:graphicFrame>
        <p:nvGraphicFramePr>
          <p:cNvPr id="11" name="Table 10"/>
          <p:cNvGraphicFramePr>
            <a:graphicFrameLocks noGrp="1"/>
          </p:cNvGraphicFramePr>
          <p:nvPr/>
        </p:nvGraphicFramePr>
        <p:xfrm>
          <a:off x="6035040" y="1554480"/>
          <a:ext cx="5605272" cy="3145536"/>
        </p:xfrm>
        <a:graphic>
          <a:graphicData uri="http://schemas.openxmlformats.org/drawingml/2006/table">
            <a:tbl>
              <a:tblPr firstRow="0" bandRow="0">
                <a:tableStyleId>{5C22544A-7EE6-4342-B048-85BDC9FD1C3A}</a:tableStyleId>
              </a:tblPr>
              <a:tblGrid>
                <a:gridCol w="1508760"/>
                <a:gridCol w="4096512"/>
              </a:tblGrid>
              <a:tr h="393192">
                <a:tc>
                  <a:txBody>
                    <a:bodyPr wrap="square"/>
                    <a:lstStyle/>
                    <a:p>
                      <a:r>
                        <a:rPr sz="1300" b="1">
                          <a:solidFill>
                            <a:srgbClr val="FFFFFF"/>
                          </a:solidFill>
                          <a:latin typeface="Segoe UI"/>
                        </a:rPr>
                        <a:t>Construct</a:t>
                      </a:r>
                    </a:p>
                  </a:txBody>
                  <a:tcPr marL="73152" marR="73152" marT="27432" marB="27432" anchor="ctr">
                    <a:solidFill>
                      <a:srgbClr val="131C2E"/>
                    </a:solidFill>
                  </a:tcPr>
                </a:tc>
                <a:tc>
                  <a:txBody>
                    <a:bodyPr wrap="square"/>
                    <a:lstStyle/>
                    <a:p>
                      <a:r>
                        <a:rPr sz="1300" b="1">
                          <a:solidFill>
                            <a:srgbClr val="FFFFFF"/>
                          </a:solidFill>
                          <a:latin typeface="Segoe UI"/>
                        </a:rPr>
                        <a:t>Syntax</a:t>
                      </a:r>
                    </a:p>
                  </a:txBody>
                  <a:tcPr marL="73152" marR="73152" marT="27432" marB="27432" anchor="ctr">
                    <a:solidFill>
                      <a:srgbClr val="131C2E"/>
                    </a:solidFill>
                  </a:tcPr>
                </a:tc>
              </a:tr>
              <a:tr h="393192">
                <a:tc>
                  <a:txBody>
                    <a:bodyPr wrap="square"/>
                    <a:lstStyle/>
                    <a:p>
                      <a:r>
                        <a:rPr sz="1300" b="0">
                          <a:solidFill>
                            <a:srgbClr val="0F172A"/>
                          </a:solidFill>
                          <a:latin typeface="Segoe UI"/>
                        </a:rPr>
                        <a:t>Declaration</a:t>
                      </a:r>
                    </a:p>
                  </a:txBody>
                  <a:tcPr marL="73152" marR="73152" marT="27432" marB="27432" anchor="ctr">
                    <a:solidFill>
                      <a:srgbClr val="FFFFFF"/>
                    </a:solidFill>
                  </a:tcPr>
                </a:tc>
                <a:tc>
                  <a:txBody>
                    <a:bodyPr wrap="square"/>
                    <a:lstStyle/>
                    <a:p>
                      <a:r>
                        <a:rPr sz="1300" b="0">
                          <a:solidFill>
                            <a:srgbClr val="0D9488"/>
                          </a:solidFill>
                          <a:latin typeface="Consolas"/>
                        </a:rPr>
                        <a:t>let x = 5</a:t>
                      </a:r>
                      <a:r>
                        <a:rPr sz="1300" b="0">
                          <a:solidFill>
                            <a:srgbClr val="0F172A"/>
                          </a:solidFill>
                          <a:latin typeface="Segoe UI"/>
                        </a:rPr>
                        <a:t>   </a:t>
                      </a:r>
                      <a:r>
                        <a:rPr sz="1300" b="0">
                          <a:solidFill>
                            <a:srgbClr val="0D9488"/>
                          </a:solidFill>
                          <a:latin typeface="Consolas"/>
                        </a:rPr>
                        <a:t>let f: float = 2</a:t>
                      </a:r>
                    </a:p>
                  </a:txBody>
                  <a:tcPr marL="73152" marR="73152" marT="27432" marB="27432" anchor="ctr">
                    <a:solidFill>
                      <a:srgbClr val="FFFFFF"/>
                    </a:solidFill>
                  </a:tcPr>
                </a:tc>
              </a:tr>
              <a:tr h="393192">
                <a:tc>
                  <a:txBody>
                    <a:bodyPr wrap="square"/>
                    <a:lstStyle/>
                    <a:p>
                      <a:r>
                        <a:rPr sz="1300" b="0">
                          <a:solidFill>
                            <a:srgbClr val="0F172A"/>
                          </a:solidFill>
                          <a:latin typeface="Segoe UI"/>
                        </a:rPr>
                        <a:t>Assignment</a:t>
                      </a:r>
                    </a:p>
                  </a:txBody>
                  <a:tcPr marL="73152" marR="73152" marT="27432" marB="27432" anchor="ctr">
                    <a:solidFill>
                      <a:srgbClr val="F1F5F9"/>
                    </a:solidFill>
                  </a:tcPr>
                </a:tc>
                <a:tc>
                  <a:txBody>
                    <a:bodyPr wrap="square"/>
                    <a:lstStyle/>
                    <a:p>
                      <a:r>
                        <a:rPr sz="1300" b="0">
                          <a:solidFill>
                            <a:srgbClr val="0D9488"/>
                          </a:solidFill>
                          <a:latin typeface="Consolas"/>
                        </a:rPr>
                        <a:t>x = x + 1</a:t>
                      </a:r>
                    </a:p>
                  </a:txBody>
                  <a:tcPr marL="73152" marR="73152" marT="27432" marB="27432" anchor="ctr">
                    <a:solidFill>
                      <a:srgbClr val="F1F5F9"/>
                    </a:solidFill>
                  </a:tcPr>
                </a:tc>
              </a:tr>
              <a:tr h="393192">
                <a:tc>
                  <a:txBody>
                    <a:bodyPr wrap="square"/>
                    <a:lstStyle/>
                    <a:p>
                      <a:r>
                        <a:rPr sz="1300" b="0">
                          <a:solidFill>
                            <a:srgbClr val="0F172A"/>
                          </a:solidFill>
                          <a:latin typeface="Segoe UI"/>
                        </a:rPr>
                        <a:t>Output</a:t>
                      </a:r>
                    </a:p>
                  </a:txBody>
                  <a:tcPr marL="73152" marR="73152" marT="27432" marB="27432" anchor="ctr">
                    <a:solidFill>
                      <a:srgbClr val="FFFFFF"/>
                    </a:solidFill>
                  </a:tcPr>
                </a:tc>
                <a:tc>
                  <a:txBody>
                    <a:bodyPr wrap="square"/>
                    <a:lstStyle/>
                    <a:p>
                      <a:r>
                        <a:rPr sz="1300" b="0">
                          <a:solidFill>
                            <a:srgbClr val="0D9488"/>
                          </a:solidFill>
                          <a:latin typeface="Consolas"/>
                        </a:rPr>
                        <a:t>print(a, b)</a:t>
                      </a:r>
                      <a:r>
                        <a:rPr sz="1300" b="0">
                          <a:solidFill>
                            <a:srgbClr val="0F172A"/>
                          </a:solidFill>
                          <a:latin typeface="Segoe UI"/>
                        </a:rPr>
                        <a:t>  or  </a:t>
                      </a:r>
                      <a:r>
                        <a:rPr sz="1300" b="0">
                          <a:solidFill>
                            <a:srgbClr val="0D9488"/>
                          </a:solidFill>
                          <a:latin typeface="Consolas"/>
                        </a:rPr>
                        <a:t>print a, b</a:t>
                      </a:r>
                    </a:p>
                  </a:txBody>
                  <a:tcPr marL="73152" marR="73152" marT="27432" marB="27432" anchor="ctr">
                    <a:solidFill>
                      <a:srgbClr val="FFFFFF"/>
                    </a:solidFill>
                  </a:tcPr>
                </a:tc>
              </a:tr>
              <a:tr h="393192">
                <a:tc>
                  <a:txBody>
                    <a:bodyPr wrap="square"/>
                    <a:lstStyle/>
                    <a:p>
                      <a:r>
                        <a:rPr sz="1300" b="0">
                          <a:solidFill>
                            <a:srgbClr val="0F172A"/>
                          </a:solidFill>
                          <a:latin typeface="Segoe UI"/>
                        </a:rPr>
                        <a:t>Selection</a:t>
                      </a:r>
                    </a:p>
                  </a:txBody>
                  <a:tcPr marL="73152" marR="73152" marT="27432" marB="27432" anchor="ctr">
                    <a:solidFill>
                      <a:srgbClr val="F1F5F9"/>
                    </a:solidFill>
                  </a:tcPr>
                </a:tc>
                <a:tc>
                  <a:txBody>
                    <a:bodyPr wrap="square"/>
                    <a:lstStyle/>
                    <a:p>
                      <a:r>
                        <a:rPr sz="1300" b="0">
                          <a:solidFill>
                            <a:srgbClr val="0D9488"/>
                          </a:solidFill>
                          <a:latin typeface="Consolas"/>
                        </a:rPr>
                        <a:t>if</a:t>
                      </a:r>
                      <a:r>
                        <a:rPr sz="1300" b="0">
                          <a:solidFill>
                            <a:srgbClr val="0F172A"/>
                          </a:solidFill>
                          <a:latin typeface="Segoe UI"/>
                        </a:rPr>
                        <a:t> … </a:t>
                      </a:r>
                      <a:r>
                        <a:rPr sz="1300" b="0">
                          <a:solidFill>
                            <a:srgbClr val="0D9488"/>
                          </a:solidFill>
                          <a:latin typeface="Consolas"/>
                        </a:rPr>
                        <a:t>else if</a:t>
                      </a:r>
                      <a:r>
                        <a:rPr sz="1300" b="0">
                          <a:solidFill>
                            <a:srgbClr val="0F172A"/>
                          </a:solidFill>
                          <a:latin typeface="Segoe UI"/>
                        </a:rPr>
                        <a:t> … </a:t>
                      </a:r>
                      <a:r>
                        <a:rPr sz="1300" b="0">
                          <a:solidFill>
                            <a:srgbClr val="0D9488"/>
                          </a:solidFill>
                          <a:latin typeface="Consolas"/>
                        </a:rPr>
                        <a:t>else</a:t>
                      </a:r>
                      <a:r>
                        <a:rPr sz="1300" b="0">
                          <a:solidFill>
                            <a:srgbClr val="0F172A"/>
                          </a:solidFill>
                          <a:latin typeface="Segoe UI"/>
                        </a:rPr>
                        <a:t> { }</a:t>
                      </a:r>
                    </a:p>
                  </a:txBody>
                  <a:tcPr marL="73152" marR="73152" marT="27432" marB="27432" anchor="ctr">
                    <a:solidFill>
                      <a:srgbClr val="F1F5F9"/>
                    </a:solidFill>
                  </a:tcPr>
                </a:tc>
              </a:tr>
              <a:tr h="393192">
                <a:tc>
                  <a:txBody>
                    <a:bodyPr wrap="square"/>
                    <a:lstStyle/>
                    <a:p>
                      <a:r>
                        <a:rPr sz="1300" b="0">
                          <a:solidFill>
                            <a:srgbClr val="0F172A"/>
                          </a:solidFill>
                          <a:latin typeface="Segoe UI"/>
                        </a:rPr>
                        <a:t>Iteration</a:t>
                      </a:r>
                    </a:p>
                  </a:txBody>
                  <a:tcPr marL="73152" marR="73152" marT="27432" marB="27432" anchor="ctr">
                    <a:solidFill>
                      <a:srgbClr val="FFFFFF"/>
                    </a:solidFill>
                  </a:tcPr>
                </a:tc>
                <a:tc>
                  <a:txBody>
                    <a:bodyPr wrap="square"/>
                    <a:lstStyle/>
                    <a:p>
                      <a:r>
                        <a:rPr sz="1300" b="0">
                          <a:solidFill>
                            <a:srgbClr val="0D9488"/>
                          </a:solidFill>
                          <a:latin typeface="Consolas"/>
                        </a:rPr>
                        <a:t>while cond { }</a:t>
                      </a:r>
                    </a:p>
                  </a:txBody>
                  <a:tcPr marL="73152" marR="73152" marT="27432" marB="27432" anchor="ctr">
                    <a:solidFill>
                      <a:srgbClr val="FFFFFF"/>
                    </a:solidFill>
                  </a:tcPr>
                </a:tc>
              </a:tr>
              <a:tr h="393192">
                <a:tc>
                  <a:txBody>
                    <a:bodyPr wrap="square"/>
                    <a:lstStyle/>
                    <a:p>
                      <a:r>
                        <a:rPr sz="1300" b="0">
                          <a:solidFill>
                            <a:srgbClr val="0F172A"/>
                          </a:solidFill>
                          <a:latin typeface="Segoe UI"/>
                        </a:rPr>
                        <a:t>Operators</a:t>
                      </a:r>
                    </a:p>
                  </a:txBody>
                  <a:tcPr marL="73152" marR="73152" marT="27432" marB="27432" anchor="ctr">
                    <a:solidFill>
                      <a:srgbClr val="F1F5F9"/>
                    </a:solidFill>
                  </a:tcPr>
                </a:tc>
                <a:tc>
                  <a:txBody>
                    <a:bodyPr wrap="square"/>
                    <a:lstStyle/>
                    <a:p>
                      <a:r>
                        <a:rPr sz="1300" b="0">
                          <a:solidFill>
                            <a:srgbClr val="0D9488"/>
                          </a:solidFill>
                          <a:latin typeface="Consolas"/>
                        </a:rPr>
                        <a:t>+ - * / %</a:t>
                      </a:r>
                      <a:r>
                        <a:rPr sz="1300" b="0">
                          <a:solidFill>
                            <a:srgbClr val="0F172A"/>
                          </a:solidFill>
                          <a:latin typeface="Segoe UI"/>
                        </a:rPr>
                        <a:t>  </a:t>
                      </a:r>
                      <a:r>
                        <a:rPr sz="1300" b="0">
                          <a:solidFill>
                            <a:srgbClr val="0D9488"/>
                          </a:solidFill>
                          <a:latin typeface="Consolas"/>
                        </a:rPr>
                        <a:t>== != &lt; &lt;= &gt; &gt;=</a:t>
                      </a:r>
                      <a:r>
                        <a:rPr sz="1300" b="0">
                          <a:solidFill>
                            <a:srgbClr val="0F172A"/>
                          </a:solidFill>
                          <a:latin typeface="Segoe UI"/>
                        </a:rPr>
                        <a:t>  </a:t>
                      </a:r>
                      <a:r>
                        <a:rPr sz="1300" b="0">
                          <a:solidFill>
                            <a:srgbClr val="0D9488"/>
                          </a:solidFill>
                          <a:latin typeface="Consolas"/>
                        </a:rPr>
                        <a:t>and or not</a:t>
                      </a:r>
                    </a:p>
                  </a:txBody>
                  <a:tcPr marL="73152" marR="73152" marT="27432" marB="27432" anchor="ctr">
                    <a:solidFill>
                      <a:srgbClr val="F1F5F9"/>
                    </a:solidFill>
                  </a:tcPr>
                </a:tc>
              </a:tr>
              <a:tr h="393192">
                <a:tc>
                  <a:txBody>
                    <a:bodyPr wrap="square"/>
                    <a:lstStyle/>
                    <a:p>
                      <a:r>
                        <a:rPr sz="1300" b="0">
                          <a:solidFill>
                            <a:srgbClr val="0F172A"/>
                          </a:solidFill>
                          <a:latin typeface="Segoe UI"/>
                        </a:rPr>
                        <a:t>Types → C++</a:t>
                      </a:r>
                    </a:p>
                  </a:txBody>
                  <a:tcPr marL="73152" marR="73152" marT="27432" marB="27432" anchor="ctr">
                    <a:solidFill>
                      <a:srgbClr val="FFFFFF"/>
                    </a:solidFill>
                  </a:tcPr>
                </a:tc>
                <a:tc>
                  <a:txBody>
                    <a:bodyPr wrap="square"/>
                    <a:lstStyle/>
                    <a:p>
                      <a:r>
                        <a:rPr sz="1300" b="0">
                          <a:solidFill>
                            <a:srgbClr val="0F172A"/>
                          </a:solidFill>
                          <a:latin typeface="Segoe UI"/>
                        </a:rPr>
                        <a:t>int→long long, float→double, string, bool</a:t>
                      </a:r>
                    </a:p>
                  </a:txBody>
                  <a:tcPr marL="73152" marR="73152" marT="27432" marB="27432" anchor="ctr">
                    <a:solidFill>
                      <a:srgbClr val="FFFFFF"/>
                    </a:solidFill>
                  </a:tcPr>
                </a:tc>
              </a:tr>
            </a:tbl>
          </a:graphicData>
        </a:graphic>
      </p:graphicFrame>
      <p:sp>
        <p:nvSpPr>
          <p:cNvPr id="12" name="TextBox 11"/>
          <p:cNvSpPr txBox="1"/>
          <p:nvPr/>
        </p:nvSpPr>
        <p:spPr>
          <a:xfrm>
            <a:off x="6035040" y="4892040"/>
            <a:ext cx="5577840" cy="1280160"/>
          </a:xfrm>
          <a:prstGeom prst="rect">
            <a:avLst/>
          </a:prstGeom>
          <a:noFill/>
        </p:spPr>
        <p:txBody>
          <a:bodyPr wrap="square" lIns="45720" rIns="45720" tIns="27432" bIns="27432" anchor="t"/>
          <a:lstStyle/>
          <a:p>
            <a:pPr algn="l" marL="256032" indent="-256032">
              <a:lnSpc>
                <a:spcPct val="110000"/>
              </a:lnSpc>
              <a:spcAft>
                <a:spcPts val="400"/>
              </a:spcAft>
            </a:pPr>
            <a:r>
              <a:rPr sz="1400" b="1" i="0">
                <a:solidFill>
                  <a:srgbClr val="0D9488"/>
                </a:solidFill>
                <a:latin typeface="Segoe UI"/>
              </a:rPr>
              <a:t>▸	</a:t>
            </a:r>
            <a:r>
              <a:rPr sz="1400" b="0" i="0">
                <a:solidFill>
                  <a:srgbClr val="0F172A"/>
                </a:solidFill>
                <a:latin typeface="Segoe UI"/>
              </a:rPr>
              <a:t>C++ semantics: </a:t>
            </a:r>
            <a:r>
              <a:rPr sz="1400" b="0" i="0">
                <a:solidFill>
                  <a:srgbClr val="0D9488"/>
                </a:solidFill>
                <a:latin typeface="Consolas"/>
              </a:rPr>
              <a:t>/</a:t>
            </a:r>
            <a:r>
              <a:rPr sz="1400" b="0" i="0">
                <a:solidFill>
                  <a:srgbClr val="0F172A"/>
                </a:solidFill>
                <a:latin typeface="Segoe UI"/>
              </a:rPr>
              <a:t> truncates, </a:t>
            </a:r>
            <a:r>
              <a:rPr sz="1400" b="0" i="0">
                <a:solidFill>
                  <a:srgbClr val="0D9488"/>
                </a:solidFill>
                <a:latin typeface="Consolas"/>
              </a:rPr>
              <a:t>%</a:t>
            </a:r>
            <a:r>
              <a:rPr sz="1400" b="0" i="0">
                <a:solidFill>
                  <a:srgbClr val="0F172A"/>
                </a:solidFill>
                <a:latin typeface="Segoe UI"/>
              </a:rPr>
              <a:t> follows the dividend, </a:t>
            </a:r>
            <a:r>
              <a:rPr sz="1400" b="0" i="0">
                <a:solidFill>
                  <a:srgbClr val="0D9488"/>
                </a:solidFill>
                <a:latin typeface="Consolas"/>
              </a:rPr>
              <a:t>and</a:t>
            </a:r>
            <a:r>
              <a:rPr sz="1400" b="0" i="0">
                <a:solidFill>
                  <a:srgbClr val="0F172A"/>
                </a:solidFill>
                <a:latin typeface="Segoe UI"/>
              </a:rPr>
              <a:t>/</a:t>
            </a:r>
            <a:r>
              <a:rPr sz="1400" b="0" i="0">
                <a:solidFill>
                  <a:srgbClr val="0D9488"/>
                </a:solidFill>
                <a:latin typeface="Consolas"/>
              </a:rPr>
              <a:t>or</a:t>
            </a:r>
            <a:r>
              <a:rPr sz="1400" b="0" i="0">
                <a:solidFill>
                  <a:srgbClr val="0F172A"/>
                </a:solidFill>
                <a:latin typeface="Segoe UI"/>
              </a:rPr>
              <a:t> short-circuit.</a:t>
            </a:r>
          </a:p>
          <a:p>
            <a:pPr algn="l" marL="256032" indent="-256032">
              <a:lnSpc>
                <a:spcPct val="110000"/>
              </a:lnSpc>
              <a:spcAft>
                <a:spcPts val="400"/>
              </a:spcAft>
            </a:pPr>
            <a:r>
              <a:rPr sz="1400" b="1" i="0">
                <a:solidFill>
                  <a:srgbClr val="0D9488"/>
                </a:solidFill>
                <a:latin typeface="Segoe UI"/>
              </a:rPr>
              <a:t>▸	</a:t>
            </a:r>
            <a:r>
              <a:rPr sz="1400" b="0" i="0">
                <a:solidFill>
                  <a:srgbClr val="0F172A"/>
                </a:solidFill>
                <a:latin typeface="Segoe UI"/>
              </a:rPr>
              <a:t>Only int → float converts implicitly; conditions must be bool.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TOOLS</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Technology stack</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6 / 15</a:t>
            </a:r>
          </a:p>
        </p:txBody>
      </p:sp>
      <p:sp>
        <p:nvSpPr>
          <p:cNvPr id="8" name="Rounded Rectangle 7"/>
          <p:cNvSpPr/>
          <p:nvPr/>
        </p:nvSpPr>
        <p:spPr>
          <a:xfrm>
            <a:off x="548640" y="1600200"/>
            <a:ext cx="2633472" cy="3886200"/>
          </a:xfrm>
          <a:prstGeom prst="roundRect">
            <a:avLst>
              <a:gd name="adj" fmla="val 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48640" y="1600200"/>
            <a:ext cx="2633472" cy="640080"/>
          </a:xfrm>
          <a:prstGeom prst="roundRect">
            <a:avLst>
              <a:gd name="adj" fmla="val 2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1673352"/>
            <a:ext cx="2633472" cy="502920"/>
          </a:xfrm>
          <a:prstGeom prst="rect">
            <a:avLst/>
          </a:prstGeom>
          <a:noFill/>
        </p:spPr>
        <p:txBody>
          <a:bodyPr wrap="square" lIns="45720" rIns="45720" tIns="27432" bIns="27432" anchor="t"/>
          <a:lstStyle/>
          <a:p>
            <a:pPr algn="ctr">
              <a:lnSpc>
                <a:spcPct val="110000"/>
              </a:lnSpc>
              <a:spcAft>
                <a:spcPts val="400"/>
              </a:spcAft>
            </a:pPr>
            <a:r>
              <a:rPr sz="1900" b="1" i="0">
                <a:solidFill>
                  <a:srgbClr val="FFFFFF"/>
                </a:solidFill>
                <a:latin typeface="Segoe UI Semibold"/>
              </a:rPr>
              <a:t>Compiler + API</a:t>
            </a:r>
          </a:p>
        </p:txBody>
      </p:sp>
      <p:sp>
        <p:nvSpPr>
          <p:cNvPr id="11" name="TextBox 10"/>
          <p:cNvSpPr txBox="1"/>
          <p:nvPr/>
        </p:nvSpPr>
        <p:spPr>
          <a:xfrm>
            <a:off x="822959" y="2468880"/>
            <a:ext cx="2194560" cy="2926080"/>
          </a:xfrm>
          <a:prstGeom prst="rect">
            <a:avLst/>
          </a:prstGeom>
          <a:noFill/>
        </p:spPr>
        <p:txBody>
          <a:bodyPr wrap="square" lIns="45720" rIns="45720" tIns="27432" bIns="27432" anchor="t"/>
          <a:lstStyle/>
          <a:p>
            <a:pPr algn="l">
              <a:lnSpc>
                <a:spcPct val="110000"/>
              </a:lnSpc>
              <a:spcAft>
                <a:spcPts val="1000"/>
              </a:spcAft>
            </a:pPr>
            <a:r>
              <a:rPr sz="1700" b="1" i="0">
                <a:solidFill>
                  <a:srgbClr val="0D9488"/>
                </a:solidFill>
                <a:latin typeface="Segoe UI"/>
              </a:rPr>
              <a:t>•  </a:t>
            </a:r>
            <a:r>
              <a:rPr sz="1700" b="0" i="0">
                <a:solidFill>
                  <a:srgbClr val="0F172A"/>
                </a:solidFill>
                <a:latin typeface="Segoe UI"/>
              </a:rPr>
              <a:t>Python 3.13.15</a:t>
            </a:r>
          </a:p>
          <a:p>
            <a:pPr algn="l">
              <a:lnSpc>
                <a:spcPct val="110000"/>
              </a:lnSpc>
              <a:spcAft>
                <a:spcPts val="1000"/>
              </a:spcAft>
            </a:pPr>
            <a:r>
              <a:rPr sz="1700" b="1" i="0">
                <a:solidFill>
                  <a:srgbClr val="0D9488"/>
                </a:solidFill>
                <a:latin typeface="Segoe UI"/>
              </a:rPr>
              <a:t>•  </a:t>
            </a:r>
            <a:r>
              <a:rPr sz="1700" b="0" i="0">
                <a:solidFill>
                  <a:srgbClr val="0F172A"/>
                </a:solidFill>
                <a:latin typeface="Segoe UI"/>
              </a:rPr>
              <a:t>FastAPI 0.143</a:t>
            </a:r>
          </a:p>
          <a:p>
            <a:pPr algn="l">
              <a:lnSpc>
                <a:spcPct val="110000"/>
              </a:lnSpc>
              <a:spcAft>
                <a:spcPts val="1000"/>
              </a:spcAft>
            </a:pPr>
            <a:r>
              <a:rPr sz="1700" b="1" i="0">
                <a:solidFill>
                  <a:srgbClr val="0D9488"/>
                </a:solidFill>
                <a:latin typeface="Segoe UI"/>
              </a:rPr>
              <a:t>•  </a:t>
            </a:r>
            <a:r>
              <a:rPr sz="1700" b="0" i="0">
                <a:solidFill>
                  <a:srgbClr val="0F172A"/>
                </a:solidFill>
                <a:latin typeface="Segoe UI"/>
              </a:rPr>
              <a:t>Pydantic 2.14</a:t>
            </a:r>
          </a:p>
          <a:p>
            <a:pPr algn="l">
              <a:lnSpc>
                <a:spcPct val="110000"/>
              </a:lnSpc>
              <a:spcAft>
                <a:spcPts val="1000"/>
              </a:spcAft>
            </a:pPr>
            <a:r>
              <a:rPr sz="1700" b="1" i="0">
                <a:solidFill>
                  <a:srgbClr val="0D9488"/>
                </a:solidFill>
                <a:latin typeface="Segoe UI"/>
              </a:rPr>
              <a:t>•  </a:t>
            </a:r>
            <a:r>
              <a:rPr sz="1700" b="0" i="0">
                <a:solidFill>
                  <a:srgbClr val="0F172A"/>
                </a:solidFill>
                <a:latin typeface="Segoe UI"/>
              </a:rPr>
              <a:t>Uvicorn 0.54</a:t>
            </a:r>
          </a:p>
        </p:txBody>
      </p:sp>
      <p:sp>
        <p:nvSpPr>
          <p:cNvPr id="12" name="Rectangle 11"/>
          <p:cNvSpPr/>
          <p:nvPr/>
        </p:nvSpPr>
        <p:spPr>
          <a:xfrm>
            <a:off x="777240" y="4617720"/>
            <a:ext cx="2176272" cy="1097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4709160"/>
            <a:ext cx="2267712" cy="731520"/>
          </a:xfrm>
          <a:prstGeom prst="rect">
            <a:avLst/>
          </a:prstGeom>
          <a:noFill/>
        </p:spPr>
        <p:txBody>
          <a:bodyPr wrap="square" lIns="45720" rIns="45720" tIns="27432" bIns="27432" anchor="t"/>
          <a:lstStyle/>
          <a:p>
            <a:pPr algn="ctr">
              <a:lnSpc>
                <a:spcPct val="110000"/>
              </a:lnSpc>
              <a:spcAft>
                <a:spcPts val="400"/>
              </a:spcAft>
            </a:pPr>
            <a:r>
              <a:rPr sz="1300" b="0" i="0">
                <a:solidFill>
                  <a:srgbClr val="475569"/>
                </a:solidFill>
                <a:latin typeface="Segoe UI"/>
              </a:rPr>
              <a:t>hand-written compiler package and JSON API</a:t>
            </a:r>
          </a:p>
        </p:txBody>
      </p:sp>
      <p:sp>
        <p:nvSpPr>
          <p:cNvPr id="14" name="Rounded Rectangle 13"/>
          <p:cNvSpPr/>
          <p:nvPr/>
        </p:nvSpPr>
        <p:spPr>
          <a:xfrm>
            <a:off x="3364992" y="1600200"/>
            <a:ext cx="2633472" cy="388620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364992" y="1600200"/>
            <a:ext cx="2633472" cy="640080"/>
          </a:xfrm>
          <a:prstGeom prst="roundRect">
            <a:avLst>
              <a:gd name="adj" fmla="val 25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364992" y="1673352"/>
            <a:ext cx="2633472" cy="502920"/>
          </a:xfrm>
          <a:prstGeom prst="rect">
            <a:avLst/>
          </a:prstGeom>
          <a:noFill/>
        </p:spPr>
        <p:txBody>
          <a:bodyPr wrap="square" lIns="45720" rIns="45720" tIns="27432" bIns="27432" anchor="t"/>
          <a:lstStyle/>
          <a:p>
            <a:pPr algn="ctr">
              <a:lnSpc>
                <a:spcPct val="110000"/>
              </a:lnSpc>
              <a:spcAft>
                <a:spcPts val="400"/>
              </a:spcAft>
            </a:pPr>
            <a:r>
              <a:rPr sz="1900" b="1" i="0">
                <a:solidFill>
                  <a:srgbClr val="FFFFFF"/>
                </a:solidFill>
                <a:latin typeface="Segoe UI Semibold"/>
              </a:rPr>
              <a:t>Frontend</a:t>
            </a:r>
          </a:p>
        </p:txBody>
      </p:sp>
      <p:sp>
        <p:nvSpPr>
          <p:cNvPr id="17" name="TextBox 16"/>
          <p:cNvSpPr txBox="1"/>
          <p:nvPr/>
        </p:nvSpPr>
        <p:spPr>
          <a:xfrm>
            <a:off x="3639312" y="2468880"/>
            <a:ext cx="2194560" cy="2926080"/>
          </a:xfrm>
          <a:prstGeom prst="rect">
            <a:avLst/>
          </a:prstGeom>
          <a:noFill/>
        </p:spPr>
        <p:txBody>
          <a:bodyPr wrap="square" lIns="45720" rIns="45720" tIns="27432" bIns="27432" anchor="t"/>
          <a:lstStyle/>
          <a:p>
            <a:pPr algn="l">
              <a:lnSpc>
                <a:spcPct val="110000"/>
              </a:lnSpc>
              <a:spcAft>
                <a:spcPts val="1000"/>
              </a:spcAft>
            </a:pPr>
            <a:r>
              <a:rPr sz="1700" b="1" i="0">
                <a:solidFill>
                  <a:srgbClr val="1D4ED8"/>
                </a:solidFill>
                <a:latin typeface="Segoe UI"/>
              </a:rPr>
              <a:t>•  </a:t>
            </a:r>
            <a:r>
              <a:rPr sz="1700" b="0" i="0">
                <a:solidFill>
                  <a:srgbClr val="0F172A"/>
                </a:solidFill>
                <a:latin typeface="Segoe UI"/>
              </a:rPr>
              <a:t>React 19.3</a:t>
            </a:r>
          </a:p>
          <a:p>
            <a:pPr algn="l">
              <a:lnSpc>
                <a:spcPct val="110000"/>
              </a:lnSpc>
              <a:spcAft>
                <a:spcPts val="1000"/>
              </a:spcAft>
            </a:pPr>
            <a:r>
              <a:rPr sz="1700" b="1" i="0">
                <a:solidFill>
                  <a:srgbClr val="1D4ED8"/>
                </a:solidFill>
                <a:latin typeface="Segoe UI"/>
              </a:rPr>
              <a:t>•  </a:t>
            </a:r>
            <a:r>
              <a:rPr sz="1700" b="0" i="0">
                <a:solidFill>
                  <a:srgbClr val="0F172A"/>
                </a:solidFill>
                <a:latin typeface="Segoe UI"/>
              </a:rPr>
              <a:t>TypeScript 7.0</a:t>
            </a:r>
          </a:p>
          <a:p>
            <a:pPr algn="l">
              <a:lnSpc>
                <a:spcPct val="110000"/>
              </a:lnSpc>
              <a:spcAft>
                <a:spcPts val="1000"/>
              </a:spcAft>
            </a:pPr>
            <a:r>
              <a:rPr sz="1700" b="1" i="0">
                <a:solidFill>
                  <a:srgbClr val="1D4ED8"/>
                </a:solidFill>
                <a:latin typeface="Segoe UI"/>
              </a:rPr>
              <a:t>•  </a:t>
            </a:r>
            <a:r>
              <a:rPr sz="1700" b="0" i="0">
                <a:solidFill>
                  <a:srgbClr val="0F172A"/>
                </a:solidFill>
                <a:latin typeface="Segoe UI"/>
              </a:rPr>
              <a:t>Vite 8.3</a:t>
            </a:r>
          </a:p>
          <a:p>
            <a:pPr algn="l">
              <a:lnSpc>
                <a:spcPct val="110000"/>
              </a:lnSpc>
              <a:spcAft>
                <a:spcPts val="1000"/>
              </a:spcAft>
            </a:pPr>
            <a:r>
              <a:rPr sz="1700" b="1" i="0">
                <a:solidFill>
                  <a:srgbClr val="1D4ED8"/>
                </a:solidFill>
                <a:latin typeface="Segoe UI"/>
              </a:rPr>
              <a:t>•  </a:t>
            </a:r>
            <a:r>
              <a:rPr sz="1700" b="0" i="0">
                <a:solidFill>
                  <a:srgbClr val="0F172A"/>
                </a:solidFill>
                <a:latin typeface="Segoe UI"/>
              </a:rPr>
              <a:t>Tailwind CSS 4.3</a:t>
            </a:r>
          </a:p>
          <a:p>
            <a:pPr algn="l">
              <a:lnSpc>
                <a:spcPct val="110000"/>
              </a:lnSpc>
              <a:spcAft>
                <a:spcPts val="1000"/>
              </a:spcAft>
            </a:pPr>
            <a:r>
              <a:rPr sz="1700" b="1" i="0">
                <a:solidFill>
                  <a:srgbClr val="1D4ED8"/>
                </a:solidFill>
                <a:latin typeface="Segoe UI"/>
              </a:rPr>
              <a:t>•  </a:t>
            </a:r>
            <a:r>
              <a:rPr sz="1700" b="0" i="0">
                <a:solidFill>
                  <a:srgbClr val="0F172A"/>
                </a:solidFill>
                <a:latin typeface="Segoe UI"/>
              </a:rPr>
              <a:t>CodeMirror 6</a:t>
            </a:r>
          </a:p>
        </p:txBody>
      </p:sp>
      <p:sp>
        <p:nvSpPr>
          <p:cNvPr id="18" name="Rectangle 17"/>
          <p:cNvSpPr/>
          <p:nvPr/>
        </p:nvSpPr>
        <p:spPr>
          <a:xfrm>
            <a:off x="3593592" y="4617720"/>
            <a:ext cx="2176272" cy="1097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547872" y="4709160"/>
            <a:ext cx="2267712" cy="731520"/>
          </a:xfrm>
          <a:prstGeom prst="rect">
            <a:avLst/>
          </a:prstGeom>
          <a:noFill/>
        </p:spPr>
        <p:txBody>
          <a:bodyPr wrap="square" lIns="45720" rIns="45720" tIns="27432" bIns="27432" anchor="t"/>
          <a:lstStyle/>
          <a:p>
            <a:pPr algn="ctr">
              <a:lnSpc>
                <a:spcPct val="110000"/>
              </a:lnSpc>
              <a:spcAft>
                <a:spcPts val="400"/>
              </a:spcAft>
            </a:pPr>
            <a:r>
              <a:rPr sz="1300" b="0" i="0">
                <a:solidFill>
                  <a:srgbClr val="475569"/>
                </a:solidFill>
                <a:latin typeface="Segoe UI"/>
              </a:rPr>
              <a:t>workbench UI, editor and artifact views</a:t>
            </a:r>
          </a:p>
        </p:txBody>
      </p:sp>
      <p:sp>
        <p:nvSpPr>
          <p:cNvPr id="20" name="Rounded Rectangle 19"/>
          <p:cNvSpPr/>
          <p:nvPr/>
        </p:nvSpPr>
        <p:spPr>
          <a:xfrm>
            <a:off x="6181344" y="1600200"/>
            <a:ext cx="2633472" cy="388620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181344" y="1600200"/>
            <a:ext cx="2633472" cy="640080"/>
          </a:xfrm>
          <a:prstGeom prst="roundRect">
            <a:avLst>
              <a:gd name="adj" fmla="val 25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81344" y="1673352"/>
            <a:ext cx="2633472" cy="502920"/>
          </a:xfrm>
          <a:prstGeom prst="rect">
            <a:avLst/>
          </a:prstGeom>
          <a:noFill/>
        </p:spPr>
        <p:txBody>
          <a:bodyPr wrap="square" lIns="45720" rIns="45720" tIns="27432" bIns="27432" anchor="t"/>
          <a:lstStyle/>
          <a:p>
            <a:pPr algn="ctr">
              <a:lnSpc>
                <a:spcPct val="110000"/>
              </a:lnSpc>
              <a:spcAft>
                <a:spcPts val="400"/>
              </a:spcAft>
            </a:pPr>
            <a:r>
              <a:rPr sz="1900" b="1" i="0">
                <a:solidFill>
                  <a:srgbClr val="FFFFFF"/>
                </a:solidFill>
                <a:latin typeface="Segoe UI Semibold"/>
              </a:rPr>
              <a:t>Testing</a:t>
            </a:r>
          </a:p>
        </p:txBody>
      </p:sp>
      <p:sp>
        <p:nvSpPr>
          <p:cNvPr id="23" name="TextBox 22"/>
          <p:cNvSpPr txBox="1"/>
          <p:nvPr/>
        </p:nvSpPr>
        <p:spPr>
          <a:xfrm>
            <a:off x="6455664" y="2468880"/>
            <a:ext cx="2194560" cy="2926080"/>
          </a:xfrm>
          <a:prstGeom prst="rect">
            <a:avLst/>
          </a:prstGeom>
          <a:noFill/>
        </p:spPr>
        <p:txBody>
          <a:bodyPr wrap="square" lIns="45720" rIns="45720" tIns="27432" bIns="27432" anchor="t"/>
          <a:lstStyle/>
          <a:p>
            <a:pPr algn="l">
              <a:lnSpc>
                <a:spcPct val="110000"/>
              </a:lnSpc>
              <a:spcAft>
                <a:spcPts val="1000"/>
              </a:spcAft>
            </a:pPr>
            <a:r>
              <a:rPr sz="1700" b="1" i="0">
                <a:solidFill>
                  <a:srgbClr val="B45309"/>
                </a:solidFill>
                <a:latin typeface="Segoe UI"/>
              </a:rPr>
              <a:t>•  </a:t>
            </a:r>
            <a:r>
              <a:rPr sz="1700" b="0" i="0">
                <a:solidFill>
                  <a:srgbClr val="0F172A"/>
                </a:solidFill>
                <a:latin typeface="Segoe UI"/>
              </a:rPr>
              <a:t>pytest 9.1 + httpx2</a:t>
            </a:r>
          </a:p>
          <a:p>
            <a:pPr algn="l">
              <a:lnSpc>
                <a:spcPct val="110000"/>
              </a:lnSpc>
              <a:spcAft>
                <a:spcPts val="1000"/>
              </a:spcAft>
            </a:pPr>
            <a:r>
              <a:rPr sz="1700" b="1" i="0">
                <a:solidFill>
                  <a:srgbClr val="B45309"/>
                </a:solidFill>
                <a:latin typeface="Segoe UI"/>
              </a:rPr>
              <a:t>•  </a:t>
            </a:r>
            <a:r>
              <a:rPr sz="1700" b="0" i="0">
                <a:solidFill>
                  <a:srgbClr val="0F172A"/>
                </a:solidFill>
                <a:latin typeface="Segoe UI"/>
              </a:rPr>
              <a:t>Vitest 5.0</a:t>
            </a:r>
          </a:p>
          <a:p>
            <a:pPr algn="l">
              <a:lnSpc>
                <a:spcPct val="110000"/>
              </a:lnSpc>
              <a:spcAft>
                <a:spcPts val="1000"/>
              </a:spcAft>
            </a:pPr>
            <a:r>
              <a:rPr sz="1700" b="1" i="0">
                <a:solidFill>
                  <a:srgbClr val="B45309"/>
                </a:solidFill>
                <a:latin typeface="Segoe UI"/>
              </a:rPr>
              <a:t>•  </a:t>
            </a:r>
            <a:r>
              <a:rPr sz="1700" b="0" i="0">
                <a:solidFill>
                  <a:srgbClr val="0F172A"/>
                </a:solidFill>
                <a:latin typeface="Segoe UI"/>
              </a:rPr>
              <a:t>g++ 16.1 (C++17)</a:t>
            </a:r>
          </a:p>
          <a:p>
            <a:pPr algn="l">
              <a:lnSpc>
                <a:spcPct val="110000"/>
              </a:lnSpc>
              <a:spcAft>
                <a:spcPts val="1000"/>
              </a:spcAft>
            </a:pPr>
            <a:r>
              <a:rPr sz="1700" b="1" i="0">
                <a:solidFill>
                  <a:srgbClr val="B45309"/>
                </a:solidFill>
                <a:latin typeface="Segoe UI"/>
              </a:rPr>
              <a:t>•  </a:t>
            </a:r>
            <a:r>
              <a:rPr sz="1700" b="0" i="0">
                <a:solidFill>
                  <a:srgbClr val="0F172A"/>
                </a:solidFill>
                <a:latin typeface="Segoe UI"/>
              </a:rPr>
              <a:t>GitHub Actions CI</a:t>
            </a:r>
          </a:p>
        </p:txBody>
      </p:sp>
      <p:sp>
        <p:nvSpPr>
          <p:cNvPr id="24" name="Rectangle 23"/>
          <p:cNvSpPr/>
          <p:nvPr/>
        </p:nvSpPr>
        <p:spPr>
          <a:xfrm>
            <a:off x="6409944" y="4617720"/>
            <a:ext cx="2176272" cy="109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64224" y="4709160"/>
            <a:ext cx="2267712" cy="731520"/>
          </a:xfrm>
          <a:prstGeom prst="rect">
            <a:avLst/>
          </a:prstGeom>
          <a:noFill/>
        </p:spPr>
        <p:txBody>
          <a:bodyPr wrap="square" lIns="45720" rIns="45720" tIns="27432" bIns="27432" anchor="t"/>
          <a:lstStyle/>
          <a:p>
            <a:pPr algn="ctr">
              <a:lnSpc>
                <a:spcPct val="110000"/>
              </a:lnSpc>
              <a:spcAft>
                <a:spcPts val="400"/>
              </a:spcAft>
            </a:pPr>
            <a:r>
              <a:rPr sz="1300" b="0" i="0">
                <a:solidFill>
                  <a:srgbClr val="475569"/>
                </a:solidFill>
                <a:latin typeface="Segoe UI"/>
              </a:rPr>
              <a:t>unit, API, end-to-end and g++ build-and-run</a:t>
            </a:r>
          </a:p>
        </p:txBody>
      </p:sp>
      <p:sp>
        <p:nvSpPr>
          <p:cNvPr id="26" name="Rounded Rectangle 25"/>
          <p:cNvSpPr/>
          <p:nvPr/>
        </p:nvSpPr>
        <p:spPr>
          <a:xfrm>
            <a:off x="8997696" y="1600200"/>
            <a:ext cx="2633472" cy="3886200"/>
          </a:xfrm>
          <a:prstGeom prst="roundRect">
            <a:avLst>
              <a:gd name="adj" fmla="val 6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8997696" y="1600200"/>
            <a:ext cx="2633472" cy="64008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97696" y="1673352"/>
            <a:ext cx="2633472" cy="502920"/>
          </a:xfrm>
          <a:prstGeom prst="rect">
            <a:avLst/>
          </a:prstGeom>
          <a:noFill/>
        </p:spPr>
        <p:txBody>
          <a:bodyPr wrap="square" lIns="45720" rIns="45720" tIns="27432" bIns="27432" anchor="t"/>
          <a:lstStyle/>
          <a:p>
            <a:pPr algn="ctr">
              <a:lnSpc>
                <a:spcPct val="110000"/>
              </a:lnSpc>
              <a:spcAft>
                <a:spcPts val="400"/>
              </a:spcAft>
            </a:pPr>
            <a:r>
              <a:rPr sz="1900" b="1" i="0">
                <a:solidFill>
                  <a:srgbClr val="FFFFFF"/>
                </a:solidFill>
                <a:latin typeface="Segoe UI Semibold"/>
              </a:rPr>
              <a:t>Deployment</a:t>
            </a:r>
          </a:p>
        </p:txBody>
      </p:sp>
      <p:sp>
        <p:nvSpPr>
          <p:cNvPr id="29" name="TextBox 28"/>
          <p:cNvSpPr txBox="1"/>
          <p:nvPr/>
        </p:nvSpPr>
        <p:spPr>
          <a:xfrm>
            <a:off x="9272016" y="2468880"/>
            <a:ext cx="2194560" cy="2926080"/>
          </a:xfrm>
          <a:prstGeom prst="rect">
            <a:avLst/>
          </a:prstGeom>
          <a:noFill/>
        </p:spPr>
        <p:txBody>
          <a:bodyPr wrap="square" lIns="45720" rIns="45720" tIns="27432" bIns="27432" anchor="t"/>
          <a:lstStyle/>
          <a:p>
            <a:pPr algn="l">
              <a:lnSpc>
                <a:spcPct val="110000"/>
              </a:lnSpc>
              <a:spcAft>
                <a:spcPts val="1000"/>
              </a:spcAft>
            </a:pPr>
            <a:r>
              <a:rPr sz="1700" b="1" i="0">
                <a:solidFill>
                  <a:srgbClr val="B91C1C"/>
                </a:solidFill>
                <a:latin typeface="Segoe UI"/>
              </a:rPr>
              <a:t>•  </a:t>
            </a:r>
            <a:r>
              <a:rPr sz="1700" b="0" i="0">
                <a:solidFill>
                  <a:srgbClr val="0F172A"/>
                </a:solidFill>
                <a:latin typeface="Segoe UI"/>
              </a:rPr>
              <a:t>Render (API)</a:t>
            </a:r>
          </a:p>
          <a:p>
            <a:pPr algn="l">
              <a:lnSpc>
                <a:spcPct val="110000"/>
              </a:lnSpc>
              <a:spcAft>
                <a:spcPts val="1000"/>
              </a:spcAft>
            </a:pPr>
            <a:r>
              <a:rPr sz="1700" b="1" i="0">
                <a:solidFill>
                  <a:srgbClr val="B91C1C"/>
                </a:solidFill>
                <a:latin typeface="Segoe UI"/>
              </a:rPr>
              <a:t>•  </a:t>
            </a:r>
            <a:r>
              <a:rPr sz="1700" b="0" i="0">
                <a:solidFill>
                  <a:srgbClr val="0F172A"/>
                </a:solidFill>
                <a:latin typeface="Segoe UI"/>
              </a:rPr>
              <a:t>render.yaml</a:t>
            </a:r>
          </a:p>
          <a:p>
            <a:pPr algn="l">
              <a:lnSpc>
                <a:spcPct val="110000"/>
              </a:lnSpc>
              <a:spcAft>
                <a:spcPts val="1000"/>
              </a:spcAft>
            </a:pPr>
            <a:r>
              <a:rPr sz="1700" b="1" i="0">
                <a:solidFill>
                  <a:srgbClr val="B91C1C"/>
                </a:solidFill>
                <a:latin typeface="Segoe UI"/>
              </a:rPr>
              <a:t>•  </a:t>
            </a:r>
            <a:r>
              <a:rPr sz="1700" b="0" i="0">
                <a:solidFill>
                  <a:srgbClr val="0F172A"/>
                </a:solidFill>
                <a:latin typeface="Segoe UI"/>
              </a:rPr>
              <a:t>Vercel (frontend)</a:t>
            </a:r>
          </a:p>
          <a:p>
            <a:pPr algn="l">
              <a:lnSpc>
                <a:spcPct val="110000"/>
              </a:lnSpc>
              <a:spcAft>
                <a:spcPts val="1000"/>
              </a:spcAft>
            </a:pPr>
            <a:r>
              <a:rPr sz="1700" b="1" i="0">
                <a:solidFill>
                  <a:srgbClr val="B91C1C"/>
                </a:solidFill>
                <a:latin typeface="Segoe UI"/>
              </a:rPr>
              <a:t>•  </a:t>
            </a:r>
            <a:r>
              <a:rPr sz="1700" b="0" i="0">
                <a:solidFill>
                  <a:srgbClr val="0F172A"/>
                </a:solidFill>
                <a:latin typeface="Segoe UI"/>
              </a:rPr>
              <a:t>vercel.json</a:t>
            </a:r>
          </a:p>
        </p:txBody>
      </p:sp>
      <p:sp>
        <p:nvSpPr>
          <p:cNvPr id="30" name="Rectangle 29"/>
          <p:cNvSpPr/>
          <p:nvPr/>
        </p:nvSpPr>
        <p:spPr>
          <a:xfrm>
            <a:off x="9226296" y="4617720"/>
            <a:ext cx="2176272" cy="1097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80576" y="4709160"/>
            <a:ext cx="2267712" cy="731520"/>
          </a:xfrm>
          <a:prstGeom prst="rect">
            <a:avLst/>
          </a:prstGeom>
          <a:noFill/>
        </p:spPr>
        <p:txBody>
          <a:bodyPr wrap="square" lIns="45720" rIns="45720" tIns="27432" bIns="27432" anchor="t"/>
          <a:lstStyle/>
          <a:p>
            <a:pPr algn="ctr">
              <a:lnSpc>
                <a:spcPct val="110000"/>
              </a:lnSpc>
              <a:spcAft>
                <a:spcPts val="400"/>
              </a:spcAft>
            </a:pPr>
            <a:r>
              <a:rPr sz="1300" b="0" i="0">
                <a:solidFill>
                  <a:srgbClr val="475569"/>
                </a:solidFill>
                <a:latin typeface="Segoe UI"/>
              </a:rPr>
              <a:t>both redeploy on every push to main</a:t>
            </a:r>
          </a:p>
        </p:txBody>
      </p:sp>
      <p:sp>
        <p:nvSpPr>
          <p:cNvPr id="32" name="TextBox 31"/>
          <p:cNvSpPr txBox="1"/>
          <p:nvPr/>
        </p:nvSpPr>
        <p:spPr>
          <a:xfrm>
            <a:off x="548640" y="5715000"/>
            <a:ext cx="11064240" cy="548640"/>
          </a:xfrm>
          <a:prstGeom prst="rect">
            <a:avLst/>
          </a:prstGeom>
          <a:noFill/>
        </p:spPr>
        <p:txBody>
          <a:bodyPr wrap="square" lIns="45720" rIns="45720" tIns="27432" bIns="27432" anchor="t"/>
          <a:lstStyle/>
          <a:p>
            <a:pPr algn="l">
              <a:lnSpc>
                <a:spcPct val="110000"/>
              </a:lnSpc>
              <a:spcAft>
                <a:spcPts val="400"/>
              </a:spcAft>
            </a:pPr>
            <a:r>
              <a:rPr sz="1600" b="1" i="0">
                <a:solidFill>
                  <a:srgbClr val="0D9488"/>
                </a:solidFill>
                <a:latin typeface="Segoe UI"/>
              </a:rPr>
              <a:t>No parser generators or transpilers: </a:t>
            </a:r>
            <a:r>
              <a:rPr sz="1600" b="0" i="0">
                <a:solidFill>
                  <a:srgbClr val="0F172A"/>
                </a:solidFill>
                <a:latin typeface="Segoe UI"/>
              </a:rPr>
              <a:t>the lexer, parser, type checker, IR, optimizer and code generator are all original Python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ARCHITECTURE</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System architecture</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7 / 15</a:t>
            </a:r>
          </a:p>
        </p:txBody>
      </p:sp>
      <p:sp>
        <p:nvSpPr>
          <p:cNvPr id="8" name="Rounded Rectangle 7"/>
          <p:cNvSpPr/>
          <p:nvPr/>
        </p:nvSpPr>
        <p:spPr>
          <a:xfrm>
            <a:off x="548640" y="1508760"/>
            <a:ext cx="3931920" cy="4663440"/>
          </a:xfrm>
          <a:prstGeom prst="roundRect">
            <a:avLst>
              <a:gd name="adj" fmla="val 5000"/>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600200"/>
            <a:ext cx="3931920" cy="365760"/>
          </a:xfrm>
          <a:prstGeom prst="rect">
            <a:avLst/>
          </a:prstGeom>
          <a:noFill/>
        </p:spPr>
        <p:txBody>
          <a:bodyPr wrap="square" lIns="45720" rIns="45720" tIns="27432" bIns="27432" anchor="t"/>
          <a:lstStyle/>
          <a:p>
            <a:pPr algn="ctr">
              <a:lnSpc>
                <a:spcPct val="110000"/>
              </a:lnSpc>
              <a:spcAft>
                <a:spcPts val="400"/>
              </a:spcAft>
            </a:pPr>
            <a:r>
              <a:rPr sz="1700" b="1" i="0">
                <a:solidFill>
                  <a:srgbClr val="1D4ED8"/>
                </a:solidFill>
                <a:latin typeface="Segoe UI Semibold"/>
              </a:rPr>
              <a:t>React frontend  ·  Vercel</a:t>
            </a:r>
          </a:p>
        </p:txBody>
      </p:sp>
      <p:sp>
        <p:nvSpPr>
          <p:cNvPr id="10" name="Rounded Rectangle 9"/>
          <p:cNvSpPr/>
          <p:nvPr/>
        </p:nvSpPr>
        <p:spPr>
          <a:xfrm>
            <a:off x="822960" y="2103120"/>
            <a:ext cx="3383280" cy="1097280"/>
          </a:xfrm>
          <a:prstGeom prst="roundRect">
            <a:avLst>
              <a:gd name="adj" fmla="val 12000"/>
            </a:avLst>
          </a:prstGeom>
          <a:solidFill>
            <a:srgbClr val="DBEAFE"/>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500" b="1" i="0">
                <a:solidFill>
                  <a:srgbClr val="0F172A"/>
                </a:solidFill>
                <a:latin typeface="Segoe UI Semibold"/>
              </a:rPr>
              <a:t>lib/api.ts · useCompiler</a:t>
            </a:r>
          </a:p>
          <a:p>
            <a:pPr algn="ctr">
              <a:lnSpc>
                <a:spcPct val="100000"/>
              </a:lnSpc>
              <a:spcAft>
                <a:spcPts val="0"/>
              </a:spcAft>
            </a:pPr>
            <a:r>
              <a:rPr sz="1200" b="0" i="0">
                <a:solidFill>
                  <a:srgbClr val="475569"/>
                </a:solidFill>
                <a:latin typeface="Segoe UI"/>
              </a:rPr>
              <a:t>POST /compile · GET /health</a:t>
            </a:r>
          </a:p>
          <a:p>
            <a:pPr algn="ctr">
              <a:lnSpc>
                <a:spcPct val="100000"/>
              </a:lnSpc>
              <a:spcAft>
                <a:spcPts val="0"/>
              </a:spcAft>
            </a:pPr>
            <a:r>
              <a:rPr sz="1200" b="0" i="0">
                <a:solidFill>
                  <a:srgbClr val="475569"/>
                </a:solidFill>
                <a:latin typeface="Segoe UI"/>
              </a:rPr>
              <a:t>650 ms auto-compile debounce</a:t>
            </a:r>
          </a:p>
        </p:txBody>
      </p:sp>
      <p:sp>
        <p:nvSpPr>
          <p:cNvPr id="11" name="Rounded Rectangle 10"/>
          <p:cNvSpPr/>
          <p:nvPr/>
        </p:nvSpPr>
        <p:spPr>
          <a:xfrm>
            <a:off x="822960" y="3429000"/>
            <a:ext cx="3383280" cy="1051560"/>
          </a:xfrm>
          <a:prstGeom prst="roundRect">
            <a:avLst>
              <a:gd name="adj" fmla="val 12000"/>
            </a:avLst>
          </a:prstGeom>
          <a:solidFill>
            <a:srgbClr val="DBEAFE"/>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500" b="1" i="0">
                <a:solidFill>
                  <a:srgbClr val="0F172A"/>
                </a:solidFill>
                <a:latin typeface="Segoe UI Semibold"/>
              </a:rPr>
              <a:t>CodeMirror 6 editor</a:t>
            </a:r>
          </a:p>
          <a:p>
            <a:pPr algn="ctr">
              <a:lnSpc>
                <a:spcPct val="100000"/>
              </a:lnSpc>
              <a:spcAft>
                <a:spcPts val="0"/>
              </a:spcAft>
            </a:pPr>
            <a:r>
              <a:rPr sz="1200" b="0" i="0">
                <a:solidFill>
                  <a:srgbClr val="475569"/>
                </a:solidFill>
                <a:latin typeface="Segoe UI"/>
              </a:rPr>
              <a:t>highlighting · error underlines</a:t>
            </a:r>
          </a:p>
        </p:txBody>
      </p:sp>
      <p:sp>
        <p:nvSpPr>
          <p:cNvPr id="12" name="Rounded Rectangle 11"/>
          <p:cNvSpPr/>
          <p:nvPr/>
        </p:nvSpPr>
        <p:spPr>
          <a:xfrm>
            <a:off x="822960" y="4709160"/>
            <a:ext cx="3383280" cy="1188720"/>
          </a:xfrm>
          <a:prstGeom prst="roundRect">
            <a:avLst>
              <a:gd name="adj" fmla="val 12000"/>
            </a:avLst>
          </a:prstGeom>
          <a:solidFill>
            <a:srgbClr val="DBEAFE"/>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500" b="1" i="0">
                <a:solidFill>
                  <a:srgbClr val="0F172A"/>
                </a:solidFill>
                <a:latin typeface="Segoe UI Semibold"/>
              </a:rPr>
              <a:t>Pipeline strip + 7 tabs</a:t>
            </a:r>
          </a:p>
          <a:p>
            <a:pPr algn="ctr">
              <a:lnSpc>
                <a:spcPct val="100000"/>
              </a:lnSpc>
              <a:spcAft>
                <a:spcPts val="0"/>
              </a:spcAft>
            </a:pPr>
            <a:r>
              <a:rPr sz="1200" b="0" i="0">
                <a:solidFill>
                  <a:srgbClr val="475569"/>
                </a:solidFill>
                <a:latin typeface="Segoe UI"/>
              </a:rPr>
              <a:t>C++ · Tokens · AST · Symbols</a:t>
            </a:r>
          </a:p>
          <a:p>
            <a:pPr algn="ctr">
              <a:lnSpc>
                <a:spcPct val="100000"/>
              </a:lnSpc>
              <a:spcAft>
                <a:spcPts val="0"/>
              </a:spcAft>
            </a:pPr>
            <a:r>
              <a:rPr sz="1200" b="0" i="0">
                <a:solidFill>
                  <a:srgbClr val="475569"/>
                </a:solidFill>
                <a:latin typeface="Segoe UI"/>
              </a:rPr>
              <a:t>TAC · Optimized TAC · Diagnostics</a:t>
            </a:r>
          </a:p>
        </p:txBody>
      </p:sp>
      <p:sp>
        <p:nvSpPr>
          <p:cNvPr id="13" name="Rounded Rectangle 12"/>
          <p:cNvSpPr/>
          <p:nvPr/>
        </p:nvSpPr>
        <p:spPr>
          <a:xfrm>
            <a:off x="5623560" y="1508760"/>
            <a:ext cx="6016752" cy="4663440"/>
          </a:xfrm>
          <a:prstGeom prst="roundRect">
            <a:avLst>
              <a:gd name="adj" fmla="val 5000"/>
            </a:avLst>
          </a:prstGeom>
          <a:solidFill>
            <a:srgbClr val="FFFFFF"/>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23560" y="1600200"/>
            <a:ext cx="6016752" cy="365760"/>
          </a:xfrm>
          <a:prstGeom prst="rect">
            <a:avLst/>
          </a:prstGeom>
          <a:noFill/>
        </p:spPr>
        <p:txBody>
          <a:bodyPr wrap="square" lIns="45720" rIns="45720" tIns="27432" bIns="27432" anchor="t"/>
          <a:lstStyle/>
          <a:p>
            <a:pPr algn="ctr">
              <a:lnSpc>
                <a:spcPct val="110000"/>
              </a:lnSpc>
              <a:spcAft>
                <a:spcPts val="400"/>
              </a:spcAft>
            </a:pPr>
            <a:r>
              <a:rPr sz="1700" b="1" i="0">
                <a:solidFill>
                  <a:srgbClr val="0D9488"/>
                </a:solidFill>
                <a:latin typeface="Segoe UI Semibold"/>
              </a:rPr>
              <a:t>FastAPI backend  ·  Render</a:t>
            </a:r>
          </a:p>
        </p:txBody>
      </p:sp>
      <p:sp>
        <p:nvSpPr>
          <p:cNvPr id="15" name="Rounded Rectangle 14"/>
          <p:cNvSpPr/>
          <p:nvPr/>
        </p:nvSpPr>
        <p:spPr>
          <a:xfrm>
            <a:off x="5897880" y="2103120"/>
            <a:ext cx="2697480" cy="1097280"/>
          </a:xfrm>
          <a:prstGeom prst="roundRect">
            <a:avLst>
              <a:gd name="adj" fmla="val 12000"/>
            </a:avLst>
          </a:prstGeom>
          <a:solidFill>
            <a:srgbClr val="CCFBF1"/>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500" b="1" i="0">
                <a:solidFill>
                  <a:srgbClr val="0F172A"/>
                </a:solidFill>
                <a:latin typeface="Segoe UI Semibold"/>
              </a:rPr>
              <a:t>app/main.py</a:t>
            </a:r>
          </a:p>
          <a:p>
            <a:pPr algn="ctr">
              <a:lnSpc>
                <a:spcPct val="100000"/>
              </a:lnSpc>
              <a:spcAft>
                <a:spcPts val="0"/>
              </a:spcAft>
            </a:pPr>
            <a:r>
              <a:rPr sz="1200" b="0" i="0">
                <a:solidFill>
                  <a:srgbClr val="475569"/>
                </a:solidFill>
                <a:latin typeface="Segoe UI"/>
              </a:rPr>
              <a:t>GET /health · POST /compile</a:t>
            </a:r>
          </a:p>
          <a:p>
            <a:pPr algn="ctr">
              <a:lnSpc>
                <a:spcPct val="100000"/>
              </a:lnSpc>
              <a:spcAft>
                <a:spcPts val="0"/>
              </a:spcAft>
            </a:pPr>
            <a:r>
              <a:rPr sz="1200" b="0" i="0">
                <a:solidFill>
                  <a:srgbClr val="475569"/>
                </a:solidFill>
                <a:latin typeface="Segoe UI"/>
              </a:rPr>
              <a:t>CORS · 413 · JSON 500</a:t>
            </a:r>
          </a:p>
        </p:txBody>
      </p:sp>
      <p:sp>
        <p:nvSpPr>
          <p:cNvPr id="16" name="Rounded Rectangle 15"/>
          <p:cNvSpPr/>
          <p:nvPr/>
        </p:nvSpPr>
        <p:spPr>
          <a:xfrm>
            <a:off x="8732520" y="2103120"/>
            <a:ext cx="2651760" cy="1097280"/>
          </a:xfrm>
          <a:prstGeom prst="roundRect">
            <a:avLst>
              <a:gd name="adj" fmla="val 12000"/>
            </a:avLst>
          </a:prstGeom>
          <a:solidFill>
            <a:srgbClr val="CCFBF1"/>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500" b="1" i="0">
                <a:solidFill>
                  <a:srgbClr val="0F172A"/>
                </a:solidFill>
                <a:latin typeface="Segoe UI Semibold"/>
              </a:rPr>
              <a:t>config · schemas</a:t>
            </a:r>
          </a:p>
          <a:p>
            <a:pPr algn="ctr">
              <a:lnSpc>
                <a:spcPct val="100000"/>
              </a:lnSpc>
              <a:spcAft>
                <a:spcPts val="0"/>
              </a:spcAft>
            </a:pPr>
            <a:r>
              <a:rPr sz="1200" b="0" i="0">
                <a:solidFill>
                  <a:srgbClr val="475569"/>
                </a:solidFill>
                <a:latin typeface="Segoe UI"/>
              </a:rPr>
              <a:t>CORS_ORIGINS</a:t>
            </a:r>
          </a:p>
          <a:p>
            <a:pPr algn="ctr">
              <a:lnSpc>
                <a:spcPct val="100000"/>
              </a:lnSpc>
              <a:spcAft>
                <a:spcPts val="0"/>
              </a:spcAft>
            </a:pPr>
            <a:r>
              <a:rPr sz="1200" b="0" i="0">
                <a:solidFill>
                  <a:srgbClr val="475569"/>
                </a:solidFill>
                <a:latin typeface="Segoe UI"/>
              </a:rPr>
              <a:t>MAX_SOURCE_CHARS · Pydantic</a:t>
            </a:r>
          </a:p>
        </p:txBody>
      </p:sp>
      <p:sp>
        <p:nvSpPr>
          <p:cNvPr id="17" name="Rounded Rectangle 16"/>
          <p:cNvSpPr/>
          <p:nvPr/>
        </p:nvSpPr>
        <p:spPr>
          <a:xfrm>
            <a:off x="5897880" y="3429000"/>
            <a:ext cx="5486400" cy="822960"/>
          </a:xfrm>
          <a:prstGeom prst="roundRect">
            <a:avLst>
              <a:gd name="adj" fmla="val 12000"/>
            </a:avLst>
          </a:prstGeom>
          <a:solidFill>
            <a:srgbClr val="CCFBF1"/>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500" b="1" i="0">
                <a:solidFill>
                  <a:srgbClr val="0F172A"/>
                </a:solidFill>
                <a:latin typeface="Segoe UI Semibold"/>
              </a:rPr>
              <a:t>pipeline.compile_source()</a:t>
            </a:r>
          </a:p>
          <a:p>
            <a:pPr algn="ctr">
              <a:lnSpc>
                <a:spcPct val="100000"/>
              </a:lnSpc>
              <a:spcAft>
                <a:spcPts val="0"/>
              </a:spcAft>
            </a:pPr>
            <a:r>
              <a:rPr sz="1200" b="0" i="0">
                <a:solidFill>
                  <a:srgbClr val="475569"/>
                </a:solidFill>
                <a:latin typeface="Segoe UI"/>
              </a:rPr>
              <a:t>runs phases in order, times each, stops at first failure</a:t>
            </a:r>
          </a:p>
        </p:txBody>
      </p:sp>
      <p:sp>
        <p:nvSpPr>
          <p:cNvPr id="18" name="Rounded Rectangle 17"/>
          <p:cNvSpPr/>
          <p:nvPr/>
        </p:nvSpPr>
        <p:spPr>
          <a:xfrm>
            <a:off x="5897880" y="4709160"/>
            <a:ext cx="850392" cy="685800"/>
          </a:xfrm>
          <a:prstGeom prst="roundRect">
            <a:avLst>
              <a:gd name="adj" fmla="val 12000"/>
            </a:avLst>
          </a:prstGeom>
          <a:solidFill>
            <a:srgbClr val="F1F5F9"/>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100" b="1" i="0">
                <a:solidFill>
                  <a:srgbClr val="0F172A"/>
                </a:solidFill>
                <a:latin typeface="Segoe UI Semibold"/>
              </a:rPr>
              <a:t>lexer</a:t>
            </a:r>
          </a:p>
        </p:txBody>
      </p:sp>
      <p:sp>
        <p:nvSpPr>
          <p:cNvPr id="19" name="Rounded Rectangle 18"/>
          <p:cNvSpPr/>
          <p:nvPr/>
        </p:nvSpPr>
        <p:spPr>
          <a:xfrm>
            <a:off x="6812280" y="4709160"/>
            <a:ext cx="850392" cy="685800"/>
          </a:xfrm>
          <a:prstGeom prst="roundRect">
            <a:avLst>
              <a:gd name="adj" fmla="val 12000"/>
            </a:avLst>
          </a:prstGeom>
          <a:solidFill>
            <a:srgbClr val="F1F5F9"/>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100" b="1" i="0">
                <a:solidFill>
                  <a:srgbClr val="0F172A"/>
                </a:solidFill>
                <a:latin typeface="Segoe UI Semibold"/>
              </a:rPr>
              <a:t>parser</a:t>
            </a:r>
          </a:p>
        </p:txBody>
      </p:sp>
      <p:sp>
        <p:nvSpPr>
          <p:cNvPr id="20" name="Rounded Rectangle 19"/>
          <p:cNvSpPr/>
          <p:nvPr/>
        </p:nvSpPr>
        <p:spPr>
          <a:xfrm>
            <a:off x="7726679" y="4709160"/>
            <a:ext cx="850392" cy="685800"/>
          </a:xfrm>
          <a:prstGeom prst="roundRect">
            <a:avLst>
              <a:gd name="adj" fmla="val 12000"/>
            </a:avLst>
          </a:prstGeom>
          <a:solidFill>
            <a:srgbClr val="F1F5F9"/>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100" b="1" i="0">
                <a:solidFill>
                  <a:srgbClr val="0F172A"/>
                </a:solidFill>
                <a:latin typeface="Segoe UI Semibold"/>
              </a:rPr>
              <a:t>semantic</a:t>
            </a:r>
          </a:p>
        </p:txBody>
      </p:sp>
      <p:sp>
        <p:nvSpPr>
          <p:cNvPr id="21" name="Rounded Rectangle 20"/>
          <p:cNvSpPr/>
          <p:nvPr/>
        </p:nvSpPr>
        <p:spPr>
          <a:xfrm>
            <a:off x="8641080" y="4709160"/>
            <a:ext cx="850392" cy="685800"/>
          </a:xfrm>
          <a:prstGeom prst="roundRect">
            <a:avLst>
              <a:gd name="adj" fmla="val 12000"/>
            </a:avLst>
          </a:prstGeom>
          <a:solidFill>
            <a:srgbClr val="F1F5F9"/>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100" b="1" i="0">
                <a:solidFill>
                  <a:srgbClr val="0F172A"/>
                </a:solidFill>
                <a:latin typeface="Segoe UI Semibold"/>
              </a:rPr>
              <a:t>tacgen</a:t>
            </a:r>
          </a:p>
        </p:txBody>
      </p:sp>
      <p:sp>
        <p:nvSpPr>
          <p:cNvPr id="22" name="Rounded Rectangle 21"/>
          <p:cNvSpPr/>
          <p:nvPr/>
        </p:nvSpPr>
        <p:spPr>
          <a:xfrm>
            <a:off x="9555480" y="4709160"/>
            <a:ext cx="850392" cy="685800"/>
          </a:xfrm>
          <a:prstGeom prst="roundRect">
            <a:avLst>
              <a:gd name="adj" fmla="val 12000"/>
            </a:avLst>
          </a:prstGeom>
          <a:solidFill>
            <a:srgbClr val="F1F5F9"/>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100" b="1" i="0">
                <a:solidFill>
                  <a:srgbClr val="0F172A"/>
                </a:solidFill>
                <a:latin typeface="Segoe UI Semibold"/>
              </a:rPr>
              <a:t>optimizer</a:t>
            </a:r>
          </a:p>
        </p:txBody>
      </p:sp>
      <p:sp>
        <p:nvSpPr>
          <p:cNvPr id="23" name="Rounded Rectangle 22"/>
          <p:cNvSpPr/>
          <p:nvPr/>
        </p:nvSpPr>
        <p:spPr>
          <a:xfrm>
            <a:off x="10469880" y="4709160"/>
            <a:ext cx="850392" cy="685800"/>
          </a:xfrm>
          <a:prstGeom prst="roundRect">
            <a:avLst>
              <a:gd name="adj" fmla="val 12000"/>
            </a:avLst>
          </a:prstGeom>
          <a:solidFill>
            <a:srgbClr val="F1F5F9"/>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0"/>
              </a:spcAft>
            </a:pPr>
            <a:r>
              <a:rPr sz="1100" b="1" i="0">
                <a:solidFill>
                  <a:srgbClr val="0F172A"/>
                </a:solidFill>
                <a:latin typeface="Segoe UI Semibold"/>
              </a:rPr>
              <a:t>codegen</a:t>
            </a:r>
          </a:p>
        </p:txBody>
      </p:sp>
      <p:sp>
        <p:nvSpPr>
          <p:cNvPr id="24" name="TextBox 23"/>
          <p:cNvSpPr txBox="1"/>
          <p:nvPr/>
        </p:nvSpPr>
        <p:spPr>
          <a:xfrm>
            <a:off x="5897880" y="5486400"/>
            <a:ext cx="5486400" cy="320040"/>
          </a:xfrm>
          <a:prstGeom prst="rect">
            <a:avLst/>
          </a:prstGeom>
          <a:noFill/>
        </p:spPr>
        <p:txBody>
          <a:bodyPr wrap="square" lIns="45720" rIns="45720" tIns="27432" bIns="27432" anchor="t"/>
          <a:lstStyle/>
          <a:p>
            <a:pPr algn="ctr">
              <a:lnSpc>
                <a:spcPct val="110000"/>
              </a:lnSpc>
              <a:spcAft>
                <a:spcPts val="400"/>
              </a:spcAft>
            </a:pPr>
            <a:r>
              <a:rPr sz="1200" b="0" i="0">
                <a:solidFill>
                  <a:srgbClr val="475569"/>
                </a:solidFill>
                <a:latin typeface="Segoe UI"/>
              </a:rPr>
              <a:t>app/compiler: no web dependencies, each module unit-tested</a:t>
            </a:r>
          </a:p>
        </p:txBody>
      </p:sp>
      <p:cxnSp>
        <p:nvCxnSpPr>
          <p:cNvPr id="25" name="Connector 24"/>
          <p:cNvCxnSpPr/>
          <p:nvPr/>
        </p:nvCxnSpPr>
        <p:spPr>
          <a:xfrm>
            <a:off x="4206240" y="2423160"/>
            <a:ext cx="1691640"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206240" y="2880360"/>
            <a:ext cx="1691640" cy="0"/>
          </a:xfrm>
          <a:prstGeom prst="line">
            <a:avLst/>
          </a:prstGeom>
          <a:ln w="25400">
            <a:solidFill>
              <a:srgbClr val="0D948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43400" y="2057400"/>
            <a:ext cx="1463040" cy="320040"/>
          </a:xfrm>
          <a:prstGeom prst="rect">
            <a:avLst/>
          </a:prstGeom>
          <a:noFill/>
        </p:spPr>
        <p:txBody>
          <a:bodyPr wrap="square" lIns="45720" rIns="45720" tIns="27432" bIns="27432" anchor="t"/>
          <a:lstStyle/>
          <a:p>
            <a:pPr algn="ctr">
              <a:lnSpc>
                <a:spcPct val="110000"/>
              </a:lnSpc>
              <a:spcAft>
                <a:spcPts val="400"/>
              </a:spcAft>
            </a:pPr>
            <a:r>
              <a:rPr sz="1200" b="0" i="0">
                <a:solidFill>
                  <a:srgbClr val="1D4ED8"/>
                </a:solidFill>
                <a:latin typeface="Segoe UI"/>
              </a:rPr>
              <a:t>JSON request</a:t>
            </a:r>
          </a:p>
        </p:txBody>
      </p:sp>
      <p:sp>
        <p:nvSpPr>
          <p:cNvPr id="28" name="TextBox 27"/>
          <p:cNvSpPr txBox="1"/>
          <p:nvPr/>
        </p:nvSpPr>
        <p:spPr>
          <a:xfrm>
            <a:off x="4343400" y="2926080"/>
            <a:ext cx="1463040" cy="320040"/>
          </a:xfrm>
          <a:prstGeom prst="rect">
            <a:avLst/>
          </a:prstGeom>
          <a:noFill/>
        </p:spPr>
        <p:txBody>
          <a:bodyPr wrap="square" lIns="45720" rIns="45720" tIns="27432" bIns="27432" anchor="t"/>
          <a:lstStyle/>
          <a:p>
            <a:pPr algn="ctr">
              <a:lnSpc>
                <a:spcPct val="110000"/>
              </a:lnSpc>
              <a:spcAft>
                <a:spcPts val="400"/>
              </a:spcAft>
            </a:pPr>
            <a:r>
              <a:rPr sz="1200" b="0" i="0">
                <a:solidFill>
                  <a:srgbClr val="0D9488"/>
                </a:solidFill>
                <a:latin typeface="Segoe UI"/>
              </a:rPr>
              <a:t>JSON response</a:t>
            </a:r>
          </a:p>
        </p:txBody>
      </p:sp>
      <p:cxnSp>
        <p:nvCxnSpPr>
          <p:cNvPr id="29" name="Connector 28"/>
          <p:cNvCxnSpPr/>
          <p:nvPr/>
        </p:nvCxnSpPr>
        <p:spPr>
          <a:xfrm>
            <a:off x="7223760" y="3200400"/>
            <a:ext cx="0" cy="228600"/>
          </a:xfrm>
          <a:prstGeom prst="line">
            <a:avLst/>
          </a:prstGeom>
          <a:ln w="22225">
            <a:solidFill>
              <a:srgbClr val="0F17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41080" y="4251960"/>
            <a:ext cx="0" cy="457200"/>
          </a:xfrm>
          <a:prstGeom prst="line">
            <a:avLst/>
          </a:prstGeom>
          <a:ln w="22225">
            <a:solidFill>
              <a:srgbClr val="0F172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PIPELINE</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Compiler pipeline: six phases</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8 / 15</a:t>
            </a:r>
          </a:p>
        </p:txBody>
      </p:sp>
      <p:sp>
        <p:nvSpPr>
          <p:cNvPr id="8" name="Pentagon 7"/>
          <p:cNvSpPr/>
          <p:nvPr/>
        </p:nvSpPr>
        <p:spPr>
          <a:xfrm>
            <a:off x="548640" y="1691640"/>
            <a:ext cx="1810512" cy="1051560"/>
          </a:xfrm>
          <a:prstGeom prst="homePlate">
            <a:avLst>
              <a:gd name="adj" fmla="val 2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10512"/>
            <a:ext cx="1417320" cy="822960"/>
          </a:xfrm>
          <a:prstGeom prst="rect">
            <a:avLst/>
          </a:prstGeom>
          <a:noFill/>
        </p:spPr>
        <p:txBody>
          <a:bodyPr wrap="square" lIns="45720" rIns="45720" tIns="27432" bIns="27432" anchor="ctr"/>
          <a:lstStyle/>
          <a:p>
            <a:pPr algn="ctr">
              <a:lnSpc>
                <a:spcPct val="110000"/>
              </a:lnSpc>
              <a:spcAft>
                <a:spcPts val="0"/>
              </a:spcAft>
            </a:pPr>
            <a:r>
              <a:rPr sz="1700" b="1" i="0">
                <a:solidFill>
                  <a:srgbClr val="FFFFFF"/>
                </a:solidFill>
                <a:latin typeface="Segoe UI Semibold"/>
              </a:rPr>
              <a:t>Lexer</a:t>
            </a:r>
          </a:p>
          <a:p>
            <a:pPr algn="ctr">
              <a:lnSpc>
                <a:spcPct val="110000"/>
              </a:lnSpc>
              <a:spcAft>
                <a:spcPts val="0"/>
              </a:spcAft>
            </a:pPr>
            <a:r>
              <a:rPr sz="1100" b="0" i="0">
                <a:solidFill>
                  <a:srgbClr val="CCFBF1"/>
                </a:solidFill>
                <a:latin typeface="Segoe UI"/>
              </a:rPr>
              <a:t>lexer.py</a:t>
            </a:r>
          </a:p>
        </p:txBody>
      </p:sp>
      <p:sp>
        <p:nvSpPr>
          <p:cNvPr id="10" name="TextBox 9"/>
          <p:cNvSpPr txBox="1"/>
          <p:nvPr/>
        </p:nvSpPr>
        <p:spPr>
          <a:xfrm>
            <a:off x="640080" y="2834640"/>
            <a:ext cx="1645920" cy="640080"/>
          </a:xfrm>
          <a:prstGeom prst="rect">
            <a:avLst/>
          </a:prstGeom>
          <a:noFill/>
        </p:spPr>
        <p:txBody>
          <a:bodyPr wrap="square" lIns="45720" rIns="45720" tIns="27432" bIns="27432" anchor="t"/>
          <a:lstStyle/>
          <a:p>
            <a:pPr algn="ctr">
              <a:lnSpc>
                <a:spcPct val="100000"/>
              </a:lnSpc>
              <a:spcAft>
                <a:spcPts val="400"/>
              </a:spcAft>
            </a:pPr>
            <a:r>
              <a:rPr sz="1300" b="0" i="0">
                <a:solidFill>
                  <a:srgbClr val="0F172A"/>
                </a:solidFill>
                <a:latin typeface="Segoe UI"/>
              </a:rPr>
              <a:t>tokens</a:t>
            </a:r>
          </a:p>
        </p:txBody>
      </p:sp>
      <p:sp>
        <p:nvSpPr>
          <p:cNvPr id="11" name="Chevron 10"/>
          <p:cNvSpPr/>
          <p:nvPr/>
        </p:nvSpPr>
        <p:spPr>
          <a:xfrm>
            <a:off x="2432304" y="1691640"/>
            <a:ext cx="1810512" cy="1051560"/>
          </a:xfrm>
          <a:prstGeom prst="chevron">
            <a:avLst>
              <a:gd name="adj" fmla="val 2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660904" y="1810512"/>
            <a:ext cx="1417320" cy="822960"/>
          </a:xfrm>
          <a:prstGeom prst="rect">
            <a:avLst/>
          </a:prstGeom>
          <a:noFill/>
        </p:spPr>
        <p:txBody>
          <a:bodyPr wrap="square" lIns="45720" rIns="45720" tIns="27432" bIns="27432" anchor="ctr"/>
          <a:lstStyle/>
          <a:p>
            <a:pPr algn="ctr">
              <a:lnSpc>
                <a:spcPct val="110000"/>
              </a:lnSpc>
              <a:spcAft>
                <a:spcPts val="0"/>
              </a:spcAft>
            </a:pPr>
            <a:r>
              <a:rPr sz="1700" b="1" i="0">
                <a:solidFill>
                  <a:srgbClr val="FFFFFF"/>
                </a:solidFill>
                <a:latin typeface="Segoe UI Semibold"/>
              </a:rPr>
              <a:t>Parser</a:t>
            </a:r>
          </a:p>
          <a:p>
            <a:pPr algn="ctr">
              <a:lnSpc>
                <a:spcPct val="110000"/>
              </a:lnSpc>
              <a:spcAft>
                <a:spcPts val="0"/>
              </a:spcAft>
            </a:pPr>
            <a:r>
              <a:rPr sz="1100" b="0" i="0">
                <a:solidFill>
                  <a:srgbClr val="CCFBF1"/>
                </a:solidFill>
                <a:latin typeface="Segoe UI"/>
              </a:rPr>
              <a:t>parser.py</a:t>
            </a:r>
          </a:p>
        </p:txBody>
      </p:sp>
      <p:sp>
        <p:nvSpPr>
          <p:cNvPr id="13" name="TextBox 12"/>
          <p:cNvSpPr txBox="1"/>
          <p:nvPr/>
        </p:nvSpPr>
        <p:spPr>
          <a:xfrm>
            <a:off x="2523744" y="2834640"/>
            <a:ext cx="1645920" cy="640080"/>
          </a:xfrm>
          <a:prstGeom prst="rect">
            <a:avLst/>
          </a:prstGeom>
          <a:noFill/>
        </p:spPr>
        <p:txBody>
          <a:bodyPr wrap="square" lIns="45720" rIns="45720" tIns="27432" bIns="27432" anchor="t"/>
          <a:lstStyle/>
          <a:p>
            <a:pPr algn="ctr">
              <a:lnSpc>
                <a:spcPct val="100000"/>
              </a:lnSpc>
              <a:spcAft>
                <a:spcPts val="400"/>
              </a:spcAft>
            </a:pPr>
            <a:r>
              <a:rPr sz="1300" b="0" i="0">
                <a:solidFill>
                  <a:srgbClr val="0F172A"/>
                </a:solidFill>
                <a:latin typeface="Segoe UI"/>
              </a:rPr>
              <a:t>AST</a:t>
            </a:r>
          </a:p>
        </p:txBody>
      </p:sp>
      <p:sp>
        <p:nvSpPr>
          <p:cNvPr id="14" name="Chevron 13"/>
          <p:cNvSpPr/>
          <p:nvPr/>
        </p:nvSpPr>
        <p:spPr>
          <a:xfrm>
            <a:off x="4315968" y="1691640"/>
            <a:ext cx="1810512" cy="1051560"/>
          </a:xfrm>
          <a:prstGeom prst="chevron">
            <a:avLst>
              <a:gd name="adj" fmla="val 2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44568" y="1810512"/>
            <a:ext cx="1417320" cy="822960"/>
          </a:xfrm>
          <a:prstGeom prst="rect">
            <a:avLst/>
          </a:prstGeom>
          <a:noFill/>
        </p:spPr>
        <p:txBody>
          <a:bodyPr wrap="square" lIns="45720" rIns="45720" tIns="27432" bIns="27432" anchor="ctr"/>
          <a:lstStyle/>
          <a:p>
            <a:pPr algn="ctr">
              <a:lnSpc>
                <a:spcPct val="110000"/>
              </a:lnSpc>
              <a:spcAft>
                <a:spcPts val="0"/>
              </a:spcAft>
            </a:pPr>
            <a:r>
              <a:rPr sz="1700" b="1" i="0">
                <a:solidFill>
                  <a:srgbClr val="FFFFFF"/>
                </a:solidFill>
                <a:latin typeface="Segoe UI Semibold"/>
              </a:rPr>
              <a:t>Semantic</a:t>
            </a:r>
          </a:p>
          <a:p>
            <a:pPr algn="ctr">
              <a:lnSpc>
                <a:spcPct val="110000"/>
              </a:lnSpc>
              <a:spcAft>
                <a:spcPts val="0"/>
              </a:spcAft>
            </a:pPr>
            <a:r>
              <a:rPr sz="1100" b="0" i="0">
                <a:solidFill>
                  <a:srgbClr val="CCFBF1"/>
                </a:solidFill>
                <a:latin typeface="Segoe UI"/>
              </a:rPr>
              <a:t>semantic.py</a:t>
            </a:r>
          </a:p>
        </p:txBody>
      </p:sp>
      <p:sp>
        <p:nvSpPr>
          <p:cNvPr id="16" name="TextBox 15"/>
          <p:cNvSpPr txBox="1"/>
          <p:nvPr/>
        </p:nvSpPr>
        <p:spPr>
          <a:xfrm>
            <a:off x="4407407" y="2834640"/>
            <a:ext cx="1645920" cy="640080"/>
          </a:xfrm>
          <a:prstGeom prst="rect">
            <a:avLst/>
          </a:prstGeom>
          <a:noFill/>
        </p:spPr>
        <p:txBody>
          <a:bodyPr wrap="square" lIns="45720" rIns="45720" tIns="27432" bIns="27432" anchor="t"/>
          <a:lstStyle/>
          <a:p>
            <a:pPr algn="ctr">
              <a:lnSpc>
                <a:spcPct val="100000"/>
              </a:lnSpc>
              <a:spcAft>
                <a:spcPts val="400"/>
              </a:spcAft>
            </a:pPr>
            <a:r>
              <a:rPr sz="1300" b="0" i="0">
                <a:solidFill>
                  <a:srgbClr val="0F172A"/>
                </a:solidFill>
                <a:latin typeface="Segoe UI"/>
              </a:rPr>
              <a:t>typed AST
+ symbols</a:t>
            </a:r>
          </a:p>
        </p:txBody>
      </p:sp>
      <p:sp>
        <p:nvSpPr>
          <p:cNvPr id="17" name="Chevron 16"/>
          <p:cNvSpPr/>
          <p:nvPr/>
        </p:nvSpPr>
        <p:spPr>
          <a:xfrm>
            <a:off x="6199631" y="1691640"/>
            <a:ext cx="1810512" cy="1051560"/>
          </a:xfrm>
          <a:prstGeom prst="chevron">
            <a:avLst>
              <a:gd name="adj" fmla="val 2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1" y="1810512"/>
            <a:ext cx="1417320" cy="822960"/>
          </a:xfrm>
          <a:prstGeom prst="rect">
            <a:avLst/>
          </a:prstGeom>
          <a:noFill/>
        </p:spPr>
        <p:txBody>
          <a:bodyPr wrap="square" lIns="45720" rIns="45720" tIns="27432" bIns="27432" anchor="ctr"/>
          <a:lstStyle/>
          <a:p>
            <a:pPr algn="ctr">
              <a:lnSpc>
                <a:spcPct val="110000"/>
              </a:lnSpc>
              <a:spcAft>
                <a:spcPts val="0"/>
              </a:spcAft>
            </a:pPr>
            <a:r>
              <a:rPr sz="1700" b="1" i="0">
                <a:solidFill>
                  <a:srgbClr val="FFFFFF"/>
                </a:solidFill>
                <a:latin typeface="Segoe UI Semibold"/>
              </a:rPr>
              <a:t>TAC</a:t>
            </a:r>
          </a:p>
          <a:p>
            <a:pPr algn="ctr">
              <a:lnSpc>
                <a:spcPct val="110000"/>
              </a:lnSpc>
              <a:spcAft>
                <a:spcPts val="0"/>
              </a:spcAft>
            </a:pPr>
            <a:r>
              <a:rPr sz="1100" b="0" i="0">
                <a:solidFill>
                  <a:srgbClr val="CCFBF1"/>
                </a:solidFill>
                <a:latin typeface="Segoe UI"/>
              </a:rPr>
              <a:t>tacgen.py</a:t>
            </a:r>
          </a:p>
        </p:txBody>
      </p:sp>
      <p:sp>
        <p:nvSpPr>
          <p:cNvPr id="19" name="TextBox 18"/>
          <p:cNvSpPr txBox="1"/>
          <p:nvPr/>
        </p:nvSpPr>
        <p:spPr>
          <a:xfrm>
            <a:off x="6291071" y="2834640"/>
            <a:ext cx="1645920" cy="640080"/>
          </a:xfrm>
          <a:prstGeom prst="rect">
            <a:avLst/>
          </a:prstGeom>
          <a:noFill/>
        </p:spPr>
        <p:txBody>
          <a:bodyPr wrap="square" lIns="45720" rIns="45720" tIns="27432" bIns="27432" anchor="t"/>
          <a:lstStyle/>
          <a:p>
            <a:pPr algn="ctr">
              <a:lnSpc>
                <a:spcPct val="100000"/>
              </a:lnSpc>
              <a:spcAft>
                <a:spcPts val="400"/>
              </a:spcAft>
            </a:pPr>
            <a:r>
              <a:rPr sz="1300" b="0" i="0">
                <a:solidFill>
                  <a:srgbClr val="0F172A"/>
                </a:solidFill>
                <a:latin typeface="Segoe UI"/>
              </a:rPr>
              <a:t>three-address
code</a:t>
            </a:r>
          </a:p>
        </p:txBody>
      </p:sp>
      <p:sp>
        <p:nvSpPr>
          <p:cNvPr id="20" name="Chevron 19"/>
          <p:cNvSpPr/>
          <p:nvPr/>
        </p:nvSpPr>
        <p:spPr>
          <a:xfrm>
            <a:off x="8083296" y="1691640"/>
            <a:ext cx="1810512" cy="1051560"/>
          </a:xfrm>
          <a:prstGeom prst="chevron">
            <a:avLst>
              <a:gd name="adj" fmla="val 2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11896" y="1810512"/>
            <a:ext cx="1417320" cy="822960"/>
          </a:xfrm>
          <a:prstGeom prst="rect">
            <a:avLst/>
          </a:prstGeom>
          <a:noFill/>
        </p:spPr>
        <p:txBody>
          <a:bodyPr wrap="square" lIns="45720" rIns="45720" tIns="27432" bIns="27432" anchor="ctr"/>
          <a:lstStyle/>
          <a:p>
            <a:pPr algn="ctr">
              <a:lnSpc>
                <a:spcPct val="110000"/>
              </a:lnSpc>
              <a:spcAft>
                <a:spcPts val="0"/>
              </a:spcAft>
            </a:pPr>
            <a:r>
              <a:rPr sz="1700" b="1" i="0">
                <a:solidFill>
                  <a:srgbClr val="FFFFFF"/>
                </a:solidFill>
                <a:latin typeface="Segoe UI Semibold"/>
              </a:rPr>
              <a:t>Optimizer</a:t>
            </a:r>
          </a:p>
          <a:p>
            <a:pPr algn="ctr">
              <a:lnSpc>
                <a:spcPct val="110000"/>
              </a:lnSpc>
              <a:spcAft>
                <a:spcPts val="0"/>
              </a:spcAft>
            </a:pPr>
            <a:r>
              <a:rPr sz="1100" b="0" i="0">
                <a:solidFill>
                  <a:srgbClr val="CCFBF1"/>
                </a:solidFill>
                <a:latin typeface="Segoe UI"/>
              </a:rPr>
              <a:t>optimizer.py</a:t>
            </a:r>
          </a:p>
        </p:txBody>
      </p:sp>
      <p:sp>
        <p:nvSpPr>
          <p:cNvPr id="22" name="TextBox 21"/>
          <p:cNvSpPr txBox="1"/>
          <p:nvPr/>
        </p:nvSpPr>
        <p:spPr>
          <a:xfrm>
            <a:off x="8174736" y="2834640"/>
            <a:ext cx="1645920" cy="640080"/>
          </a:xfrm>
          <a:prstGeom prst="rect">
            <a:avLst/>
          </a:prstGeom>
          <a:noFill/>
        </p:spPr>
        <p:txBody>
          <a:bodyPr wrap="square" lIns="45720" rIns="45720" tIns="27432" bIns="27432" anchor="t"/>
          <a:lstStyle/>
          <a:p>
            <a:pPr algn="ctr">
              <a:lnSpc>
                <a:spcPct val="100000"/>
              </a:lnSpc>
              <a:spcAft>
                <a:spcPts val="400"/>
              </a:spcAft>
            </a:pPr>
            <a:r>
              <a:rPr sz="1300" b="0" i="0">
                <a:solidFill>
                  <a:srgbClr val="0F172A"/>
                </a:solidFill>
                <a:latin typeface="Segoe UI"/>
              </a:rPr>
              <a:t>optimized
TAC</a:t>
            </a:r>
          </a:p>
        </p:txBody>
      </p:sp>
      <p:sp>
        <p:nvSpPr>
          <p:cNvPr id="23" name="Chevron 22"/>
          <p:cNvSpPr/>
          <p:nvPr/>
        </p:nvSpPr>
        <p:spPr>
          <a:xfrm>
            <a:off x="9966960" y="1691640"/>
            <a:ext cx="1810512" cy="1051560"/>
          </a:xfrm>
          <a:prstGeom prst="chevron">
            <a:avLst>
              <a:gd name="adj" fmla="val 2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95560" y="1810512"/>
            <a:ext cx="1417320" cy="822960"/>
          </a:xfrm>
          <a:prstGeom prst="rect">
            <a:avLst/>
          </a:prstGeom>
          <a:noFill/>
        </p:spPr>
        <p:txBody>
          <a:bodyPr wrap="square" lIns="45720" rIns="45720" tIns="27432" bIns="27432" anchor="ctr"/>
          <a:lstStyle/>
          <a:p>
            <a:pPr algn="ctr">
              <a:lnSpc>
                <a:spcPct val="110000"/>
              </a:lnSpc>
              <a:spcAft>
                <a:spcPts val="0"/>
              </a:spcAft>
            </a:pPr>
            <a:r>
              <a:rPr sz="1700" b="1" i="0">
                <a:solidFill>
                  <a:srgbClr val="FFFFFF"/>
                </a:solidFill>
                <a:latin typeface="Segoe UI Semibold"/>
              </a:rPr>
              <a:t>C++ gen</a:t>
            </a:r>
          </a:p>
          <a:p>
            <a:pPr algn="ctr">
              <a:lnSpc>
                <a:spcPct val="110000"/>
              </a:lnSpc>
              <a:spcAft>
                <a:spcPts val="0"/>
              </a:spcAft>
            </a:pPr>
            <a:r>
              <a:rPr sz="1100" b="0" i="0">
                <a:solidFill>
                  <a:srgbClr val="CCFBF1"/>
                </a:solidFill>
                <a:latin typeface="Segoe UI"/>
              </a:rPr>
              <a:t>codegen_cpp.py</a:t>
            </a:r>
          </a:p>
        </p:txBody>
      </p:sp>
      <p:sp>
        <p:nvSpPr>
          <p:cNvPr id="25" name="TextBox 24"/>
          <p:cNvSpPr txBox="1"/>
          <p:nvPr/>
        </p:nvSpPr>
        <p:spPr>
          <a:xfrm>
            <a:off x="10058400" y="2834640"/>
            <a:ext cx="1645920" cy="640080"/>
          </a:xfrm>
          <a:prstGeom prst="rect">
            <a:avLst/>
          </a:prstGeom>
          <a:noFill/>
        </p:spPr>
        <p:txBody>
          <a:bodyPr wrap="square" lIns="45720" rIns="45720" tIns="27432" bIns="27432" anchor="t"/>
          <a:lstStyle/>
          <a:p>
            <a:pPr algn="ctr">
              <a:lnSpc>
                <a:spcPct val="100000"/>
              </a:lnSpc>
              <a:spcAft>
                <a:spcPts val="400"/>
              </a:spcAft>
            </a:pPr>
            <a:r>
              <a:rPr sz="1300" b="0" i="0">
                <a:solidFill>
                  <a:srgbClr val="0F172A"/>
                </a:solidFill>
                <a:latin typeface="Segoe UI"/>
              </a:rPr>
              <a:t>C++17
source</a:t>
            </a:r>
          </a:p>
        </p:txBody>
      </p:sp>
      <p:sp>
        <p:nvSpPr>
          <p:cNvPr id="26" name="TextBox 25"/>
          <p:cNvSpPr txBox="1"/>
          <p:nvPr/>
        </p:nvSpPr>
        <p:spPr>
          <a:xfrm>
            <a:off x="548640" y="1325880"/>
            <a:ext cx="2743200" cy="320040"/>
          </a:xfrm>
          <a:prstGeom prst="rect">
            <a:avLst/>
          </a:prstGeom>
          <a:noFill/>
        </p:spPr>
        <p:txBody>
          <a:bodyPr wrap="square" lIns="45720" rIns="45720" tIns="27432" bIns="27432" anchor="t"/>
          <a:lstStyle/>
          <a:p>
            <a:pPr algn="l">
              <a:lnSpc>
                <a:spcPct val="110000"/>
              </a:lnSpc>
              <a:spcAft>
                <a:spcPts val="400"/>
              </a:spcAft>
            </a:pPr>
            <a:r>
              <a:rPr sz="1200" b="0" i="0">
                <a:solidFill>
                  <a:srgbClr val="475569"/>
                </a:solidFill>
                <a:latin typeface="Segoe UI"/>
              </a:rPr>
              <a:t>source text ▸</a:t>
            </a:r>
          </a:p>
        </p:txBody>
      </p:sp>
      <p:cxnSp>
        <p:nvCxnSpPr>
          <p:cNvPr id="27" name="Connector 26"/>
          <p:cNvCxnSpPr/>
          <p:nvPr/>
        </p:nvCxnSpPr>
        <p:spPr>
          <a:xfrm>
            <a:off x="1453895" y="3520440"/>
            <a:ext cx="0" cy="457199"/>
          </a:xfrm>
          <a:prstGeom prst="line">
            <a:avLst/>
          </a:prstGeom>
          <a:ln w="19050">
            <a:solidFill>
              <a:srgbClr val="B91C1C"/>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0935" y="3520440"/>
            <a:ext cx="777240" cy="320040"/>
          </a:xfrm>
          <a:prstGeom prst="rect">
            <a:avLst/>
          </a:prstGeom>
          <a:noFill/>
        </p:spPr>
        <p:txBody>
          <a:bodyPr wrap="square" lIns="45720" rIns="45720" tIns="27432" bIns="27432" anchor="t"/>
          <a:lstStyle/>
          <a:p>
            <a:pPr algn="r">
              <a:lnSpc>
                <a:spcPct val="110000"/>
              </a:lnSpc>
              <a:spcAft>
                <a:spcPts val="400"/>
              </a:spcAft>
            </a:pPr>
            <a:r>
              <a:rPr sz="1100" b="0" i="0">
                <a:solidFill>
                  <a:srgbClr val="B91C1C"/>
                </a:solidFill>
                <a:latin typeface="Segoe UI"/>
              </a:rPr>
              <a:t>L001–L005</a:t>
            </a:r>
          </a:p>
        </p:txBody>
      </p:sp>
      <p:cxnSp>
        <p:nvCxnSpPr>
          <p:cNvPr id="29" name="Connector 28"/>
          <p:cNvCxnSpPr/>
          <p:nvPr/>
        </p:nvCxnSpPr>
        <p:spPr>
          <a:xfrm>
            <a:off x="3337560" y="3520440"/>
            <a:ext cx="0" cy="457199"/>
          </a:xfrm>
          <a:prstGeom prst="line">
            <a:avLst/>
          </a:prstGeom>
          <a:ln w="19050">
            <a:solidFill>
              <a:srgbClr val="B91C1C"/>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514600" y="3520440"/>
            <a:ext cx="777240" cy="320040"/>
          </a:xfrm>
          <a:prstGeom prst="rect">
            <a:avLst/>
          </a:prstGeom>
          <a:noFill/>
        </p:spPr>
        <p:txBody>
          <a:bodyPr wrap="square" lIns="45720" rIns="45720" tIns="27432" bIns="27432" anchor="t"/>
          <a:lstStyle/>
          <a:p>
            <a:pPr algn="r">
              <a:lnSpc>
                <a:spcPct val="110000"/>
              </a:lnSpc>
              <a:spcAft>
                <a:spcPts val="400"/>
              </a:spcAft>
            </a:pPr>
            <a:r>
              <a:rPr sz="1100" b="0" i="0">
                <a:solidFill>
                  <a:srgbClr val="B91C1C"/>
                </a:solidFill>
                <a:latin typeface="Segoe UI"/>
              </a:rPr>
              <a:t>P001–P002</a:t>
            </a:r>
          </a:p>
        </p:txBody>
      </p:sp>
      <p:cxnSp>
        <p:nvCxnSpPr>
          <p:cNvPr id="31" name="Connector 30"/>
          <p:cNvCxnSpPr/>
          <p:nvPr/>
        </p:nvCxnSpPr>
        <p:spPr>
          <a:xfrm>
            <a:off x="5221224" y="3520440"/>
            <a:ext cx="0" cy="457199"/>
          </a:xfrm>
          <a:prstGeom prst="line">
            <a:avLst/>
          </a:prstGeom>
          <a:ln w="19050">
            <a:solidFill>
              <a:srgbClr val="B91C1C"/>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398264" y="3520440"/>
            <a:ext cx="777240" cy="320040"/>
          </a:xfrm>
          <a:prstGeom prst="rect">
            <a:avLst/>
          </a:prstGeom>
          <a:noFill/>
        </p:spPr>
        <p:txBody>
          <a:bodyPr wrap="square" lIns="45720" rIns="45720" tIns="27432" bIns="27432" anchor="t"/>
          <a:lstStyle/>
          <a:p>
            <a:pPr algn="r">
              <a:lnSpc>
                <a:spcPct val="110000"/>
              </a:lnSpc>
              <a:spcAft>
                <a:spcPts val="400"/>
              </a:spcAft>
            </a:pPr>
            <a:r>
              <a:rPr sz="1100" b="0" i="0">
                <a:solidFill>
                  <a:srgbClr val="B91C1C"/>
                </a:solidFill>
                <a:latin typeface="Segoe UI"/>
              </a:rPr>
              <a:t>S001–S006</a:t>
            </a:r>
          </a:p>
        </p:txBody>
      </p:sp>
      <p:sp>
        <p:nvSpPr>
          <p:cNvPr id="33" name="Rounded Rectangle 32"/>
          <p:cNvSpPr/>
          <p:nvPr/>
        </p:nvSpPr>
        <p:spPr>
          <a:xfrm>
            <a:off x="548640" y="4023360"/>
            <a:ext cx="5669280" cy="594360"/>
          </a:xfrm>
          <a:prstGeom prst="roundRect">
            <a:avLst>
              <a:gd name="adj" fmla="val 20000"/>
            </a:avLst>
          </a:prstGeom>
          <a:solidFill>
            <a:srgbClr val="FEE2E2"/>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087368"/>
            <a:ext cx="5669280" cy="457200"/>
          </a:xfrm>
          <a:prstGeom prst="rect">
            <a:avLst/>
          </a:prstGeom>
          <a:noFill/>
        </p:spPr>
        <p:txBody>
          <a:bodyPr wrap="square" lIns="45720" rIns="45720" tIns="27432" bIns="27432" anchor="ctr"/>
          <a:lstStyle/>
          <a:p>
            <a:pPr algn="ctr">
              <a:lnSpc>
                <a:spcPct val="110000"/>
              </a:lnSpc>
              <a:spcAft>
                <a:spcPts val="400"/>
              </a:spcAft>
            </a:pPr>
            <a:r>
              <a:rPr sz="1400" b="0" i="0">
                <a:solidFill>
                  <a:srgbClr val="B91C1C"/>
                </a:solidFill>
                <a:latin typeface="Segoe UI"/>
              </a:rPr>
              <a:t>Structured diagnostics: stage · code · message · line:column · hints</a:t>
            </a:r>
          </a:p>
        </p:txBody>
      </p:sp>
      <p:sp>
        <p:nvSpPr>
          <p:cNvPr id="35" name="TextBox 34"/>
          <p:cNvSpPr txBox="1"/>
          <p:nvPr/>
        </p:nvSpPr>
        <p:spPr>
          <a:xfrm>
            <a:off x="6492240" y="3977639"/>
            <a:ext cx="5120640" cy="731520"/>
          </a:xfrm>
          <a:prstGeom prst="rect">
            <a:avLst/>
          </a:prstGeom>
          <a:noFill/>
        </p:spPr>
        <p:txBody>
          <a:bodyPr wrap="square" lIns="45720" rIns="45720" tIns="27432" bIns="27432" anchor="t"/>
          <a:lstStyle/>
          <a:p>
            <a:pPr algn="l">
              <a:lnSpc>
                <a:spcPct val="110000"/>
              </a:lnSpc>
              <a:spcAft>
                <a:spcPts val="400"/>
              </a:spcAft>
            </a:pPr>
            <a:r>
              <a:rPr sz="1400" b="0" i="0">
                <a:solidFill>
                  <a:srgbClr val="475569"/>
                </a:solidFill>
                <a:latin typeface="Segoe UI"/>
              </a:rPr>
              <a:t>A failing phase stops the pipeline: later phases are reported as skipped and no TAC or C++ is returned.</a:t>
            </a:r>
          </a:p>
        </p:txBody>
      </p:sp>
      <p:graphicFrame>
        <p:nvGraphicFramePr>
          <p:cNvPr id="36" name="Table 35"/>
          <p:cNvGraphicFramePr>
            <a:graphicFrameLocks noGrp="1"/>
          </p:cNvGraphicFramePr>
          <p:nvPr/>
        </p:nvGraphicFramePr>
        <p:xfrm>
          <a:off x="548640" y="4892040"/>
          <a:ext cx="11091672" cy="822960"/>
        </p:xfrm>
        <a:graphic>
          <a:graphicData uri="http://schemas.openxmlformats.org/drawingml/2006/table">
            <a:tbl>
              <a:tblPr firstRow="0" bandRow="0">
                <a:tableStyleId>{5C22544A-7EE6-4342-B048-85BDC9FD1C3A}</a:tableStyleId>
              </a:tblPr>
              <a:tblGrid>
                <a:gridCol w="3044952"/>
                <a:gridCol w="1280160"/>
                <a:gridCol w="1280160"/>
                <a:gridCol w="1371600"/>
                <a:gridCol w="1280160"/>
                <a:gridCol w="1600200"/>
                <a:gridCol w="1234440"/>
              </a:tblGrid>
              <a:tr h="411480">
                <a:tc>
                  <a:txBody>
                    <a:bodyPr wrap="square"/>
                    <a:lstStyle/>
                    <a:p>
                      <a:r>
                        <a:rPr sz="1300" b="1">
                          <a:solidFill>
                            <a:srgbClr val="FFFFFF"/>
                          </a:solidFill>
                          <a:latin typeface="Segoe UI"/>
                        </a:rPr>
                        <a:t>Artifact in the API response</a:t>
                      </a:r>
                    </a:p>
                  </a:txBody>
                  <a:tcPr marL="73152" marR="73152" marT="27432" marB="27432" anchor="ctr">
                    <a:solidFill>
                      <a:srgbClr val="131C2E"/>
                    </a:solidFill>
                  </a:tcPr>
                </a:tc>
                <a:tc>
                  <a:txBody>
                    <a:bodyPr wrap="square"/>
                    <a:lstStyle/>
                    <a:p>
                      <a:r>
                        <a:rPr sz="1300" b="1">
                          <a:solidFill>
                            <a:srgbClr val="FFFFFF"/>
                          </a:solidFill>
                          <a:latin typeface="Segoe UI"/>
                        </a:rPr>
                        <a:t>tokens</a:t>
                      </a:r>
                    </a:p>
                  </a:txBody>
                  <a:tcPr marL="73152" marR="73152" marT="27432" marB="27432" anchor="ctr">
                    <a:solidFill>
                      <a:srgbClr val="131C2E"/>
                    </a:solidFill>
                  </a:tcPr>
                </a:tc>
                <a:tc>
                  <a:txBody>
                    <a:bodyPr wrap="square"/>
                    <a:lstStyle/>
                    <a:p>
                      <a:r>
                        <a:rPr sz="1300" b="1">
                          <a:solidFill>
                            <a:srgbClr val="FFFFFF"/>
                          </a:solidFill>
                          <a:latin typeface="Segoe UI"/>
                        </a:rPr>
                        <a:t>ast</a:t>
                      </a:r>
                    </a:p>
                  </a:txBody>
                  <a:tcPr marL="73152" marR="73152" marT="27432" marB="27432" anchor="ctr">
                    <a:solidFill>
                      <a:srgbClr val="131C2E"/>
                    </a:solidFill>
                  </a:tcPr>
                </a:tc>
                <a:tc>
                  <a:txBody>
                    <a:bodyPr wrap="square"/>
                    <a:lstStyle/>
                    <a:p>
                      <a:r>
                        <a:rPr sz="1300" b="1">
                          <a:solidFill>
                            <a:srgbClr val="FFFFFF"/>
                          </a:solidFill>
                          <a:latin typeface="Segoe UI"/>
                        </a:rPr>
                        <a:t>symbols</a:t>
                      </a:r>
                    </a:p>
                  </a:txBody>
                  <a:tcPr marL="73152" marR="73152" marT="27432" marB="27432" anchor="ctr">
                    <a:solidFill>
                      <a:srgbClr val="131C2E"/>
                    </a:solidFill>
                  </a:tcPr>
                </a:tc>
                <a:tc>
                  <a:txBody>
                    <a:bodyPr wrap="square"/>
                    <a:lstStyle/>
                    <a:p>
                      <a:r>
                        <a:rPr sz="1300" b="1">
                          <a:solidFill>
                            <a:srgbClr val="FFFFFF"/>
                          </a:solidFill>
                          <a:latin typeface="Segoe UI"/>
                        </a:rPr>
                        <a:t>tac</a:t>
                      </a:r>
                    </a:p>
                  </a:txBody>
                  <a:tcPr marL="73152" marR="73152" marT="27432" marB="27432" anchor="ctr">
                    <a:solidFill>
                      <a:srgbClr val="131C2E"/>
                    </a:solidFill>
                  </a:tcPr>
                </a:tc>
                <a:tc>
                  <a:txBody>
                    <a:bodyPr wrap="square"/>
                    <a:lstStyle/>
                    <a:p>
                      <a:r>
                        <a:rPr sz="1300" b="1">
                          <a:solidFill>
                            <a:srgbClr val="FFFFFF"/>
                          </a:solidFill>
                          <a:latin typeface="Segoe UI"/>
                        </a:rPr>
                        <a:t>optimized_tac</a:t>
                      </a:r>
                    </a:p>
                  </a:txBody>
                  <a:tcPr marL="73152" marR="73152" marT="27432" marB="27432" anchor="ctr">
                    <a:solidFill>
                      <a:srgbClr val="131C2E"/>
                    </a:solidFill>
                  </a:tcPr>
                </a:tc>
                <a:tc>
                  <a:txBody>
                    <a:bodyPr wrap="square"/>
                    <a:lstStyle/>
                    <a:p>
                      <a:r>
                        <a:rPr sz="1300" b="1">
                          <a:solidFill>
                            <a:srgbClr val="FFFFFF"/>
                          </a:solidFill>
                          <a:latin typeface="Segoe UI"/>
                        </a:rPr>
                        <a:t>cpp</a:t>
                      </a:r>
                    </a:p>
                  </a:txBody>
                  <a:tcPr marL="73152" marR="73152" marT="27432" marB="27432" anchor="ctr">
                    <a:solidFill>
                      <a:srgbClr val="131C2E"/>
                    </a:solidFill>
                  </a:tcPr>
                </a:tc>
              </a:tr>
              <a:tr h="411480">
                <a:tc>
                  <a:txBody>
                    <a:bodyPr wrap="square"/>
                    <a:lstStyle/>
                    <a:p>
                      <a:r>
                        <a:rPr sz="1300" b="0">
                          <a:solidFill>
                            <a:srgbClr val="0F172A"/>
                          </a:solidFill>
                          <a:latin typeface="Segoe UI"/>
                        </a:rPr>
                        <a:t>Workbench tab</a:t>
                      </a:r>
                    </a:p>
                  </a:txBody>
                  <a:tcPr marL="73152" marR="73152" marT="27432" marB="27432" anchor="ctr">
                    <a:solidFill>
                      <a:srgbClr val="FFFFFF"/>
                    </a:solidFill>
                  </a:tcPr>
                </a:tc>
                <a:tc>
                  <a:txBody>
                    <a:bodyPr wrap="square"/>
                    <a:lstStyle/>
                    <a:p>
                      <a:r>
                        <a:rPr sz="1300" b="0">
                          <a:solidFill>
                            <a:srgbClr val="0F172A"/>
                          </a:solidFill>
                          <a:latin typeface="Segoe UI"/>
                        </a:rPr>
                        <a:t>Tokens</a:t>
                      </a:r>
                    </a:p>
                  </a:txBody>
                  <a:tcPr marL="73152" marR="73152" marT="27432" marB="27432" anchor="ctr">
                    <a:solidFill>
                      <a:srgbClr val="FFFFFF"/>
                    </a:solidFill>
                  </a:tcPr>
                </a:tc>
                <a:tc>
                  <a:txBody>
                    <a:bodyPr wrap="square"/>
                    <a:lstStyle/>
                    <a:p>
                      <a:r>
                        <a:rPr sz="1300" b="0">
                          <a:solidFill>
                            <a:srgbClr val="0F172A"/>
                          </a:solidFill>
                          <a:latin typeface="Segoe UI"/>
                        </a:rPr>
                        <a:t>AST</a:t>
                      </a:r>
                    </a:p>
                  </a:txBody>
                  <a:tcPr marL="73152" marR="73152" marT="27432" marB="27432" anchor="ctr">
                    <a:solidFill>
                      <a:srgbClr val="FFFFFF"/>
                    </a:solidFill>
                  </a:tcPr>
                </a:tc>
                <a:tc>
                  <a:txBody>
                    <a:bodyPr wrap="square"/>
                    <a:lstStyle/>
                    <a:p>
                      <a:r>
                        <a:rPr sz="1300" b="0">
                          <a:solidFill>
                            <a:srgbClr val="0F172A"/>
                          </a:solidFill>
                          <a:latin typeface="Segoe UI"/>
                        </a:rPr>
                        <a:t>Symbols</a:t>
                      </a:r>
                    </a:p>
                  </a:txBody>
                  <a:tcPr marL="73152" marR="73152" marT="27432" marB="27432" anchor="ctr">
                    <a:solidFill>
                      <a:srgbClr val="FFFFFF"/>
                    </a:solidFill>
                  </a:tcPr>
                </a:tc>
                <a:tc>
                  <a:txBody>
                    <a:bodyPr wrap="square"/>
                    <a:lstStyle/>
                    <a:p>
                      <a:r>
                        <a:rPr sz="1300" b="0">
                          <a:solidFill>
                            <a:srgbClr val="0F172A"/>
                          </a:solidFill>
                          <a:latin typeface="Segoe UI"/>
                        </a:rPr>
                        <a:t>TAC</a:t>
                      </a:r>
                    </a:p>
                  </a:txBody>
                  <a:tcPr marL="73152" marR="73152" marT="27432" marB="27432" anchor="ctr">
                    <a:solidFill>
                      <a:srgbClr val="FFFFFF"/>
                    </a:solidFill>
                  </a:tcPr>
                </a:tc>
                <a:tc>
                  <a:txBody>
                    <a:bodyPr wrap="square"/>
                    <a:lstStyle/>
                    <a:p>
                      <a:r>
                        <a:rPr sz="1300" b="0">
                          <a:solidFill>
                            <a:srgbClr val="0F172A"/>
                          </a:solidFill>
                          <a:latin typeface="Segoe UI"/>
                        </a:rPr>
                        <a:t>Optimized TAC</a:t>
                      </a:r>
                    </a:p>
                  </a:txBody>
                  <a:tcPr marL="73152" marR="73152" marT="27432" marB="27432" anchor="ctr">
                    <a:solidFill>
                      <a:srgbClr val="FFFFFF"/>
                    </a:solidFill>
                  </a:tcPr>
                </a:tc>
                <a:tc>
                  <a:txBody>
                    <a:bodyPr wrap="square"/>
                    <a:lstStyle/>
                    <a:p>
                      <a:r>
                        <a:rPr sz="1300" b="0">
                          <a:solidFill>
                            <a:srgbClr val="0F172A"/>
                          </a:solidFill>
                          <a:latin typeface="Segoe UI"/>
                        </a:rPr>
                        <a:t>C++</a:t>
                      </a:r>
                    </a:p>
                  </a:txBody>
                  <a:tcPr marL="73152" marR="73152" marT="27432" marB="27432"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FRONT END OF THE COMPILER</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Lexer, parser and abstract syntax tree</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9 / 15</a:t>
            </a:r>
          </a:p>
        </p:txBody>
      </p:sp>
      <p:sp>
        <p:nvSpPr>
          <p:cNvPr id="8" name="TextBox 7"/>
          <p:cNvSpPr txBox="1"/>
          <p:nvPr/>
        </p:nvSpPr>
        <p:spPr>
          <a:xfrm>
            <a:off x="548640" y="1463040"/>
            <a:ext cx="5760720" cy="411480"/>
          </a:xfrm>
          <a:prstGeom prst="rect">
            <a:avLst/>
          </a:prstGeom>
          <a:noFill/>
        </p:spPr>
        <p:txBody>
          <a:bodyPr wrap="square" lIns="45720" rIns="45720" tIns="27432" bIns="27432" anchor="t"/>
          <a:lstStyle/>
          <a:p>
            <a:pPr algn="l">
              <a:lnSpc>
                <a:spcPct val="110000"/>
              </a:lnSpc>
              <a:spcAft>
                <a:spcPts val="400"/>
              </a:spcAft>
            </a:pPr>
            <a:r>
              <a:rPr sz="1900" b="1" i="0">
                <a:solidFill>
                  <a:srgbClr val="0D9488"/>
                </a:solidFill>
                <a:latin typeface="Segoe UI Semibold"/>
              </a:rPr>
              <a:t>Lexical analysis  (lexer.py)</a:t>
            </a:r>
          </a:p>
        </p:txBody>
      </p:sp>
      <p:sp>
        <p:nvSpPr>
          <p:cNvPr id="9" name="TextBox 8"/>
          <p:cNvSpPr txBox="1"/>
          <p:nvPr/>
        </p:nvSpPr>
        <p:spPr>
          <a:xfrm>
            <a:off x="548640" y="1874519"/>
            <a:ext cx="5760720" cy="1737360"/>
          </a:xfrm>
          <a:prstGeom prst="rect">
            <a:avLst/>
          </a:prstGeom>
          <a:noFill/>
        </p:spPr>
        <p:txBody>
          <a:bodyPr wrap="square" lIns="45720" rIns="45720" tIns="27432" bIns="27432" anchor="t"/>
          <a:lstStyle/>
          <a:p>
            <a:pPr algn="l" marL="256032" indent="-256032">
              <a:lnSpc>
                <a:spcPct val="110000"/>
              </a:lnSpc>
              <a:spcAft>
                <a:spcPts val="500"/>
              </a:spcAft>
            </a:pPr>
            <a:r>
              <a:rPr sz="1500" b="1" i="0">
                <a:solidFill>
                  <a:srgbClr val="0D9488"/>
                </a:solidFill>
                <a:latin typeface="Segoe UI"/>
              </a:rPr>
              <a:t>▸	</a:t>
            </a:r>
            <a:r>
              <a:rPr sz="1500" b="0" i="0">
                <a:solidFill>
                  <a:srgbClr val="0F172A"/>
                </a:solidFill>
                <a:latin typeface="Segoe UI"/>
              </a:rPr>
              <a:t>Hand-written scanner; longest-match operators (</a:t>
            </a:r>
            <a:r>
              <a:rPr sz="1500" b="0" i="0">
                <a:solidFill>
                  <a:srgbClr val="0D9488"/>
                </a:solidFill>
                <a:latin typeface="Consolas"/>
              </a:rPr>
              <a:t>&lt;=</a:t>
            </a:r>
            <a:r>
              <a:rPr sz="1500" b="0" i="0">
                <a:solidFill>
                  <a:srgbClr val="0F172A"/>
                </a:solidFill>
                <a:latin typeface="Segoe UI"/>
              </a:rPr>
              <a:t> before </a:t>
            </a:r>
            <a:r>
              <a:rPr sz="1500" b="0" i="0">
                <a:solidFill>
                  <a:srgbClr val="0D9488"/>
                </a:solidFill>
                <a:latin typeface="Consolas"/>
              </a:rPr>
              <a:t>&lt;</a:t>
            </a:r>
            <a:r>
              <a:rPr sz="1500" b="0" i="0">
                <a:solidFill>
                  <a:srgbClr val="0F172A"/>
                </a:solidFill>
                <a:latin typeface="Segoe UI"/>
              </a:rPr>
              <a:t>).</a:t>
            </a:r>
          </a:p>
          <a:p>
            <a:pPr algn="l" marL="256032" indent="-256032">
              <a:lnSpc>
                <a:spcPct val="110000"/>
              </a:lnSpc>
              <a:spcAft>
                <a:spcPts val="500"/>
              </a:spcAft>
            </a:pPr>
            <a:r>
              <a:rPr sz="1500" b="1" i="0">
                <a:solidFill>
                  <a:srgbClr val="0D9488"/>
                </a:solidFill>
                <a:latin typeface="Segoe UI"/>
              </a:rPr>
              <a:t>▸	</a:t>
            </a:r>
            <a:r>
              <a:rPr sz="1500" b="0" i="0">
                <a:solidFill>
                  <a:srgbClr val="0F172A"/>
                </a:solidFill>
                <a:latin typeface="Segoe UI"/>
              </a:rPr>
              <a:t>1-based line:column span on every token; newlines ignored inside ( ).</a:t>
            </a:r>
          </a:p>
          <a:p>
            <a:pPr algn="l" marL="256032" indent="-256032">
              <a:lnSpc>
                <a:spcPct val="110000"/>
              </a:lnSpc>
              <a:spcAft>
                <a:spcPts val="500"/>
              </a:spcAft>
            </a:pPr>
            <a:r>
              <a:rPr sz="1500" b="1" i="0">
                <a:solidFill>
                  <a:srgbClr val="0D9488"/>
                </a:solidFill>
                <a:latin typeface="Segoe UI"/>
              </a:rPr>
              <a:t>▸	</a:t>
            </a:r>
            <a:r>
              <a:rPr sz="1500" b="0" i="0">
                <a:solidFill>
                  <a:srgbClr val="0F172A"/>
                </a:solidFill>
                <a:latin typeface="Segoe UI"/>
              </a:rPr>
              <a:t>Reports </a:t>
            </a:r>
            <a:r>
              <a:rPr sz="1500" b="1" i="0">
                <a:solidFill>
                  <a:srgbClr val="0F172A"/>
                </a:solidFill>
                <a:latin typeface="Segoe UI"/>
              </a:rPr>
              <a:t>all</a:t>
            </a:r>
            <a:r>
              <a:rPr sz="1500" b="0" i="0">
                <a:solidFill>
                  <a:srgbClr val="0F172A"/>
                </a:solidFill>
                <a:latin typeface="Segoe UI"/>
              </a:rPr>
              <a:t> lexical errors in one pass, with hints (</a:t>
            </a:r>
            <a:r>
              <a:rPr sz="1500" b="0" i="0">
                <a:solidFill>
                  <a:srgbClr val="0D9488"/>
                </a:solidFill>
                <a:latin typeface="Consolas"/>
              </a:rPr>
              <a:t>!</a:t>
            </a:r>
            <a:r>
              <a:rPr sz="1500" b="0" i="0">
                <a:solidFill>
                  <a:srgbClr val="0F172A"/>
                </a:solidFill>
                <a:latin typeface="Segoe UI"/>
              </a:rPr>
              <a:t> → use </a:t>
            </a:r>
            <a:r>
              <a:rPr sz="1500" b="0" i="0">
                <a:solidFill>
                  <a:srgbClr val="0D9488"/>
                </a:solidFill>
                <a:latin typeface="Consolas"/>
              </a:rPr>
              <a:t>not</a:t>
            </a:r>
            <a:r>
              <a:rPr sz="1500" b="0" i="0">
                <a:solidFill>
                  <a:srgbClr val="0F172A"/>
                </a:solidFill>
                <a:latin typeface="Segoe UI"/>
              </a:rPr>
              <a:t>).</a:t>
            </a:r>
          </a:p>
        </p:txBody>
      </p:sp>
      <p:sp>
        <p:nvSpPr>
          <p:cNvPr id="10" name="TextBox 9"/>
          <p:cNvSpPr txBox="1"/>
          <p:nvPr/>
        </p:nvSpPr>
        <p:spPr>
          <a:xfrm>
            <a:off x="548640" y="3520440"/>
            <a:ext cx="5760720" cy="411480"/>
          </a:xfrm>
          <a:prstGeom prst="rect">
            <a:avLst/>
          </a:prstGeom>
          <a:noFill/>
        </p:spPr>
        <p:txBody>
          <a:bodyPr wrap="square" lIns="45720" rIns="45720" tIns="27432" bIns="27432" anchor="t"/>
          <a:lstStyle/>
          <a:p>
            <a:pPr algn="l">
              <a:lnSpc>
                <a:spcPct val="110000"/>
              </a:lnSpc>
              <a:spcAft>
                <a:spcPts val="400"/>
              </a:spcAft>
            </a:pPr>
            <a:r>
              <a:rPr sz="1900" b="1" i="0">
                <a:solidFill>
                  <a:srgbClr val="0D9488"/>
                </a:solidFill>
                <a:latin typeface="Segoe UI Semibold"/>
              </a:rPr>
              <a:t>Syntax analysis  (parser.py)</a:t>
            </a:r>
          </a:p>
        </p:txBody>
      </p:sp>
      <p:sp>
        <p:nvSpPr>
          <p:cNvPr id="11" name="TextBox 10"/>
          <p:cNvSpPr txBox="1"/>
          <p:nvPr/>
        </p:nvSpPr>
        <p:spPr>
          <a:xfrm>
            <a:off x="548640" y="3931920"/>
            <a:ext cx="5760720" cy="2377440"/>
          </a:xfrm>
          <a:prstGeom prst="rect">
            <a:avLst/>
          </a:prstGeom>
          <a:noFill/>
        </p:spPr>
        <p:txBody>
          <a:bodyPr wrap="square" lIns="45720" rIns="45720" tIns="27432" bIns="27432" anchor="t"/>
          <a:lstStyle/>
          <a:p>
            <a:pPr algn="l" marL="256032" indent="-256032">
              <a:lnSpc>
                <a:spcPct val="110000"/>
              </a:lnSpc>
              <a:spcAft>
                <a:spcPts val="500"/>
              </a:spcAft>
            </a:pPr>
            <a:r>
              <a:rPr sz="1500" b="1" i="0">
                <a:solidFill>
                  <a:srgbClr val="0D9488"/>
                </a:solidFill>
                <a:latin typeface="Segoe UI"/>
              </a:rPr>
              <a:t>▸	</a:t>
            </a:r>
            <a:r>
              <a:rPr sz="1500" b="0" i="0">
                <a:solidFill>
                  <a:srgbClr val="0F172A"/>
                </a:solidFill>
                <a:latin typeface="Segoe UI"/>
              </a:rPr>
              <a:t>Recursive descent: one method per grammar rule.</a:t>
            </a:r>
          </a:p>
          <a:p>
            <a:pPr algn="l" marL="256032" indent="-256032">
              <a:lnSpc>
                <a:spcPct val="110000"/>
              </a:lnSpc>
              <a:spcAft>
                <a:spcPts val="500"/>
              </a:spcAft>
            </a:pPr>
            <a:r>
              <a:rPr sz="1500" b="1" i="0">
                <a:solidFill>
                  <a:srgbClr val="0D9488"/>
                </a:solidFill>
                <a:latin typeface="Segoe UI"/>
              </a:rPr>
              <a:t>▸	</a:t>
            </a:r>
            <a:r>
              <a:rPr sz="1500" b="0" i="0">
                <a:solidFill>
                  <a:srgbClr val="0F172A"/>
                </a:solidFill>
                <a:latin typeface="Segoe UI"/>
              </a:rPr>
              <a:t>Precedence from the call chain: </a:t>
            </a:r>
            <a:r>
              <a:rPr sz="1500" b="0" i="0">
                <a:solidFill>
                  <a:srgbClr val="0D9488"/>
                </a:solidFill>
                <a:latin typeface="Consolas"/>
              </a:rPr>
              <a:t>or</a:t>
            </a:r>
            <a:r>
              <a:rPr sz="1500" b="0" i="0">
                <a:solidFill>
                  <a:srgbClr val="0F172A"/>
                </a:solidFill>
                <a:latin typeface="Segoe UI"/>
              </a:rPr>
              <a:t> &lt; </a:t>
            </a:r>
            <a:r>
              <a:rPr sz="1500" b="0" i="0">
                <a:solidFill>
                  <a:srgbClr val="0D9488"/>
                </a:solidFill>
                <a:latin typeface="Consolas"/>
              </a:rPr>
              <a:t>and</a:t>
            </a:r>
            <a:r>
              <a:rPr sz="1500" b="0" i="0">
                <a:solidFill>
                  <a:srgbClr val="0F172A"/>
                </a:solidFill>
                <a:latin typeface="Segoe UI"/>
              </a:rPr>
              <a:t> &lt; </a:t>
            </a:r>
            <a:r>
              <a:rPr sz="1500" b="0" i="0">
                <a:solidFill>
                  <a:srgbClr val="0D9488"/>
                </a:solidFill>
                <a:latin typeface="Consolas"/>
              </a:rPr>
              <a:t>not</a:t>
            </a:r>
            <a:r>
              <a:rPr sz="1500" b="0" i="0">
                <a:solidFill>
                  <a:srgbClr val="0F172A"/>
                </a:solidFill>
                <a:latin typeface="Segoe UI"/>
              </a:rPr>
              <a:t> &lt; equality &lt; comparison &lt; </a:t>
            </a:r>
            <a:r>
              <a:rPr sz="1500" b="0" i="0">
                <a:solidFill>
                  <a:srgbClr val="0D9488"/>
                </a:solidFill>
                <a:latin typeface="Consolas"/>
              </a:rPr>
              <a:t>+ -</a:t>
            </a:r>
            <a:r>
              <a:rPr sz="1500" b="0" i="0">
                <a:solidFill>
                  <a:srgbClr val="0F172A"/>
                </a:solidFill>
                <a:latin typeface="Segoe UI"/>
              </a:rPr>
              <a:t> &lt; </a:t>
            </a:r>
            <a:r>
              <a:rPr sz="1500" b="0" i="0">
                <a:solidFill>
                  <a:srgbClr val="0D9488"/>
                </a:solidFill>
                <a:latin typeface="Consolas"/>
              </a:rPr>
              <a:t>* / %</a:t>
            </a:r>
            <a:r>
              <a:rPr sz="1500" b="0" i="0">
                <a:solidFill>
                  <a:srgbClr val="0F172A"/>
                </a:solidFill>
                <a:latin typeface="Segoe UI"/>
              </a:rPr>
              <a:t> &lt; unary.</a:t>
            </a:r>
          </a:p>
          <a:p>
            <a:pPr algn="l" marL="256032" indent="-256032">
              <a:lnSpc>
                <a:spcPct val="110000"/>
              </a:lnSpc>
              <a:spcAft>
                <a:spcPts val="500"/>
              </a:spcAft>
            </a:pPr>
            <a:r>
              <a:rPr sz="1500" b="1" i="0">
                <a:solidFill>
                  <a:srgbClr val="0D9488"/>
                </a:solidFill>
                <a:latin typeface="Segoe UI"/>
              </a:rPr>
              <a:t>▸	</a:t>
            </a:r>
            <a:r>
              <a:rPr sz="1500" b="0" i="0">
                <a:solidFill>
                  <a:srgbClr val="0F172A"/>
                </a:solidFill>
                <a:latin typeface="Segoe UI"/>
              </a:rPr>
              <a:t>Typed AST dataclasses with spans, serialized to JSON for the AST tab.</a:t>
            </a:r>
          </a:p>
          <a:p>
            <a:pPr algn="l" marL="256032" indent="-256032">
              <a:lnSpc>
                <a:spcPct val="110000"/>
              </a:lnSpc>
              <a:spcAft>
                <a:spcPts val="500"/>
              </a:spcAft>
            </a:pPr>
            <a:r>
              <a:rPr sz="1500" b="1" i="0">
                <a:solidFill>
                  <a:srgbClr val="0D9488"/>
                </a:solidFill>
                <a:latin typeface="Segoe UI"/>
              </a:rPr>
              <a:t>▸	</a:t>
            </a:r>
            <a:r>
              <a:rPr sz="1500" b="0" i="0">
                <a:solidFill>
                  <a:srgbClr val="0F172A"/>
                </a:solidFill>
                <a:latin typeface="Segoe UI"/>
              </a:rPr>
              <a:t>Stops at the first syntax error; nesting ≤ 50, expression height ≤ 150.</a:t>
            </a:r>
          </a:p>
        </p:txBody>
      </p:sp>
      <p:pic>
        <p:nvPicPr>
          <p:cNvPr id="12" name="Picture 11" descr="ast-panel.png"/>
          <p:cNvPicPr>
            <a:picLocks noChangeAspect="1"/>
          </p:cNvPicPr>
          <p:nvPr/>
        </p:nvPicPr>
        <p:blipFill>
          <a:blip r:embed="rId2"/>
          <a:stretch>
            <a:fillRect/>
          </a:stretch>
        </p:blipFill>
        <p:spPr>
          <a:xfrm>
            <a:off x="6629400" y="1508760"/>
            <a:ext cx="5010912" cy="3326367"/>
          </a:xfrm>
          <a:prstGeom prst="rect">
            <a:avLst/>
          </a:prstGeom>
          <a:ln w="9525">
            <a:solidFill>
              <a:srgbClr val="CBD5E1"/>
            </a:solidFill>
          </a:ln>
        </p:spPr>
      </p:pic>
      <p:sp>
        <p:nvSpPr>
          <p:cNvPr id="13" name="TextBox 12"/>
          <p:cNvSpPr txBox="1"/>
          <p:nvPr/>
        </p:nvSpPr>
        <p:spPr>
          <a:xfrm>
            <a:off x="6629400" y="4892040"/>
            <a:ext cx="5010912" cy="548640"/>
          </a:xfrm>
          <a:prstGeom prst="rect">
            <a:avLst/>
          </a:prstGeom>
          <a:noFill/>
        </p:spPr>
        <p:txBody>
          <a:bodyPr wrap="square" lIns="45720" rIns="45720" tIns="27432" bIns="27432" anchor="t"/>
          <a:lstStyle/>
          <a:p>
            <a:pPr algn="ctr">
              <a:lnSpc>
                <a:spcPct val="110000"/>
              </a:lnSpc>
              <a:spcAft>
                <a:spcPts val="400"/>
              </a:spcAft>
            </a:pPr>
            <a:r>
              <a:rPr sz="1100" b="0" i="0">
                <a:solidFill>
                  <a:srgbClr val="475569"/>
                </a:solidFill>
                <a:latin typeface="Segoe UI"/>
              </a:rPr>
              <a:t>Live AST tab: typed nodes for an else-if chain (cropped screenshot)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MIDDLE END</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Semantic analysis, intermediate code and optimization</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10 / 15</a:t>
            </a:r>
          </a:p>
        </p:txBody>
      </p:sp>
      <p:sp>
        <p:nvSpPr>
          <p:cNvPr id="8" name="TextBox 7"/>
          <p:cNvSpPr txBox="1"/>
          <p:nvPr/>
        </p:nvSpPr>
        <p:spPr>
          <a:xfrm>
            <a:off x="548640" y="1463040"/>
            <a:ext cx="3657600" cy="411480"/>
          </a:xfrm>
          <a:prstGeom prst="rect">
            <a:avLst/>
          </a:prstGeom>
          <a:noFill/>
        </p:spPr>
        <p:txBody>
          <a:bodyPr wrap="square" lIns="45720" rIns="45720" tIns="27432" bIns="27432" anchor="t"/>
          <a:lstStyle/>
          <a:p>
            <a:pPr algn="l">
              <a:lnSpc>
                <a:spcPct val="110000"/>
              </a:lnSpc>
              <a:spcAft>
                <a:spcPts val="400"/>
              </a:spcAft>
            </a:pPr>
            <a:r>
              <a:rPr sz="1800" b="1" i="0">
                <a:solidFill>
                  <a:srgbClr val="0D9488"/>
                </a:solidFill>
                <a:latin typeface="Segoe UI Semibold"/>
              </a:rPr>
              <a:t>Semantic analysis</a:t>
            </a:r>
          </a:p>
        </p:txBody>
      </p:sp>
      <p:sp>
        <p:nvSpPr>
          <p:cNvPr id="9" name="TextBox 8"/>
          <p:cNvSpPr txBox="1"/>
          <p:nvPr/>
        </p:nvSpPr>
        <p:spPr>
          <a:xfrm>
            <a:off x="548640" y="1874519"/>
            <a:ext cx="3657600" cy="4389120"/>
          </a:xfrm>
          <a:prstGeom prst="rect">
            <a:avLst/>
          </a:prstGeom>
          <a:noFill/>
        </p:spPr>
        <p:txBody>
          <a:bodyPr wrap="square" lIns="45720" rIns="45720" tIns="27432" bIns="27432" anchor="t"/>
          <a:lstStyle/>
          <a:p>
            <a:pPr algn="l" marL="256032" indent="-256032">
              <a:lnSpc>
                <a:spcPct val="110000"/>
              </a:lnSpc>
              <a:spcAft>
                <a:spcPts val="600"/>
              </a:spcAft>
            </a:pPr>
            <a:r>
              <a:rPr sz="1400" b="1" i="0">
                <a:solidFill>
                  <a:srgbClr val="0D9488"/>
                </a:solidFill>
                <a:latin typeface="Segoe UI"/>
              </a:rPr>
              <a:t>▸	</a:t>
            </a:r>
            <a:r>
              <a:rPr sz="1400" b="0" i="0">
                <a:solidFill>
                  <a:srgbClr val="0F172A"/>
                </a:solidFill>
                <a:latin typeface="Segoe UI"/>
              </a:rPr>
              <a:t>Symbol table = stack of scopes, one per block.</a:t>
            </a:r>
          </a:p>
          <a:p>
            <a:pPr algn="l" marL="256032" indent="-256032">
              <a:lnSpc>
                <a:spcPct val="110000"/>
              </a:lnSpc>
              <a:spcAft>
                <a:spcPts val="600"/>
              </a:spcAft>
            </a:pPr>
            <a:r>
              <a:rPr sz="1400" b="1" i="0">
                <a:solidFill>
                  <a:srgbClr val="0D9488"/>
                </a:solidFill>
                <a:latin typeface="Segoe UI"/>
              </a:rPr>
              <a:t>▸	</a:t>
            </a:r>
            <a:r>
              <a:rPr sz="1400" b="0" i="0">
                <a:solidFill>
                  <a:srgbClr val="0F172A"/>
                </a:solidFill>
                <a:latin typeface="Segoe UI"/>
              </a:rPr>
              <a:t>S001 undefined · S002 redeclared · S003 bad assignment · S004 operand types · S005 non-bool condition · S006 division by literal 0.</a:t>
            </a:r>
          </a:p>
          <a:p>
            <a:pPr algn="l" marL="256032" indent="-256032">
              <a:lnSpc>
                <a:spcPct val="110000"/>
              </a:lnSpc>
              <a:spcAft>
                <a:spcPts val="600"/>
              </a:spcAft>
            </a:pPr>
            <a:r>
              <a:rPr sz="1400" b="1" i="0">
                <a:solidFill>
                  <a:srgbClr val="0D9488"/>
                </a:solidFill>
                <a:latin typeface="Segoe UI"/>
              </a:rPr>
              <a:t>▸	</a:t>
            </a:r>
            <a:r>
              <a:rPr sz="1400" b="0" i="0">
                <a:solidFill>
                  <a:srgbClr val="0F172A"/>
                </a:solidFill>
                <a:latin typeface="Segoe UI"/>
              </a:rPr>
              <a:t>Shadowed names renamed (</a:t>
            </a:r>
            <a:r>
              <a:rPr sz="1400" b="0" i="0">
                <a:solidFill>
                  <a:srgbClr val="0D9488"/>
                </a:solidFill>
                <a:latin typeface="Consolas"/>
              </a:rPr>
              <a:t>x</a:t>
            </a:r>
            <a:r>
              <a:rPr sz="1400" b="0" i="0">
                <a:solidFill>
                  <a:srgbClr val="0F172A"/>
                </a:solidFill>
                <a:latin typeface="Segoe UI"/>
              </a:rPr>
              <a:t> → </a:t>
            </a:r>
            <a:r>
              <a:rPr sz="1400" b="0" i="0">
                <a:solidFill>
                  <a:srgbClr val="0D9488"/>
                </a:solidFill>
                <a:latin typeface="Consolas"/>
              </a:rPr>
              <a:t>x_2</a:t>
            </a:r>
            <a:r>
              <a:rPr sz="1400" b="0" i="0">
                <a:solidFill>
                  <a:srgbClr val="0F172A"/>
                </a:solidFill>
                <a:latin typeface="Segoe UI"/>
              </a:rPr>
              <a:t>).</a:t>
            </a:r>
          </a:p>
          <a:p>
            <a:pPr algn="l" marL="256032" indent="-256032">
              <a:lnSpc>
                <a:spcPct val="110000"/>
              </a:lnSpc>
              <a:spcAft>
                <a:spcPts val="600"/>
              </a:spcAft>
            </a:pPr>
            <a:r>
              <a:rPr sz="1400" b="1" i="0">
                <a:solidFill>
                  <a:srgbClr val="0D9488"/>
                </a:solidFill>
                <a:latin typeface="Segoe UI"/>
              </a:rPr>
              <a:t>▸	</a:t>
            </a:r>
            <a:r>
              <a:rPr sz="1400" b="0" i="0">
                <a:solidFill>
                  <a:srgbClr val="0F172A"/>
                </a:solidFill>
                <a:latin typeface="Segoe UI"/>
              </a:rPr>
              <a:t>All errors collected, no cascades; S100 unused warning.</a:t>
            </a:r>
          </a:p>
        </p:txBody>
      </p:sp>
      <p:sp>
        <p:nvSpPr>
          <p:cNvPr id="10" name="Rounded Rectangle 9"/>
          <p:cNvSpPr/>
          <p:nvPr/>
        </p:nvSpPr>
        <p:spPr>
          <a:xfrm>
            <a:off x="4434840" y="1508760"/>
            <a:ext cx="3520440" cy="2514600"/>
          </a:xfrm>
          <a:prstGeom prst="roundRect">
            <a:avLst>
              <a:gd name="adj" fmla="val 4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17720" y="1600200"/>
            <a:ext cx="3154680" cy="292608"/>
          </a:xfrm>
          <a:prstGeom prst="rect">
            <a:avLst/>
          </a:prstGeom>
          <a:noFill/>
        </p:spPr>
        <p:txBody>
          <a:bodyPr wrap="square" lIns="45720" rIns="45720" tIns="27432" bIns="27432" anchor="t"/>
          <a:lstStyle/>
          <a:p>
            <a:pPr algn="l">
              <a:lnSpc>
                <a:spcPct val="110000"/>
              </a:lnSpc>
              <a:spcAft>
                <a:spcPts val="400"/>
              </a:spcAft>
            </a:pPr>
            <a:r>
              <a:rPr sz="1100" b="1" i="0">
                <a:solidFill>
                  <a:srgbClr val="2DD4BF"/>
                </a:solidFill>
                <a:latin typeface="Segoe UI"/>
              </a:rPr>
              <a:t>Original TAC</a:t>
            </a:r>
          </a:p>
        </p:txBody>
      </p:sp>
      <p:sp>
        <p:nvSpPr>
          <p:cNvPr id="12" name="TextBox 11"/>
          <p:cNvSpPr txBox="1"/>
          <p:nvPr/>
        </p:nvSpPr>
        <p:spPr>
          <a:xfrm>
            <a:off x="4617720" y="1920240"/>
            <a:ext cx="3200400" cy="2029967"/>
          </a:xfrm>
          <a:prstGeom prst="rect">
            <a:avLst/>
          </a:prstGeom>
          <a:noFill/>
        </p:spPr>
        <p:txBody>
          <a:bodyPr wrap="square" lIns="45720" rIns="45720" tIns="27432" bIns="27432" anchor="t"/>
          <a:lstStyle/>
          <a:p>
            <a:pPr algn="l">
              <a:lnSpc>
                <a:spcPct val="105000"/>
              </a:lnSpc>
              <a:spcAft>
                <a:spcPts val="0"/>
              </a:spcAft>
            </a:pPr>
            <a:r>
              <a:rPr sz="1300" b="0" i="0">
                <a:solidFill>
                  <a:srgbClr val="E2E8F0"/>
                </a:solidFill>
                <a:latin typeface="Consolas"/>
              </a:rPr>
              <a:t>t</a:t>
            </a:r>
            <a:r>
              <a:rPr sz="1300" b="0" i="0">
                <a:solidFill>
                  <a:srgbClr val="FDBA74"/>
                </a:solidFill>
                <a:latin typeface="Consolas"/>
              </a:rPr>
              <a:t>1</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FDBA74"/>
                </a:solidFill>
                <a:latin typeface="Consolas"/>
              </a:rPr>
              <a:t>2</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FDBA74"/>
                </a:solidFill>
                <a:latin typeface="Consolas"/>
              </a:rPr>
              <a:t>3</a:t>
            </a:r>
          </a:p>
          <a:p>
            <a:pPr algn="l">
              <a:lnSpc>
                <a:spcPct val="105000"/>
              </a:lnSpc>
              <a:spcAft>
                <a:spcPts val="0"/>
              </a:spcAft>
            </a:pPr>
            <a:r>
              <a:rPr sz="1300" b="0" i="0">
                <a:solidFill>
                  <a:srgbClr val="E2E8F0"/>
                </a:solidFill>
                <a:latin typeface="Consolas"/>
              </a:rPr>
              <a:t>t</a:t>
            </a:r>
            <a:r>
              <a:rPr sz="1300" b="0" i="0">
                <a:solidFill>
                  <a:srgbClr val="FDBA74"/>
                </a:solidFill>
                <a:latin typeface="Consolas"/>
              </a:rPr>
              <a:t>2</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E2E8F0"/>
                </a:solidFill>
                <a:latin typeface="Consolas"/>
              </a:rPr>
              <a:t>t</a:t>
            </a:r>
            <a:r>
              <a:rPr sz="1300" b="0" i="0">
                <a:solidFill>
                  <a:srgbClr val="FDBA74"/>
                </a:solidFill>
                <a:latin typeface="Consolas"/>
              </a:rPr>
              <a:t>1</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FDBA74"/>
                </a:solidFill>
                <a:latin typeface="Consolas"/>
              </a:rPr>
              <a:t>4</a:t>
            </a:r>
          </a:p>
          <a:p>
            <a:pPr algn="l">
              <a:lnSpc>
                <a:spcPct val="105000"/>
              </a:lnSpc>
              <a:spcAft>
                <a:spcPts val="0"/>
              </a:spcAft>
            </a:pPr>
            <a:r>
              <a:rPr sz="1300" b="0" i="0">
                <a:solidFill>
                  <a:srgbClr val="E2E8F0"/>
                </a:solidFill>
                <a:latin typeface="Consolas"/>
              </a:rPr>
              <a:t>x</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E2E8F0"/>
                </a:solidFill>
                <a:latin typeface="Consolas"/>
              </a:rPr>
              <a:t>t</a:t>
            </a:r>
            <a:r>
              <a:rPr sz="1300" b="0" i="0">
                <a:solidFill>
                  <a:srgbClr val="FDBA74"/>
                </a:solidFill>
                <a:latin typeface="Consolas"/>
              </a:rPr>
              <a:t>2</a:t>
            </a:r>
          </a:p>
          <a:p>
            <a:pPr algn="l">
              <a:lnSpc>
                <a:spcPct val="105000"/>
              </a:lnSpc>
              <a:spcAft>
                <a:spcPts val="0"/>
              </a:spcAft>
            </a:pPr>
            <a:r>
              <a:rPr sz="1300" b="0" i="0">
                <a:solidFill>
                  <a:srgbClr val="E2E8F0"/>
                </a:solidFill>
                <a:latin typeface="Consolas"/>
              </a:rPr>
              <a:t>i</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FDBA74"/>
                </a:solidFill>
                <a:latin typeface="Consolas"/>
              </a:rPr>
              <a:t>0</a:t>
            </a:r>
          </a:p>
          <a:p>
            <a:pPr algn="l">
              <a:lnSpc>
                <a:spcPct val="105000"/>
              </a:lnSpc>
              <a:spcAft>
                <a:spcPts val="0"/>
              </a:spcAft>
            </a:pPr>
            <a:r>
              <a:rPr sz="1300" b="0" i="0">
                <a:solidFill>
                  <a:srgbClr val="2DD4BF"/>
                </a:solidFill>
                <a:latin typeface="Consolas"/>
              </a:rPr>
              <a:t>L1:</a:t>
            </a:r>
          </a:p>
          <a:p>
            <a:pPr algn="l">
              <a:lnSpc>
                <a:spcPct val="105000"/>
              </a:lnSpc>
              <a:spcAft>
                <a:spcPts val="0"/>
              </a:spcAft>
            </a:pPr>
            <a:r>
              <a:rPr sz="1300" b="0" i="0">
                <a:solidFill>
                  <a:srgbClr val="E2E8F0"/>
                </a:solidFill>
                <a:latin typeface="Consolas"/>
              </a:rPr>
              <a:t>t</a:t>
            </a:r>
            <a:r>
              <a:rPr sz="1300" b="0" i="0">
                <a:solidFill>
                  <a:srgbClr val="FDBA74"/>
                </a:solidFill>
                <a:latin typeface="Consolas"/>
              </a:rPr>
              <a:t>3</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E2E8F0"/>
                </a:solidFill>
                <a:latin typeface="Consolas"/>
              </a:rPr>
              <a:t>i</a:t>
            </a:r>
            <a:r>
              <a:rPr sz="1300" b="0" i="0">
                <a:solidFill>
                  <a:srgbClr val="E2E8F0"/>
                </a:solidFill>
                <a:latin typeface="Consolas"/>
              </a:rPr>
              <a:t> </a:t>
            </a:r>
            <a:r>
              <a:rPr sz="1300" b="0" i="0">
                <a:solidFill>
                  <a:srgbClr val="E2E8F0"/>
                </a:solidFill>
                <a:latin typeface="Consolas"/>
              </a:rPr>
              <a:t>&lt;</a:t>
            </a:r>
            <a:r>
              <a:rPr sz="1300" b="0" i="0">
                <a:solidFill>
                  <a:srgbClr val="E2E8F0"/>
                </a:solidFill>
                <a:latin typeface="Consolas"/>
              </a:rPr>
              <a:t> </a:t>
            </a:r>
            <a:r>
              <a:rPr sz="1300" b="0" i="0">
                <a:solidFill>
                  <a:srgbClr val="E2E8F0"/>
                </a:solidFill>
                <a:latin typeface="Consolas"/>
              </a:rPr>
              <a:t>x</a:t>
            </a:r>
          </a:p>
          <a:p>
            <a:pPr algn="l">
              <a:lnSpc>
                <a:spcPct val="105000"/>
              </a:lnSpc>
              <a:spcAft>
                <a:spcPts val="0"/>
              </a:spcAft>
            </a:pPr>
            <a:r>
              <a:rPr sz="1300" b="0" i="0">
                <a:solidFill>
                  <a:srgbClr val="C084FC"/>
                </a:solidFill>
                <a:latin typeface="Consolas"/>
              </a:rPr>
              <a:t>ifFalse</a:t>
            </a:r>
            <a:r>
              <a:rPr sz="1300" b="0" i="0">
                <a:solidFill>
                  <a:srgbClr val="E2E8F0"/>
                </a:solidFill>
                <a:latin typeface="Consolas"/>
              </a:rPr>
              <a:t> </a:t>
            </a:r>
            <a:r>
              <a:rPr sz="1300" b="0" i="0">
                <a:solidFill>
                  <a:srgbClr val="E2E8F0"/>
                </a:solidFill>
                <a:latin typeface="Consolas"/>
              </a:rPr>
              <a:t>t</a:t>
            </a:r>
            <a:r>
              <a:rPr sz="1300" b="0" i="0">
                <a:solidFill>
                  <a:srgbClr val="FDBA74"/>
                </a:solidFill>
                <a:latin typeface="Consolas"/>
              </a:rPr>
              <a:t>3</a:t>
            </a:r>
            <a:r>
              <a:rPr sz="1300" b="0" i="0">
                <a:solidFill>
                  <a:srgbClr val="E2E8F0"/>
                </a:solidFill>
                <a:latin typeface="Consolas"/>
              </a:rPr>
              <a:t> </a:t>
            </a:r>
            <a:r>
              <a:rPr sz="1300" b="0" i="0">
                <a:solidFill>
                  <a:srgbClr val="C084FC"/>
                </a:solidFill>
                <a:latin typeface="Consolas"/>
              </a:rPr>
              <a:t>goto</a:t>
            </a:r>
            <a:r>
              <a:rPr sz="1300" b="0" i="0">
                <a:solidFill>
                  <a:srgbClr val="E2E8F0"/>
                </a:solidFill>
                <a:latin typeface="Consolas"/>
              </a:rPr>
              <a:t> </a:t>
            </a:r>
            <a:r>
              <a:rPr sz="1300" b="0" i="0">
                <a:solidFill>
                  <a:srgbClr val="E2E8F0"/>
                </a:solidFill>
                <a:latin typeface="Consolas"/>
              </a:rPr>
              <a:t>L</a:t>
            </a:r>
            <a:r>
              <a:rPr sz="1300" b="0" i="0">
                <a:solidFill>
                  <a:srgbClr val="FDBA74"/>
                </a:solidFill>
                <a:latin typeface="Consolas"/>
              </a:rPr>
              <a:t>2</a:t>
            </a:r>
          </a:p>
        </p:txBody>
      </p:sp>
      <p:sp>
        <p:nvSpPr>
          <p:cNvPr id="13" name="Rounded Rectangle 12"/>
          <p:cNvSpPr/>
          <p:nvPr/>
        </p:nvSpPr>
        <p:spPr>
          <a:xfrm>
            <a:off x="4434840" y="4160520"/>
            <a:ext cx="3520440" cy="2057400"/>
          </a:xfrm>
          <a:prstGeom prst="roundRect">
            <a:avLst>
              <a:gd name="adj" fmla="val 4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17720" y="4251959"/>
            <a:ext cx="3154680" cy="292608"/>
          </a:xfrm>
          <a:prstGeom prst="rect">
            <a:avLst/>
          </a:prstGeom>
          <a:noFill/>
        </p:spPr>
        <p:txBody>
          <a:bodyPr wrap="square" lIns="45720" rIns="45720" tIns="27432" bIns="27432" anchor="t"/>
          <a:lstStyle/>
          <a:p>
            <a:pPr algn="l">
              <a:lnSpc>
                <a:spcPct val="110000"/>
              </a:lnSpc>
              <a:spcAft>
                <a:spcPts val="400"/>
              </a:spcAft>
            </a:pPr>
            <a:r>
              <a:rPr sz="1100" b="1" i="0">
                <a:solidFill>
                  <a:srgbClr val="2DD4BF"/>
                </a:solidFill>
                <a:latin typeface="Segoe UI"/>
              </a:rPr>
              <a:t>Optimized TAC</a:t>
            </a:r>
          </a:p>
        </p:txBody>
      </p:sp>
      <p:sp>
        <p:nvSpPr>
          <p:cNvPr id="15" name="TextBox 14"/>
          <p:cNvSpPr txBox="1"/>
          <p:nvPr/>
        </p:nvSpPr>
        <p:spPr>
          <a:xfrm>
            <a:off x="4617720" y="4572000"/>
            <a:ext cx="3200400" cy="1572767"/>
          </a:xfrm>
          <a:prstGeom prst="rect">
            <a:avLst/>
          </a:prstGeom>
          <a:noFill/>
        </p:spPr>
        <p:txBody>
          <a:bodyPr wrap="square" lIns="45720" rIns="45720" tIns="27432" bIns="27432" anchor="t"/>
          <a:lstStyle/>
          <a:p>
            <a:pPr algn="l">
              <a:lnSpc>
                <a:spcPct val="105000"/>
              </a:lnSpc>
              <a:spcAft>
                <a:spcPts val="0"/>
              </a:spcAft>
            </a:pPr>
            <a:r>
              <a:rPr sz="1300" b="0" i="0">
                <a:solidFill>
                  <a:srgbClr val="E2E8F0"/>
                </a:solidFill>
                <a:latin typeface="Consolas"/>
              </a:rPr>
              <a:t>x</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FDBA74"/>
                </a:solidFill>
                <a:latin typeface="Consolas"/>
              </a:rPr>
              <a:t>10</a:t>
            </a:r>
          </a:p>
          <a:p>
            <a:pPr algn="l">
              <a:lnSpc>
                <a:spcPct val="105000"/>
              </a:lnSpc>
              <a:spcAft>
                <a:spcPts val="0"/>
              </a:spcAft>
            </a:pPr>
            <a:r>
              <a:rPr sz="1300" b="0" i="0">
                <a:solidFill>
                  <a:srgbClr val="E2E8F0"/>
                </a:solidFill>
                <a:latin typeface="Consolas"/>
              </a:rPr>
              <a:t>i</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FDBA74"/>
                </a:solidFill>
                <a:latin typeface="Consolas"/>
              </a:rPr>
              <a:t>0</a:t>
            </a:r>
          </a:p>
          <a:p>
            <a:pPr algn="l">
              <a:lnSpc>
                <a:spcPct val="105000"/>
              </a:lnSpc>
              <a:spcAft>
                <a:spcPts val="0"/>
              </a:spcAft>
            </a:pPr>
            <a:r>
              <a:rPr sz="1300" b="0" i="0">
                <a:solidFill>
                  <a:srgbClr val="2DD4BF"/>
                </a:solidFill>
                <a:latin typeface="Consolas"/>
              </a:rPr>
              <a:t>L1:</a:t>
            </a:r>
          </a:p>
          <a:p>
            <a:pPr algn="l">
              <a:lnSpc>
                <a:spcPct val="105000"/>
              </a:lnSpc>
              <a:spcAft>
                <a:spcPts val="0"/>
              </a:spcAft>
            </a:pPr>
            <a:r>
              <a:rPr sz="1300" b="0" i="0">
                <a:solidFill>
                  <a:srgbClr val="E2E8F0"/>
                </a:solidFill>
                <a:latin typeface="Consolas"/>
              </a:rPr>
              <a:t>t</a:t>
            </a:r>
            <a:r>
              <a:rPr sz="1300" b="0" i="0">
                <a:solidFill>
                  <a:srgbClr val="FDBA74"/>
                </a:solidFill>
                <a:latin typeface="Consolas"/>
              </a:rPr>
              <a:t>3</a:t>
            </a:r>
            <a:r>
              <a:rPr sz="1300" b="0" i="0">
                <a:solidFill>
                  <a:srgbClr val="E2E8F0"/>
                </a:solidFill>
                <a:latin typeface="Consolas"/>
              </a:rPr>
              <a:t> </a:t>
            </a:r>
            <a:r>
              <a:rPr sz="1300" b="0" i="0">
                <a:solidFill>
                  <a:srgbClr val="E2E8F0"/>
                </a:solidFill>
                <a:latin typeface="Consolas"/>
              </a:rPr>
              <a:t>=</a:t>
            </a:r>
            <a:r>
              <a:rPr sz="1300" b="0" i="0">
                <a:solidFill>
                  <a:srgbClr val="E2E8F0"/>
                </a:solidFill>
                <a:latin typeface="Consolas"/>
              </a:rPr>
              <a:t> </a:t>
            </a:r>
            <a:r>
              <a:rPr sz="1300" b="0" i="0">
                <a:solidFill>
                  <a:srgbClr val="E2E8F0"/>
                </a:solidFill>
                <a:latin typeface="Consolas"/>
              </a:rPr>
              <a:t>i</a:t>
            </a:r>
            <a:r>
              <a:rPr sz="1300" b="0" i="0">
                <a:solidFill>
                  <a:srgbClr val="E2E8F0"/>
                </a:solidFill>
                <a:latin typeface="Consolas"/>
              </a:rPr>
              <a:t> </a:t>
            </a:r>
            <a:r>
              <a:rPr sz="1300" b="0" i="0">
                <a:solidFill>
                  <a:srgbClr val="E2E8F0"/>
                </a:solidFill>
                <a:latin typeface="Consolas"/>
              </a:rPr>
              <a:t>&lt;</a:t>
            </a:r>
            <a:r>
              <a:rPr sz="1300" b="0" i="0">
                <a:solidFill>
                  <a:srgbClr val="E2E8F0"/>
                </a:solidFill>
                <a:latin typeface="Consolas"/>
              </a:rPr>
              <a:t> </a:t>
            </a:r>
            <a:r>
              <a:rPr sz="1300" b="0" i="0">
                <a:solidFill>
                  <a:srgbClr val="E2E8F0"/>
                </a:solidFill>
                <a:latin typeface="Consolas"/>
              </a:rPr>
              <a:t>x</a:t>
            </a:r>
          </a:p>
          <a:p>
            <a:pPr algn="l">
              <a:lnSpc>
                <a:spcPct val="105000"/>
              </a:lnSpc>
              <a:spcAft>
                <a:spcPts val="0"/>
              </a:spcAft>
            </a:pPr>
            <a:r>
              <a:rPr sz="1300" b="0" i="0">
                <a:solidFill>
                  <a:srgbClr val="C084FC"/>
                </a:solidFill>
                <a:latin typeface="Consolas"/>
              </a:rPr>
              <a:t>ifFalse</a:t>
            </a:r>
            <a:r>
              <a:rPr sz="1300" b="0" i="0">
                <a:solidFill>
                  <a:srgbClr val="E2E8F0"/>
                </a:solidFill>
                <a:latin typeface="Consolas"/>
              </a:rPr>
              <a:t> </a:t>
            </a:r>
            <a:r>
              <a:rPr sz="1300" b="0" i="0">
                <a:solidFill>
                  <a:srgbClr val="E2E8F0"/>
                </a:solidFill>
                <a:latin typeface="Consolas"/>
              </a:rPr>
              <a:t>t</a:t>
            </a:r>
            <a:r>
              <a:rPr sz="1300" b="0" i="0">
                <a:solidFill>
                  <a:srgbClr val="FDBA74"/>
                </a:solidFill>
                <a:latin typeface="Consolas"/>
              </a:rPr>
              <a:t>3</a:t>
            </a:r>
            <a:r>
              <a:rPr sz="1300" b="0" i="0">
                <a:solidFill>
                  <a:srgbClr val="E2E8F0"/>
                </a:solidFill>
                <a:latin typeface="Consolas"/>
              </a:rPr>
              <a:t> </a:t>
            </a:r>
            <a:r>
              <a:rPr sz="1300" b="0" i="0">
                <a:solidFill>
                  <a:srgbClr val="C084FC"/>
                </a:solidFill>
                <a:latin typeface="Consolas"/>
              </a:rPr>
              <a:t>goto</a:t>
            </a:r>
            <a:r>
              <a:rPr sz="1300" b="0" i="0">
                <a:solidFill>
                  <a:srgbClr val="E2E8F0"/>
                </a:solidFill>
                <a:latin typeface="Consolas"/>
              </a:rPr>
              <a:t> </a:t>
            </a:r>
            <a:r>
              <a:rPr sz="1300" b="0" i="0">
                <a:solidFill>
                  <a:srgbClr val="E2E8F0"/>
                </a:solidFill>
                <a:latin typeface="Consolas"/>
              </a:rPr>
              <a:t>L</a:t>
            </a:r>
            <a:r>
              <a:rPr sz="1300" b="0" i="0">
                <a:solidFill>
                  <a:srgbClr val="FDBA74"/>
                </a:solidFill>
                <a:latin typeface="Consolas"/>
              </a:rPr>
              <a:t>2</a:t>
            </a:r>
          </a:p>
        </p:txBody>
      </p:sp>
      <p:sp>
        <p:nvSpPr>
          <p:cNvPr id="16" name="TextBox 15"/>
          <p:cNvSpPr txBox="1"/>
          <p:nvPr/>
        </p:nvSpPr>
        <p:spPr>
          <a:xfrm>
            <a:off x="8229600" y="1463040"/>
            <a:ext cx="3474720" cy="411480"/>
          </a:xfrm>
          <a:prstGeom prst="rect">
            <a:avLst/>
          </a:prstGeom>
          <a:noFill/>
        </p:spPr>
        <p:txBody>
          <a:bodyPr wrap="square" lIns="45720" rIns="45720" tIns="27432" bIns="27432" anchor="t"/>
          <a:lstStyle/>
          <a:p>
            <a:pPr algn="l">
              <a:lnSpc>
                <a:spcPct val="110000"/>
              </a:lnSpc>
              <a:spcAft>
                <a:spcPts val="400"/>
              </a:spcAft>
            </a:pPr>
            <a:r>
              <a:rPr sz="1800" b="1" i="0">
                <a:solidFill>
                  <a:srgbClr val="0D9488"/>
                </a:solidFill>
                <a:latin typeface="Segoe UI Semibold"/>
              </a:rPr>
              <a:t>Optimizer: 11 passes</a:t>
            </a:r>
          </a:p>
        </p:txBody>
      </p:sp>
      <p:sp>
        <p:nvSpPr>
          <p:cNvPr id="17" name="TextBox 16"/>
          <p:cNvSpPr txBox="1"/>
          <p:nvPr/>
        </p:nvSpPr>
        <p:spPr>
          <a:xfrm>
            <a:off x="8229600" y="1847088"/>
            <a:ext cx="3474720" cy="274320"/>
          </a:xfrm>
          <a:prstGeom prst="rect">
            <a:avLst/>
          </a:prstGeom>
          <a:noFill/>
        </p:spPr>
        <p:txBody>
          <a:bodyPr wrap="square" lIns="45720" rIns="45720" tIns="27432" bIns="27432" anchor="t"/>
          <a:lstStyle/>
          <a:p>
            <a:pPr algn="l">
              <a:lnSpc>
                <a:spcPct val="110000"/>
              </a:lnSpc>
              <a:spcAft>
                <a:spcPts val="400"/>
              </a:spcAft>
            </a:pPr>
            <a:r>
              <a:rPr sz="1200" b="0" i="0">
                <a:solidFill>
                  <a:srgbClr val="475569"/>
                </a:solidFill>
                <a:latin typeface="Segoe UI"/>
              </a:rPr>
              <a:t>repeated until nothing changes</a:t>
            </a:r>
          </a:p>
        </p:txBody>
      </p:sp>
      <p:sp>
        <p:nvSpPr>
          <p:cNvPr id="18" name="TextBox 17"/>
          <p:cNvSpPr txBox="1"/>
          <p:nvPr/>
        </p:nvSpPr>
        <p:spPr>
          <a:xfrm>
            <a:off x="8229600" y="2194560"/>
            <a:ext cx="3429000" cy="3017520"/>
          </a:xfrm>
          <a:prstGeom prst="rect">
            <a:avLst/>
          </a:prstGeom>
          <a:noFill/>
        </p:spPr>
        <p:txBody>
          <a:bodyPr wrap="square" lIns="45720" rIns="45720" tIns="27432" bIns="27432" anchor="t"/>
          <a:lstStyle/>
          <a:p>
            <a:pPr algn="l">
              <a:lnSpc>
                <a:spcPct val="110000"/>
              </a:lnSpc>
              <a:spcAft>
                <a:spcPts val="200"/>
              </a:spcAft>
            </a:pPr>
            <a:r>
              <a:rPr sz="1300" b="1" i="0">
                <a:solidFill>
                  <a:srgbClr val="0D9488"/>
                </a:solidFill>
                <a:latin typeface="Segoe UI"/>
              </a:rPr>
              <a:t>✓  </a:t>
            </a:r>
            <a:r>
              <a:rPr sz="1300" b="0" i="0">
                <a:solidFill>
                  <a:srgbClr val="0F172A"/>
                </a:solidFill>
                <a:latin typeface="Segoe UI"/>
              </a:rPr>
              <a:t>Constant folding</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Constant propagation</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Copy propagation</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Algebraic simplification</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Self-assignment removal</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Branch folding</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Temporary coalescing</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Dead temporary elimination</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Unreachable code removal</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Redundant jump removal</a:t>
            </a:r>
          </a:p>
          <a:p>
            <a:pPr algn="l">
              <a:lnSpc>
                <a:spcPct val="110000"/>
              </a:lnSpc>
              <a:spcAft>
                <a:spcPts val="200"/>
              </a:spcAft>
            </a:pPr>
            <a:r>
              <a:rPr sz="1300" b="1" i="0">
                <a:solidFill>
                  <a:srgbClr val="0D9488"/>
                </a:solidFill>
                <a:latin typeface="Segoe UI"/>
              </a:rPr>
              <a:t>✓  </a:t>
            </a:r>
            <a:r>
              <a:rPr sz="1300" b="0" i="0">
                <a:solidFill>
                  <a:srgbClr val="0F172A"/>
                </a:solidFill>
                <a:latin typeface="Segoe UI"/>
              </a:rPr>
              <a:t>Unused label removal</a:t>
            </a:r>
          </a:p>
        </p:txBody>
      </p:sp>
      <p:sp>
        <p:nvSpPr>
          <p:cNvPr id="19" name="Rounded Rectangle 18"/>
          <p:cNvSpPr/>
          <p:nvPr/>
        </p:nvSpPr>
        <p:spPr>
          <a:xfrm>
            <a:off x="8229600" y="5257800"/>
            <a:ext cx="3410712" cy="960120"/>
          </a:xfrm>
          <a:prstGeom prst="roundRect">
            <a:avLst>
              <a:gd name="adj" fmla="val 1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5303520"/>
            <a:ext cx="3246120" cy="868680"/>
          </a:xfrm>
          <a:prstGeom prst="rect">
            <a:avLst/>
          </a:prstGeom>
          <a:noFill/>
        </p:spPr>
        <p:txBody>
          <a:bodyPr wrap="square" lIns="45720" rIns="45720" tIns="27432" bIns="27432" anchor="ctr"/>
          <a:lstStyle/>
          <a:p>
            <a:pPr algn="l">
              <a:lnSpc>
                <a:spcPct val="110000"/>
              </a:lnSpc>
              <a:spcAft>
                <a:spcPts val="400"/>
              </a:spcAft>
            </a:pPr>
            <a:r>
              <a:rPr sz="1250" b="1" i="0">
                <a:solidFill>
                  <a:srgbClr val="0D9488"/>
                </a:solidFill>
                <a:latin typeface="Segoe UI"/>
              </a:rPr>
              <a:t>Safe by design: </a:t>
            </a:r>
            <a:r>
              <a:rPr sz="1250" b="0" i="0">
                <a:solidFill>
                  <a:srgbClr val="0F172A"/>
                </a:solidFill>
                <a:latin typeface="Segoe UI"/>
              </a:rPr>
              <a:t>local to basic blocks, no overflow or ÷0 folding, exact float identities 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BACK END</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C++ code generation, error handling and output</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11 / 15</a:t>
            </a:r>
          </a:p>
        </p:txBody>
      </p:sp>
      <p:sp>
        <p:nvSpPr>
          <p:cNvPr id="8" name="Rounded Rectangle 7"/>
          <p:cNvSpPr/>
          <p:nvPr/>
        </p:nvSpPr>
        <p:spPr>
          <a:xfrm>
            <a:off x="548640" y="1508760"/>
            <a:ext cx="3703320" cy="3337560"/>
          </a:xfrm>
          <a:prstGeom prst="roundRect">
            <a:avLst>
              <a:gd name="adj" fmla="val 4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600200"/>
            <a:ext cx="3337560" cy="292608"/>
          </a:xfrm>
          <a:prstGeom prst="rect">
            <a:avLst/>
          </a:prstGeom>
          <a:noFill/>
        </p:spPr>
        <p:txBody>
          <a:bodyPr wrap="square" lIns="45720" rIns="45720" tIns="27432" bIns="27432" anchor="t"/>
          <a:lstStyle/>
          <a:p>
            <a:pPr algn="l">
              <a:lnSpc>
                <a:spcPct val="110000"/>
              </a:lnSpc>
              <a:spcAft>
                <a:spcPts val="400"/>
              </a:spcAft>
            </a:pPr>
            <a:r>
              <a:rPr sz="1100" b="1" i="0">
                <a:solidFill>
                  <a:srgbClr val="2DD4BF"/>
                </a:solidFill>
                <a:latin typeface="Segoe UI"/>
              </a:rPr>
              <a:t>CodeBridge source</a:t>
            </a:r>
          </a:p>
        </p:txBody>
      </p:sp>
      <p:sp>
        <p:nvSpPr>
          <p:cNvPr id="10" name="TextBox 9"/>
          <p:cNvSpPr txBox="1"/>
          <p:nvPr/>
        </p:nvSpPr>
        <p:spPr>
          <a:xfrm>
            <a:off x="731520" y="1920240"/>
            <a:ext cx="3383279" cy="2852927"/>
          </a:xfrm>
          <a:prstGeom prst="rect">
            <a:avLst/>
          </a:prstGeom>
          <a:noFill/>
        </p:spPr>
        <p:txBody>
          <a:bodyPr wrap="square" lIns="45720" rIns="45720" tIns="27432" bIns="27432" anchor="t"/>
          <a:lstStyle/>
          <a:p>
            <a:pPr algn="l">
              <a:lnSpc>
                <a:spcPct val="105000"/>
              </a:lnSpc>
              <a:spcAft>
                <a:spcPts val="0"/>
              </a:spcAft>
            </a:pPr>
            <a:r>
              <a:rPr sz="1200" b="0" i="0">
                <a:solidFill>
                  <a:srgbClr val="C084FC"/>
                </a:solidFill>
                <a:latin typeface="Consolas"/>
              </a:rPr>
              <a:t>let</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1</a:t>
            </a:r>
          </a:p>
          <a:p>
            <a:pPr algn="l">
              <a:lnSpc>
                <a:spcPct val="105000"/>
              </a:lnSpc>
              <a:spcAft>
                <a:spcPts val="0"/>
              </a:spcAft>
            </a:pPr>
            <a:r>
              <a:rPr sz="1200" b="0" i="0">
                <a:solidFill>
                  <a:srgbClr val="C084FC"/>
                </a:solidFill>
                <a:latin typeface="Consolas"/>
              </a:rPr>
              <a:t>let</a:t>
            </a:r>
            <a:r>
              <a:rPr sz="1200" b="0" i="0">
                <a:solidFill>
                  <a:srgbClr val="E2E8F0"/>
                </a:solidFill>
                <a:latin typeface="Consolas"/>
              </a:rPr>
              <a:t> </a:t>
            </a:r>
            <a:r>
              <a:rPr sz="1200" b="0" i="0">
                <a:solidFill>
                  <a:srgbClr val="E2E8F0"/>
                </a:solidFill>
                <a:latin typeface="Consolas"/>
              </a:rPr>
              <a:t>total</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0</a:t>
            </a:r>
          </a:p>
          <a:p>
            <a:pPr algn="l">
              <a:lnSpc>
                <a:spcPct val="105000"/>
              </a:lnSpc>
              <a:spcAft>
                <a:spcPts val="0"/>
              </a:spcAft>
            </a:pPr>
            <a:r>
              <a:rPr sz="1200" b="0" i="0">
                <a:solidFill>
                  <a:srgbClr val="C084FC"/>
                </a:solidFill>
                <a:latin typeface="Consolas"/>
              </a:rPr>
              <a:t>while</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&lt;</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5</a:t>
            </a:r>
            <a:r>
              <a:rPr sz="1200" b="0" i="0">
                <a:solidFill>
                  <a:srgbClr val="E2E8F0"/>
                </a:solidFill>
                <a:latin typeface="Consolas"/>
              </a:rPr>
              <a:t> </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C084FC"/>
                </a:solidFill>
                <a:latin typeface="Consolas"/>
              </a:rPr>
              <a:t>if</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2</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0</a:t>
            </a:r>
            <a:r>
              <a:rPr sz="1200" b="0" i="0">
                <a:solidFill>
                  <a:srgbClr val="E2E8F0"/>
                </a:solidFill>
                <a:latin typeface="Consolas"/>
              </a:rPr>
              <a:t> </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total</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total</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n</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C084FC"/>
                </a:solidFill>
                <a:latin typeface="Consolas"/>
              </a:rPr>
              <a:t>else</a:t>
            </a:r>
            <a:r>
              <a:rPr sz="1200" b="0" i="0">
                <a:solidFill>
                  <a:srgbClr val="E2E8F0"/>
                </a:solidFill>
                <a:latin typeface="Consolas"/>
              </a:rPr>
              <a:t> </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C084FC"/>
                </a:solidFill>
                <a:latin typeface="Consolas"/>
              </a:rPr>
              <a:t>print</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a:t>
            </a:r>
            <a:r>
              <a:rPr sz="1200" b="0" i="0">
                <a:solidFill>
                  <a:srgbClr val="E2E8F0"/>
                </a:solidFill>
                <a:latin typeface="Consolas"/>
              </a:rPr>
              <a:t> </a:t>
            </a:r>
            <a:r>
              <a:rPr sz="1200" b="0" i="0">
                <a:solidFill>
                  <a:srgbClr val="86EFAC"/>
                </a:solidFill>
                <a:latin typeface="Consolas"/>
              </a:rPr>
              <a:t>"is odd"</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1</a:t>
            </a:r>
          </a:p>
          <a:p>
            <a:pPr algn="l">
              <a:lnSpc>
                <a:spcPct val="105000"/>
              </a:lnSpc>
              <a:spcAft>
                <a:spcPts val="0"/>
              </a:spcAft>
            </a:pPr>
            <a:r>
              <a:rPr sz="1200" b="0" i="0">
                <a:solidFill>
                  <a:srgbClr val="E2E8F0"/>
                </a:solidFill>
                <a:latin typeface="Consolas"/>
              </a:rPr>
              <a:t>}</a:t>
            </a:r>
          </a:p>
          <a:p>
            <a:pPr algn="l">
              <a:lnSpc>
                <a:spcPct val="105000"/>
              </a:lnSpc>
              <a:spcAft>
                <a:spcPts val="0"/>
              </a:spcAft>
            </a:pPr>
            <a:r>
              <a:rPr sz="1200" b="0" i="0">
                <a:solidFill>
                  <a:srgbClr val="C084FC"/>
                </a:solidFill>
                <a:latin typeface="Consolas"/>
              </a:rPr>
              <a:t>print</a:t>
            </a:r>
            <a:r>
              <a:rPr sz="1200" b="0" i="0">
                <a:solidFill>
                  <a:srgbClr val="E2E8F0"/>
                </a:solidFill>
                <a:latin typeface="Consolas"/>
              </a:rPr>
              <a:t>(</a:t>
            </a:r>
            <a:r>
              <a:rPr sz="1200" b="0" i="0">
                <a:solidFill>
                  <a:srgbClr val="86EFAC"/>
                </a:solidFill>
                <a:latin typeface="Consolas"/>
              </a:rPr>
              <a:t>"sum of even squares:"</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total</a:t>
            </a:r>
            <a:r>
              <a:rPr sz="1200" b="0" i="0">
                <a:solidFill>
                  <a:srgbClr val="E2E8F0"/>
                </a:solidFill>
                <a:latin typeface="Consolas"/>
              </a:rPr>
              <a:t>)</a:t>
            </a:r>
          </a:p>
        </p:txBody>
      </p:sp>
      <p:sp>
        <p:nvSpPr>
          <p:cNvPr id="11" name="Rounded Rectangle 10"/>
          <p:cNvSpPr/>
          <p:nvPr/>
        </p:nvSpPr>
        <p:spPr>
          <a:xfrm>
            <a:off x="4389120" y="1508760"/>
            <a:ext cx="4206240" cy="3337560"/>
          </a:xfrm>
          <a:prstGeom prst="roundRect">
            <a:avLst>
              <a:gd name="adj" fmla="val 4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72000" y="1600200"/>
            <a:ext cx="3840479" cy="292608"/>
          </a:xfrm>
          <a:prstGeom prst="rect">
            <a:avLst/>
          </a:prstGeom>
          <a:noFill/>
        </p:spPr>
        <p:txBody>
          <a:bodyPr wrap="square" lIns="45720" rIns="45720" tIns="27432" bIns="27432" anchor="t"/>
          <a:lstStyle/>
          <a:p>
            <a:pPr algn="l">
              <a:lnSpc>
                <a:spcPct val="110000"/>
              </a:lnSpc>
              <a:spcAft>
                <a:spcPts val="400"/>
              </a:spcAft>
            </a:pPr>
            <a:r>
              <a:rPr sz="1100" b="1" i="0">
                <a:solidFill>
                  <a:srgbClr val="2DD4BF"/>
                </a:solidFill>
                <a:latin typeface="Segoe UI"/>
              </a:rPr>
              <a:t>Generated C++ (body of main)</a:t>
            </a:r>
          </a:p>
        </p:txBody>
      </p:sp>
      <p:sp>
        <p:nvSpPr>
          <p:cNvPr id="13" name="TextBox 12"/>
          <p:cNvSpPr txBox="1"/>
          <p:nvPr/>
        </p:nvSpPr>
        <p:spPr>
          <a:xfrm>
            <a:off x="4572000" y="1920240"/>
            <a:ext cx="3886200" cy="2852927"/>
          </a:xfrm>
          <a:prstGeom prst="rect">
            <a:avLst/>
          </a:prstGeom>
          <a:noFill/>
        </p:spPr>
        <p:txBody>
          <a:bodyPr wrap="square" lIns="45720" rIns="45720" tIns="27432" bIns="27432" anchor="t"/>
          <a:lstStyle/>
          <a:p>
            <a:pPr algn="l">
              <a:lnSpc>
                <a:spcPct val="105000"/>
              </a:lnSpc>
              <a:spcAft>
                <a:spcPts val="0"/>
              </a:spcAft>
            </a:pPr>
            <a:r>
              <a:rPr sz="1200" b="0" i="0">
                <a:solidFill>
                  <a:srgbClr val="C084FC"/>
                </a:solidFill>
                <a:latin typeface="Consolas"/>
              </a:rPr>
              <a:t>long</a:t>
            </a:r>
            <a:r>
              <a:rPr sz="1200" b="0" i="0">
                <a:solidFill>
                  <a:srgbClr val="E2E8F0"/>
                </a:solidFill>
                <a:latin typeface="Consolas"/>
              </a:rPr>
              <a:t> </a:t>
            </a:r>
            <a:r>
              <a:rPr sz="1200" b="0" i="0">
                <a:solidFill>
                  <a:srgbClr val="C084FC"/>
                </a:solidFill>
                <a:latin typeface="Consolas"/>
              </a:rPr>
              <a:t>long</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1</a:t>
            </a:r>
            <a:r>
              <a:rPr sz="1200" b="0" i="0">
                <a:solidFill>
                  <a:srgbClr val="E2E8F0"/>
                </a:solidFill>
                <a:latin typeface="Consolas"/>
              </a:rPr>
              <a:t>;</a:t>
            </a:r>
          </a:p>
          <a:p>
            <a:pPr algn="l">
              <a:lnSpc>
                <a:spcPct val="105000"/>
              </a:lnSpc>
              <a:spcAft>
                <a:spcPts val="0"/>
              </a:spcAft>
            </a:pPr>
            <a:r>
              <a:rPr sz="1200" b="0" i="0">
                <a:solidFill>
                  <a:srgbClr val="C084FC"/>
                </a:solidFill>
                <a:latin typeface="Consolas"/>
              </a:rPr>
              <a:t>long</a:t>
            </a:r>
            <a:r>
              <a:rPr sz="1200" b="0" i="0">
                <a:solidFill>
                  <a:srgbClr val="E2E8F0"/>
                </a:solidFill>
                <a:latin typeface="Consolas"/>
              </a:rPr>
              <a:t> </a:t>
            </a:r>
            <a:r>
              <a:rPr sz="1200" b="0" i="0">
                <a:solidFill>
                  <a:srgbClr val="C084FC"/>
                </a:solidFill>
                <a:latin typeface="Consolas"/>
              </a:rPr>
              <a:t>long</a:t>
            </a:r>
            <a:r>
              <a:rPr sz="1200" b="0" i="0">
                <a:solidFill>
                  <a:srgbClr val="E2E8F0"/>
                </a:solidFill>
                <a:latin typeface="Consolas"/>
              </a:rPr>
              <a:t> </a:t>
            </a:r>
            <a:r>
              <a:rPr sz="1200" b="0" i="0">
                <a:solidFill>
                  <a:srgbClr val="E2E8F0"/>
                </a:solidFill>
                <a:latin typeface="Consolas"/>
              </a:rPr>
              <a:t>total</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0</a:t>
            </a:r>
            <a:r>
              <a:rPr sz="1200" b="0" i="0">
                <a:solidFill>
                  <a:srgbClr val="E2E8F0"/>
                </a:solidFill>
                <a:latin typeface="Consolas"/>
              </a:rPr>
              <a:t>;</a:t>
            </a:r>
          </a:p>
          <a:p>
            <a:pPr algn="l">
              <a:lnSpc>
                <a:spcPct val="105000"/>
              </a:lnSpc>
              <a:spcAft>
                <a:spcPts val="0"/>
              </a:spcAft>
            </a:pPr>
            <a:r>
              <a:rPr sz="1200" b="0" i="0">
                <a:solidFill>
                  <a:srgbClr val="C084FC"/>
                </a:solidFill>
                <a:latin typeface="Consolas"/>
              </a:rPr>
              <a:t>while</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&lt;</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5</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C084FC"/>
                </a:solidFill>
                <a:latin typeface="Consolas"/>
              </a:rPr>
              <a:t>if</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2</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0</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total</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total</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C084FC"/>
                </a:solidFill>
                <a:latin typeface="Consolas"/>
              </a:rPr>
              <a:t>else</a:t>
            </a:r>
            <a:r>
              <a:rPr sz="1200" b="0" i="0">
                <a:solidFill>
                  <a:srgbClr val="E2E8F0"/>
                </a:solidFill>
                <a:latin typeface="Consolas"/>
              </a:rPr>
              <a:t> </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C084FC"/>
                </a:solidFill>
                <a:latin typeface="Consolas"/>
              </a:rPr>
              <a:t>std</a:t>
            </a:r>
            <a:r>
              <a:rPr sz="1200" b="0" i="0">
                <a:solidFill>
                  <a:srgbClr val="E2E8F0"/>
                </a:solidFill>
                <a:latin typeface="Consolas"/>
              </a:rPr>
              <a:t>:</a:t>
            </a:r>
            <a:r>
              <a:rPr sz="1200" b="0" i="0">
                <a:solidFill>
                  <a:srgbClr val="E2E8F0"/>
                </a:solidFill>
                <a:latin typeface="Consolas"/>
              </a:rPr>
              <a:t>:</a:t>
            </a:r>
            <a:r>
              <a:rPr sz="1200" b="0" i="0">
                <a:solidFill>
                  <a:srgbClr val="C084FC"/>
                </a:solidFill>
                <a:latin typeface="Consolas"/>
              </a:rPr>
              <a:t>cout</a:t>
            </a:r>
            <a:r>
              <a:rPr sz="1200" b="0" i="0">
                <a:solidFill>
                  <a:srgbClr val="E2E8F0"/>
                </a:solidFill>
                <a:latin typeface="Consolas"/>
              </a:rPr>
              <a:t> </a:t>
            </a:r>
            <a:r>
              <a:rPr sz="1200" b="0" i="0">
                <a:solidFill>
                  <a:srgbClr val="E2E8F0"/>
                </a:solidFill>
                <a:latin typeface="Consolas"/>
              </a:rPr>
              <a:t>&lt;</a:t>
            </a:r>
            <a:r>
              <a:rPr sz="1200" b="0" i="0">
                <a:solidFill>
                  <a:srgbClr val="E2E8F0"/>
                </a:solidFill>
                <a:latin typeface="Consolas"/>
              </a:rPr>
              <a:t>&lt;</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&lt;</a:t>
            </a:r>
            <a:r>
              <a:rPr sz="1200" b="0" i="0">
                <a:solidFill>
                  <a:srgbClr val="E2E8F0"/>
                </a:solidFill>
                <a:latin typeface="Consolas"/>
              </a:rPr>
              <a:t>&lt;</a:t>
            </a:r>
            <a:r>
              <a:rPr sz="1200" b="0" i="0">
                <a:solidFill>
                  <a:srgbClr val="E2E8F0"/>
                </a:solidFill>
                <a:latin typeface="Consolas"/>
              </a:rPr>
              <a:t> </a:t>
            </a:r>
            <a:r>
              <a:rPr sz="1200" b="0" i="0">
                <a:solidFill>
                  <a:srgbClr val="86EFAC"/>
                </a:solidFill>
                <a:latin typeface="Consolas"/>
              </a:rPr>
              <a:t>" is odd\n"</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E2E8F0"/>
                </a:solidFill>
                <a:latin typeface="Consolas"/>
              </a:rPr>
              <a:t>n</a:t>
            </a:r>
            <a:r>
              <a:rPr sz="1200" b="0" i="0">
                <a:solidFill>
                  <a:srgbClr val="E2E8F0"/>
                </a:solidFill>
                <a:latin typeface="Consolas"/>
              </a:rPr>
              <a:t> </a:t>
            </a:r>
            <a:r>
              <a:rPr sz="1200" b="0" i="0">
                <a:solidFill>
                  <a:srgbClr val="E2E8F0"/>
                </a:solidFill>
                <a:latin typeface="Consolas"/>
              </a:rPr>
              <a:t>+</a:t>
            </a:r>
            <a:r>
              <a:rPr sz="1200" b="0" i="0">
                <a:solidFill>
                  <a:srgbClr val="E2E8F0"/>
                </a:solidFill>
                <a:latin typeface="Consolas"/>
              </a:rPr>
              <a:t> </a:t>
            </a:r>
            <a:r>
              <a:rPr sz="1200" b="0" i="0">
                <a:solidFill>
                  <a:srgbClr val="FDBA74"/>
                </a:solidFill>
                <a:latin typeface="Consolas"/>
              </a:rPr>
              <a:t>1</a:t>
            </a:r>
            <a:r>
              <a:rPr sz="1200" b="0" i="0">
                <a:solidFill>
                  <a:srgbClr val="E2E8F0"/>
                </a:solidFill>
                <a:latin typeface="Consolas"/>
              </a:rPr>
              <a:t>;</a:t>
            </a:r>
          </a:p>
          <a:p>
            <a:pPr algn="l">
              <a:lnSpc>
                <a:spcPct val="105000"/>
              </a:lnSpc>
              <a:spcAft>
                <a:spcPts val="0"/>
              </a:spcAft>
            </a:pPr>
            <a:r>
              <a:rPr sz="1200" b="0" i="0">
                <a:solidFill>
                  <a:srgbClr val="E2E8F0"/>
                </a:solidFill>
                <a:latin typeface="Consolas"/>
              </a:rPr>
              <a:t>}</a:t>
            </a:r>
          </a:p>
          <a:p>
            <a:pPr algn="l">
              <a:lnSpc>
                <a:spcPct val="105000"/>
              </a:lnSpc>
              <a:spcAft>
                <a:spcPts val="0"/>
              </a:spcAft>
            </a:pPr>
            <a:r>
              <a:rPr sz="1200" b="0" i="0">
                <a:solidFill>
                  <a:srgbClr val="C084FC"/>
                </a:solidFill>
                <a:latin typeface="Consolas"/>
              </a:rPr>
              <a:t>std</a:t>
            </a:r>
            <a:r>
              <a:rPr sz="1200" b="0" i="0">
                <a:solidFill>
                  <a:srgbClr val="E2E8F0"/>
                </a:solidFill>
                <a:latin typeface="Consolas"/>
              </a:rPr>
              <a:t>:</a:t>
            </a:r>
            <a:r>
              <a:rPr sz="1200" b="0" i="0">
                <a:solidFill>
                  <a:srgbClr val="E2E8F0"/>
                </a:solidFill>
                <a:latin typeface="Consolas"/>
              </a:rPr>
              <a:t>:</a:t>
            </a:r>
            <a:r>
              <a:rPr sz="1200" b="0" i="0">
                <a:solidFill>
                  <a:srgbClr val="C084FC"/>
                </a:solidFill>
                <a:latin typeface="Consolas"/>
              </a:rPr>
              <a:t>cout</a:t>
            </a:r>
            <a:r>
              <a:rPr sz="1200" b="0" i="0">
                <a:solidFill>
                  <a:srgbClr val="E2E8F0"/>
                </a:solidFill>
                <a:latin typeface="Consolas"/>
              </a:rPr>
              <a:t> </a:t>
            </a:r>
            <a:r>
              <a:rPr sz="1200" b="0" i="0">
                <a:solidFill>
                  <a:srgbClr val="E2E8F0"/>
                </a:solidFill>
                <a:latin typeface="Consolas"/>
              </a:rPr>
              <a:t>&lt;</a:t>
            </a:r>
            <a:r>
              <a:rPr sz="1200" b="0" i="0">
                <a:solidFill>
                  <a:srgbClr val="E2E8F0"/>
                </a:solidFill>
                <a:latin typeface="Consolas"/>
              </a:rPr>
              <a:t>&lt;</a:t>
            </a:r>
            <a:r>
              <a:rPr sz="1200" b="0" i="0">
                <a:solidFill>
                  <a:srgbClr val="E2E8F0"/>
                </a:solidFill>
                <a:latin typeface="Consolas"/>
              </a:rPr>
              <a:t> </a:t>
            </a:r>
            <a:r>
              <a:rPr sz="1200" b="0" i="0">
                <a:solidFill>
                  <a:srgbClr val="86EFAC"/>
                </a:solidFill>
                <a:latin typeface="Consolas"/>
              </a:rPr>
              <a:t>"sum of even squares: "</a:t>
            </a:r>
          </a:p>
          <a:p>
            <a:pPr algn="l">
              <a:lnSpc>
                <a:spcPct val="105000"/>
              </a:lnSpc>
              <a:spcAft>
                <a:spcPts val="0"/>
              </a:spcAft>
            </a:pPr>
            <a:r>
              <a:rPr sz="1200" b="0" i="0">
                <a:solidFill>
                  <a:srgbClr val="E2E8F0"/>
                </a:solidFill>
                <a:latin typeface="Consolas"/>
              </a:rPr>
              <a:t>          </a:t>
            </a:r>
            <a:r>
              <a:rPr sz="1200" b="0" i="0">
                <a:solidFill>
                  <a:srgbClr val="E2E8F0"/>
                </a:solidFill>
                <a:latin typeface="Consolas"/>
              </a:rPr>
              <a:t>&lt;</a:t>
            </a:r>
            <a:r>
              <a:rPr sz="1200" b="0" i="0">
                <a:solidFill>
                  <a:srgbClr val="E2E8F0"/>
                </a:solidFill>
                <a:latin typeface="Consolas"/>
              </a:rPr>
              <a:t>&lt;</a:t>
            </a:r>
            <a:r>
              <a:rPr sz="1200" b="0" i="0">
                <a:solidFill>
                  <a:srgbClr val="E2E8F0"/>
                </a:solidFill>
                <a:latin typeface="Consolas"/>
              </a:rPr>
              <a:t> </a:t>
            </a:r>
            <a:r>
              <a:rPr sz="1200" b="0" i="0">
                <a:solidFill>
                  <a:srgbClr val="E2E8F0"/>
                </a:solidFill>
                <a:latin typeface="Consolas"/>
              </a:rPr>
              <a:t>total</a:t>
            </a:r>
            <a:r>
              <a:rPr sz="1200" b="0" i="0">
                <a:solidFill>
                  <a:srgbClr val="E2E8F0"/>
                </a:solidFill>
                <a:latin typeface="Consolas"/>
              </a:rPr>
              <a:t> </a:t>
            </a:r>
            <a:r>
              <a:rPr sz="1200" b="0" i="0">
                <a:solidFill>
                  <a:srgbClr val="E2E8F0"/>
                </a:solidFill>
                <a:latin typeface="Consolas"/>
              </a:rPr>
              <a:t>&lt;</a:t>
            </a:r>
            <a:r>
              <a:rPr sz="1200" b="0" i="0">
                <a:solidFill>
                  <a:srgbClr val="E2E8F0"/>
                </a:solidFill>
                <a:latin typeface="Consolas"/>
              </a:rPr>
              <a:t>&lt;</a:t>
            </a:r>
            <a:r>
              <a:rPr sz="1200" b="0" i="0">
                <a:solidFill>
                  <a:srgbClr val="E2E8F0"/>
                </a:solidFill>
                <a:latin typeface="Consolas"/>
              </a:rPr>
              <a:t> </a:t>
            </a:r>
            <a:r>
              <a:rPr sz="1200" b="0" i="0">
                <a:solidFill>
                  <a:srgbClr val="86EFAC"/>
                </a:solidFill>
                <a:latin typeface="Consolas"/>
              </a:rPr>
              <a:t>"\n"</a:t>
            </a:r>
            <a:r>
              <a:rPr sz="1200" b="0" i="0">
                <a:solidFill>
                  <a:srgbClr val="E2E8F0"/>
                </a:solidFill>
                <a:latin typeface="Consolas"/>
              </a:rPr>
              <a:t>;</a:t>
            </a:r>
          </a:p>
        </p:txBody>
      </p:sp>
      <p:sp>
        <p:nvSpPr>
          <p:cNvPr id="14" name="TextBox 13"/>
          <p:cNvSpPr txBox="1"/>
          <p:nvPr/>
        </p:nvSpPr>
        <p:spPr>
          <a:xfrm>
            <a:off x="548640" y="4983480"/>
            <a:ext cx="8046720" cy="1371600"/>
          </a:xfrm>
          <a:prstGeom prst="rect">
            <a:avLst/>
          </a:prstGeom>
          <a:noFill/>
        </p:spPr>
        <p:txBody>
          <a:bodyPr wrap="square" lIns="45720" rIns="45720" tIns="27432" bIns="27432" anchor="t"/>
          <a:lstStyle/>
          <a:p>
            <a:pPr algn="l" marL="256032" indent="-256032">
              <a:lnSpc>
                <a:spcPct val="110000"/>
              </a:lnSpc>
              <a:spcAft>
                <a:spcPts val="400"/>
              </a:spcAft>
            </a:pPr>
            <a:r>
              <a:rPr sz="1400" b="1" i="0">
                <a:solidFill>
                  <a:srgbClr val="0D9488"/>
                </a:solidFill>
                <a:latin typeface="Segoe UI"/>
              </a:rPr>
              <a:t>▸	</a:t>
            </a:r>
            <a:r>
              <a:rPr sz="1400" b="0" i="0">
                <a:solidFill>
                  <a:srgbClr val="0F172A"/>
                </a:solidFill>
                <a:latin typeface="Segoe UI"/>
              </a:rPr>
              <a:t>Built from </a:t>
            </a:r>
            <a:r>
              <a:rPr sz="1400" b="1" i="0">
                <a:solidFill>
                  <a:srgbClr val="0F172A"/>
                </a:solidFill>
                <a:latin typeface="Segoe UI"/>
              </a:rPr>
              <a:t>optimized TAC</a:t>
            </a:r>
            <a:r>
              <a:rPr sz="1400" b="0" i="0">
                <a:solidFill>
                  <a:srgbClr val="0F172A"/>
                </a:solidFill>
                <a:latin typeface="Segoe UI"/>
              </a:rPr>
              <a:t>: single-use temporaries inlined, jump patterns rebuilt as </a:t>
            </a:r>
            <a:r>
              <a:rPr sz="1400" b="0" i="0">
                <a:solidFill>
                  <a:srgbClr val="0D9488"/>
                </a:solidFill>
                <a:latin typeface="Consolas"/>
              </a:rPr>
              <a:t>while</a:t>
            </a:r>
            <a:r>
              <a:rPr sz="1400" b="0" i="0">
                <a:solidFill>
                  <a:srgbClr val="0F172A"/>
                </a:solidFill>
                <a:latin typeface="Segoe UI"/>
              </a:rPr>
              <a:t> / </a:t>
            </a:r>
            <a:r>
              <a:rPr sz="1400" b="0" i="0">
                <a:solidFill>
                  <a:srgbClr val="0D9488"/>
                </a:solidFill>
                <a:latin typeface="Consolas"/>
              </a:rPr>
              <a:t>if</a:t>
            </a:r>
            <a:r>
              <a:rPr sz="1400" b="0" i="0">
                <a:solidFill>
                  <a:srgbClr val="0F172A"/>
                </a:solidFill>
                <a:latin typeface="Segoe UI"/>
              </a:rPr>
              <a:t> / </a:t>
            </a:r>
            <a:r>
              <a:rPr sz="1400" b="0" i="0">
                <a:solidFill>
                  <a:srgbClr val="0D9488"/>
                </a:solidFill>
                <a:latin typeface="Consolas"/>
              </a:rPr>
              <a:t>else if</a:t>
            </a:r>
            <a:r>
              <a:rPr sz="1400" b="0" i="0">
                <a:solidFill>
                  <a:srgbClr val="0F172A"/>
                </a:solidFill>
                <a:latin typeface="Segoe UI"/>
              </a:rPr>
              <a:t>, </a:t>
            </a:r>
            <a:r>
              <a:rPr sz="1400" b="0" i="0">
                <a:solidFill>
                  <a:srgbClr val="0D9488"/>
                </a:solidFill>
                <a:latin typeface="Consolas"/>
              </a:rPr>
              <a:t>goto</a:t>
            </a:r>
            <a:r>
              <a:rPr sz="1400" b="0" i="0">
                <a:solidFill>
                  <a:srgbClr val="0F172A"/>
                </a:solidFill>
                <a:latin typeface="Segoe UI"/>
              </a:rPr>
              <a:t> fallback.</a:t>
            </a:r>
          </a:p>
          <a:p>
            <a:pPr algn="l" marL="256032" indent="-256032">
              <a:lnSpc>
                <a:spcPct val="110000"/>
              </a:lnSpc>
              <a:spcAft>
                <a:spcPts val="400"/>
              </a:spcAft>
            </a:pPr>
            <a:r>
              <a:rPr sz="1400" b="1" i="0">
                <a:solidFill>
                  <a:srgbClr val="0D9488"/>
                </a:solidFill>
                <a:latin typeface="Segoe UI"/>
              </a:rPr>
              <a:t>▸	</a:t>
            </a:r>
            <a:r>
              <a:rPr sz="1400" b="0" i="0">
                <a:solidFill>
                  <a:srgbClr val="0F172A"/>
                </a:solidFill>
                <a:latin typeface="Segoe UI"/>
              </a:rPr>
              <a:t>g++ output: </a:t>
            </a:r>
            <a:r>
              <a:rPr sz="1400" b="0" i="0">
                <a:solidFill>
                  <a:srgbClr val="0D9488"/>
                </a:solidFill>
                <a:latin typeface="Consolas"/>
              </a:rPr>
              <a:t>1 is odd</a:t>
            </a:r>
            <a:r>
              <a:rPr sz="1400" b="0" i="0">
                <a:solidFill>
                  <a:srgbClr val="0F172A"/>
                </a:solidFill>
                <a:latin typeface="Segoe UI"/>
              </a:rPr>
              <a:t>, </a:t>
            </a:r>
            <a:r>
              <a:rPr sz="1400" b="0" i="0">
                <a:solidFill>
                  <a:srgbClr val="0D9488"/>
                </a:solidFill>
                <a:latin typeface="Consolas"/>
              </a:rPr>
              <a:t>3 is odd</a:t>
            </a:r>
            <a:r>
              <a:rPr sz="1400" b="0" i="0">
                <a:solidFill>
                  <a:srgbClr val="0F172A"/>
                </a:solidFill>
                <a:latin typeface="Segoe UI"/>
              </a:rPr>
              <a:t>, </a:t>
            </a:r>
            <a:r>
              <a:rPr sz="1400" b="0" i="0">
                <a:solidFill>
                  <a:srgbClr val="0D9488"/>
                </a:solidFill>
                <a:latin typeface="Consolas"/>
              </a:rPr>
              <a:t>5 is odd</a:t>
            </a:r>
            <a:r>
              <a:rPr sz="1400" b="0" i="0">
                <a:solidFill>
                  <a:srgbClr val="0F172A"/>
                </a:solidFill>
                <a:latin typeface="Segoe UI"/>
              </a:rPr>
              <a:t>, </a:t>
            </a:r>
            <a:r>
              <a:rPr sz="1400" b="0" i="0">
                <a:solidFill>
                  <a:srgbClr val="0D9488"/>
                </a:solidFill>
                <a:latin typeface="Consolas"/>
              </a:rPr>
              <a:t>sum of even squares: 20</a:t>
            </a:r>
            <a:r>
              <a:rPr sz="1400" b="0" i="0">
                <a:solidFill>
                  <a:srgbClr val="0F172A"/>
                </a:solidFill>
                <a:latin typeface="Segoe UI"/>
              </a:rPr>
              <a:t>: identical to the reference interpreter.</a:t>
            </a:r>
          </a:p>
        </p:txBody>
      </p:sp>
      <p:pic>
        <p:nvPicPr>
          <p:cNvPr id="15" name="Picture 14" descr="diagnostics-panel.png"/>
          <p:cNvPicPr>
            <a:picLocks noChangeAspect="1"/>
          </p:cNvPicPr>
          <p:nvPr/>
        </p:nvPicPr>
        <p:blipFill>
          <a:blip r:embed="rId2"/>
          <a:stretch>
            <a:fillRect/>
          </a:stretch>
        </p:blipFill>
        <p:spPr>
          <a:xfrm>
            <a:off x="8778240" y="1508760"/>
            <a:ext cx="2862072" cy="2074218"/>
          </a:xfrm>
          <a:prstGeom prst="rect">
            <a:avLst/>
          </a:prstGeom>
          <a:ln w="9525">
            <a:solidFill>
              <a:srgbClr val="CBD5E1"/>
            </a:solidFill>
          </a:ln>
        </p:spPr>
      </p:pic>
      <p:sp>
        <p:nvSpPr>
          <p:cNvPr id="16" name="TextBox 15"/>
          <p:cNvSpPr txBox="1"/>
          <p:nvPr/>
        </p:nvSpPr>
        <p:spPr>
          <a:xfrm>
            <a:off x="8778240" y="3630168"/>
            <a:ext cx="2862072" cy="502920"/>
          </a:xfrm>
          <a:prstGeom prst="rect">
            <a:avLst/>
          </a:prstGeom>
          <a:noFill/>
        </p:spPr>
        <p:txBody>
          <a:bodyPr wrap="square" lIns="45720" rIns="45720" tIns="27432" bIns="27432" anchor="t"/>
          <a:lstStyle/>
          <a:p>
            <a:pPr algn="ctr">
              <a:lnSpc>
                <a:spcPct val="100000"/>
              </a:lnSpc>
              <a:spcAft>
                <a:spcPts val="400"/>
              </a:spcAft>
            </a:pPr>
            <a:r>
              <a:rPr sz="1100" b="0" i="0">
                <a:solidFill>
                  <a:srgbClr val="475569"/>
                </a:solidFill>
                <a:latin typeface="Segoe UI"/>
              </a:rPr>
              <a:t>Live Diagnostics tab (cropped): code, line:col, message, hint</a:t>
            </a:r>
          </a:p>
        </p:txBody>
      </p:sp>
      <p:sp>
        <p:nvSpPr>
          <p:cNvPr id="17" name="TextBox 16"/>
          <p:cNvSpPr txBox="1"/>
          <p:nvPr/>
        </p:nvSpPr>
        <p:spPr>
          <a:xfrm>
            <a:off x="8778240" y="4251960"/>
            <a:ext cx="2880360" cy="2103120"/>
          </a:xfrm>
          <a:prstGeom prst="rect">
            <a:avLst/>
          </a:prstGeom>
          <a:noFill/>
        </p:spPr>
        <p:txBody>
          <a:bodyPr wrap="square" lIns="45720" rIns="45720" tIns="27432" bIns="27432" anchor="t"/>
          <a:lstStyle/>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Errors underlined in the editor</a:t>
            </a:r>
          </a:p>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413 if too large, 422 if malformed</a:t>
            </a:r>
          </a:p>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JSON 500, never a crash</a:t>
            </a:r>
          </a:p>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No C++ after a failure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DEMO</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Live application and user workflow</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12 / 15</a:t>
            </a:r>
          </a:p>
        </p:txBody>
      </p:sp>
      <p:pic>
        <p:nvPicPr>
          <p:cNvPr id="8" name="Picture 7" descr="live-optimized.png"/>
          <p:cNvPicPr>
            <a:picLocks noChangeAspect="1"/>
          </p:cNvPicPr>
          <p:nvPr/>
        </p:nvPicPr>
        <p:blipFill>
          <a:blip r:embed="rId2"/>
          <a:stretch>
            <a:fillRect/>
          </a:stretch>
        </p:blipFill>
        <p:spPr>
          <a:xfrm>
            <a:off x="548640" y="1463040"/>
            <a:ext cx="6949440" cy="4343400"/>
          </a:xfrm>
          <a:prstGeom prst="rect">
            <a:avLst/>
          </a:prstGeom>
          <a:ln w="9525">
            <a:solidFill>
              <a:srgbClr val="CBD5E1"/>
            </a:solidFill>
          </a:ln>
        </p:spPr>
      </p:pic>
      <p:sp>
        <p:nvSpPr>
          <p:cNvPr id="9" name="TextBox 8"/>
          <p:cNvSpPr txBox="1"/>
          <p:nvPr/>
        </p:nvSpPr>
        <p:spPr>
          <a:xfrm>
            <a:off x="548640" y="5852160"/>
            <a:ext cx="6949440" cy="320040"/>
          </a:xfrm>
          <a:prstGeom prst="rect">
            <a:avLst/>
          </a:prstGeom>
          <a:noFill/>
        </p:spPr>
        <p:txBody>
          <a:bodyPr wrap="square" lIns="45720" rIns="45720" tIns="27432" bIns="27432" anchor="t"/>
          <a:lstStyle/>
          <a:p>
            <a:pPr algn="ctr">
              <a:lnSpc>
                <a:spcPct val="110000"/>
              </a:lnSpc>
              <a:spcAft>
                <a:spcPts val="400"/>
              </a:spcAft>
            </a:pPr>
            <a:r>
              <a:rPr sz="1150" b="0" i="0">
                <a:solidFill>
                  <a:srgbClr val="475569"/>
                </a:solidFill>
                <a:latin typeface="Segoe UI"/>
              </a:rPr>
              <a:t>codebridge-swart.vercel.app: Optimizer showcase, 25 → 14 TAC instructions (−44%)</a:t>
            </a:r>
          </a:p>
        </p:txBody>
      </p:sp>
      <p:sp>
        <p:nvSpPr>
          <p:cNvPr id="10" name="Oval 9"/>
          <p:cNvSpPr/>
          <p:nvPr/>
        </p:nvSpPr>
        <p:spPr>
          <a:xfrm>
            <a:off x="7818120" y="1463040"/>
            <a:ext cx="502920" cy="5029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18120" y="1527048"/>
            <a:ext cx="502920" cy="365760"/>
          </a:xfrm>
          <a:prstGeom prst="rect">
            <a:avLst/>
          </a:prstGeom>
          <a:noFill/>
        </p:spPr>
        <p:txBody>
          <a:bodyPr wrap="square" lIns="45720" rIns="45720" tIns="27432" bIns="27432" anchor="t"/>
          <a:lstStyle/>
          <a:p>
            <a:pPr algn="ctr">
              <a:lnSpc>
                <a:spcPct val="110000"/>
              </a:lnSpc>
              <a:spcAft>
                <a:spcPts val="400"/>
              </a:spcAft>
            </a:pPr>
            <a:r>
              <a:rPr sz="1600" b="1" i="0">
                <a:solidFill>
                  <a:srgbClr val="FFFFFF"/>
                </a:solidFill>
                <a:latin typeface="Segoe UI"/>
              </a:rPr>
              <a:t>1</a:t>
            </a:r>
          </a:p>
        </p:txBody>
      </p:sp>
      <p:sp>
        <p:nvSpPr>
          <p:cNvPr id="12" name="TextBox 11"/>
          <p:cNvSpPr txBox="1"/>
          <p:nvPr/>
        </p:nvSpPr>
        <p:spPr>
          <a:xfrm>
            <a:off x="8458200" y="1417320"/>
            <a:ext cx="3200400" cy="822960"/>
          </a:xfrm>
          <a:prstGeom prst="rect">
            <a:avLst/>
          </a:prstGeom>
          <a:noFill/>
        </p:spPr>
        <p:txBody>
          <a:bodyPr wrap="square" lIns="45720" rIns="45720" tIns="27432" bIns="27432" anchor="t"/>
          <a:lstStyle/>
          <a:p>
            <a:pPr algn="l">
              <a:lnSpc>
                <a:spcPct val="100000"/>
              </a:lnSpc>
              <a:spcAft>
                <a:spcPts val="0"/>
              </a:spcAft>
            </a:pPr>
            <a:r>
              <a:rPr sz="1500" b="1" i="0">
                <a:solidFill>
                  <a:srgbClr val="0F172A"/>
                </a:solidFill>
                <a:latin typeface="Segoe UI"/>
              </a:rPr>
              <a:t>Open</a:t>
            </a:r>
          </a:p>
          <a:p>
            <a:pPr algn="l">
              <a:lnSpc>
                <a:spcPct val="100000"/>
              </a:lnSpc>
              <a:spcAft>
                <a:spcPts val="0"/>
              </a:spcAft>
            </a:pPr>
            <a:r>
              <a:rPr sz="1200" b="0" i="0">
                <a:solidFill>
                  <a:srgbClr val="475569"/>
                </a:solidFill>
                <a:latin typeface="Segoe UI"/>
              </a:rPr>
              <a:t>codebridge-swart.vercel.app; first request may wake the free-tier server</a:t>
            </a:r>
          </a:p>
        </p:txBody>
      </p:sp>
      <p:sp>
        <p:nvSpPr>
          <p:cNvPr id="13" name="Oval 12"/>
          <p:cNvSpPr/>
          <p:nvPr/>
        </p:nvSpPr>
        <p:spPr>
          <a:xfrm>
            <a:off x="7818120" y="2350008"/>
            <a:ext cx="502920" cy="5029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18120" y="2414016"/>
            <a:ext cx="502920" cy="365760"/>
          </a:xfrm>
          <a:prstGeom prst="rect">
            <a:avLst/>
          </a:prstGeom>
          <a:noFill/>
        </p:spPr>
        <p:txBody>
          <a:bodyPr wrap="square" lIns="45720" rIns="45720" tIns="27432" bIns="27432" anchor="t"/>
          <a:lstStyle/>
          <a:p>
            <a:pPr algn="ctr">
              <a:lnSpc>
                <a:spcPct val="110000"/>
              </a:lnSpc>
              <a:spcAft>
                <a:spcPts val="400"/>
              </a:spcAft>
            </a:pPr>
            <a:r>
              <a:rPr sz="1600" b="1" i="0">
                <a:solidFill>
                  <a:srgbClr val="FFFFFF"/>
                </a:solidFill>
                <a:latin typeface="Segoe UI"/>
              </a:rPr>
              <a:t>2</a:t>
            </a:r>
          </a:p>
        </p:txBody>
      </p:sp>
      <p:sp>
        <p:nvSpPr>
          <p:cNvPr id="15" name="TextBox 14"/>
          <p:cNvSpPr txBox="1"/>
          <p:nvPr/>
        </p:nvSpPr>
        <p:spPr>
          <a:xfrm>
            <a:off x="8458200" y="2304288"/>
            <a:ext cx="3200400" cy="822960"/>
          </a:xfrm>
          <a:prstGeom prst="rect">
            <a:avLst/>
          </a:prstGeom>
          <a:noFill/>
        </p:spPr>
        <p:txBody>
          <a:bodyPr wrap="square" lIns="45720" rIns="45720" tIns="27432" bIns="27432" anchor="t"/>
          <a:lstStyle/>
          <a:p>
            <a:pPr algn="l">
              <a:lnSpc>
                <a:spcPct val="100000"/>
              </a:lnSpc>
              <a:spcAft>
                <a:spcPts val="0"/>
              </a:spcAft>
            </a:pPr>
            <a:r>
              <a:rPr sz="1500" b="1" i="0">
                <a:solidFill>
                  <a:srgbClr val="0F172A"/>
                </a:solidFill>
                <a:latin typeface="Segoe UI"/>
              </a:rPr>
              <a:t>Write or pick</a:t>
            </a:r>
          </a:p>
          <a:p>
            <a:pPr algn="l">
              <a:lnSpc>
                <a:spcPct val="100000"/>
              </a:lnSpc>
              <a:spcAft>
                <a:spcPts val="0"/>
              </a:spcAft>
            </a:pPr>
            <a:r>
              <a:rPr sz="1200" b="0" i="0">
                <a:solidFill>
                  <a:srgbClr val="475569"/>
                </a:solidFill>
                <a:latin typeface="Segoe UI"/>
              </a:rPr>
              <a:t>type a program or choose one of 12 examples</a:t>
            </a:r>
          </a:p>
        </p:txBody>
      </p:sp>
      <p:sp>
        <p:nvSpPr>
          <p:cNvPr id="16" name="Oval 15"/>
          <p:cNvSpPr/>
          <p:nvPr/>
        </p:nvSpPr>
        <p:spPr>
          <a:xfrm>
            <a:off x="7818120" y="3236976"/>
            <a:ext cx="502920" cy="5029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18120" y="3300984"/>
            <a:ext cx="502920" cy="365760"/>
          </a:xfrm>
          <a:prstGeom prst="rect">
            <a:avLst/>
          </a:prstGeom>
          <a:noFill/>
        </p:spPr>
        <p:txBody>
          <a:bodyPr wrap="square" lIns="45720" rIns="45720" tIns="27432" bIns="27432" anchor="t"/>
          <a:lstStyle/>
          <a:p>
            <a:pPr algn="ctr">
              <a:lnSpc>
                <a:spcPct val="110000"/>
              </a:lnSpc>
              <a:spcAft>
                <a:spcPts val="400"/>
              </a:spcAft>
            </a:pPr>
            <a:r>
              <a:rPr sz="1600" b="1" i="0">
                <a:solidFill>
                  <a:srgbClr val="FFFFFF"/>
                </a:solidFill>
                <a:latin typeface="Segoe UI"/>
              </a:rPr>
              <a:t>3</a:t>
            </a:r>
          </a:p>
        </p:txBody>
      </p:sp>
      <p:sp>
        <p:nvSpPr>
          <p:cNvPr id="18" name="TextBox 17"/>
          <p:cNvSpPr txBox="1"/>
          <p:nvPr/>
        </p:nvSpPr>
        <p:spPr>
          <a:xfrm>
            <a:off x="8458200" y="3191256"/>
            <a:ext cx="3200400" cy="822960"/>
          </a:xfrm>
          <a:prstGeom prst="rect">
            <a:avLst/>
          </a:prstGeom>
          <a:noFill/>
        </p:spPr>
        <p:txBody>
          <a:bodyPr wrap="square" lIns="45720" rIns="45720" tIns="27432" bIns="27432" anchor="t"/>
          <a:lstStyle/>
          <a:p>
            <a:pPr algn="l">
              <a:lnSpc>
                <a:spcPct val="100000"/>
              </a:lnSpc>
              <a:spcAft>
                <a:spcPts val="0"/>
              </a:spcAft>
            </a:pPr>
            <a:r>
              <a:rPr sz="1500" b="1" i="0">
                <a:solidFill>
                  <a:srgbClr val="0F172A"/>
                </a:solidFill>
                <a:latin typeface="Segoe UI"/>
              </a:rPr>
              <a:t>Compile</a:t>
            </a:r>
          </a:p>
          <a:p>
            <a:pPr algn="l">
              <a:lnSpc>
                <a:spcPct val="100000"/>
              </a:lnSpc>
              <a:spcAft>
                <a:spcPts val="0"/>
              </a:spcAft>
            </a:pPr>
            <a:r>
              <a:rPr sz="1200" b="0" i="0">
                <a:solidFill>
                  <a:srgbClr val="475569"/>
                </a:solidFill>
                <a:latin typeface="Segoe UI"/>
              </a:rPr>
              <a:t>auto-compiles 650 ms after typing, or press Compile (Ctrl+Enter)</a:t>
            </a:r>
          </a:p>
        </p:txBody>
      </p:sp>
      <p:sp>
        <p:nvSpPr>
          <p:cNvPr id="19" name="Oval 18"/>
          <p:cNvSpPr/>
          <p:nvPr/>
        </p:nvSpPr>
        <p:spPr>
          <a:xfrm>
            <a:off x="7818120" y="4123944"/>
            <a:ext cx="502920" cy="5029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18120" y="4187952"/>
            <a:ext cx="502920" cy="365760"/>
          </a:xfrm>
          <a:prstGeom prst="rect">
            <a:avLst/>
          </a:prstGeom>
          <a:noFill/>
        </p:spPr>
        <p:txBody>
          <a:bodyPr wrap="square" lIns="45720" rIns="45720" tIns="27432" bIns="27432" anchor="t"/>
          <a:lstStyle/>
          <a:p>
            <a:pPr algn="ctr">
              <a:lnSpc>
                <a:spcPct val="110000"/>
              </a:lnSpc>
              <a:spcAft>
                <a:spcPts val="400"/>
              </a:spcAft>
            </a:pPr>
            <a:r>
              <a:rPr sz="1600" b="1" i="0">
                <a:solidFill>
                  <a:srgbClr val="FFFFFF"/>
                </a:solidFill>
                <a:latin typeface="Segoe UI"/>
              </a:rPr>
              <a:t>4</a:t>
            </a:r>
          </a:p>
        </p:txBody>
      </p:sp>
      <p:sp>
        <p:nvSpPr>
          <p:cNvPr id="21" name="TextBox 20"/>
          <p:cNvSpPr txBox="1"/>
          <p:nvPr/>
        </p:nvSpPr>
        <p:spPr>
          <a:xfrm>
            <a:off x="8458200" y="4078224"/>
            <a:ext cx="3200400" cy="822960"/>
          </a:xfrm>
          <a:prstGeom prst="rect">
            <a:avLst/>
          </a:prstGeom>
          <a:noFill/>
        </p:spPr>
        <p:txBody>
          <a:bodyPr wrap="square" lIns="45720" rIns="45720" tIns="27432" bIns="27432" anchor="t"/>
          <a:lstStyle/>
          <a:p>
            <a:pPr algn="l">
              <a:lnSpc>
                <a:spcPct val="100000"/>
              </a:lnSpc>
              <a:spcAft>
                <a:spcPts val="0"/>
              </a:spcAft>
            </a:pPr>
            <a:r>
              <a:rPr sz="1500" b="1" i="0">
                <a:solidFill>
                  <a:srgbClr val="0F172A"/>
                </a:solidFill>
                <a:latin typeface="Segoe UI"/>
              </a:rPr>
              <a:t>Inspect</a:t>
            </a:r>
          </a:p>
          <a:p>
            <a:pPr algn="l">
              <a:lnSpc>
                <a:spcPct val="100000"/>
              </a:lnSpc>
              <a:spcAft>
                <a:spcPts val="0"/>
              </a:spcAft>
            </a:pPr>
            <a:r>
              <a:rPr sz="1200" b="0" i="0">
                <a:solidFill>
                  <a:srgbClr val="475569"/>
                </a:solidFill>
                <a:latin typeface="Segoe UI"/>
              </a:rPr>
              <a:t>switch tabs: Tokens, AST, Symbols, TAC, Optimized TAC</a:t>
            </a:r>
          </a:p>
        </p:txBody>
      </p:sp>
      <p:sp>
        <p:nvSpPr>
          <p:cNvPr id="22" name="Oval 21"/>
          <p:cNvSpPr/>
          <p:nvPr/>
        </p:nvSpPr>
        <p:spPr>
          <a:xfrm>
            <a:off x="7818120" y="5010912"/>
            <a:ext cx="502920" cy="5029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18120" y="5074920"/>
            <a:ext cx="502920" cy="365760"/>
          </a:xfrm>
          <a:prstGeom prst="rect">
            <a:avLst/>
          </a:prstGeom>
          <a:noFill/>
        </p:spPr>
        <p:txBody>
          <a:bodyPr wrap="square" lIns="45720" rIns="45720" tIns="27432" bIns="27432" anchor="t"/>
          <a:lstStyle/>
          <a:p>
            <a:pPr algn="ctr">
              <a:lnSpc>
                <a:spcPct val="110000"/>
              </a:lnSpc>
              <a:spcAft>
                <a:spcPts val="400"/>
              </a:spcAft>
            </a:pPr>
            <a:r>
              <a:rPr sz="1600" b="1" i="0">
                <a:solidFill>
                  <a:srgbClr val="FFFFFF"/>
                </a:solidFill>
                <a:latin typeface="Segoe UI"/>
              </a:rPr>
              <a:t>5</a:t>
            </a:r>
          </a:p>
        </p:txBody>
      </p:sp>
      <p:sp>
        <p:nvSpPr>
          <p:cNvPr id="24" name="TextBox 23"/>
          <p:cNvSpPr txBox="1"/>
          <p:nvPr/>
        </p:nvSpPr>
        <p:spPr>
          <a:xfrm>
            <a:off x="8458200" y="4965192"/>
            <a:ext cx="3200400" cy="822960"/>
          </a:xfrm>
          <a:prstGeom prst="rect">
            <a:avLst/>
          </a:prstGeom>
          <a:noFill/>
        </p:spPr>
        <p:txBody>
          <a:bodyPr wrap="square" lIns="45720" rIns="45720" tIns="27432" bIns="27432" anchor="t"/>
          <a:lstStyle/>
          <a:p>
            <a:pPr algn="l">
              <a:lnSpc>
                <a:spcPct val="100000"/>
              </a:lnSpc>
              <a:spcAft>
                <a:spcPts val="0"/>
              </a:spcAft>
            </a:pPr>
            <a:r>
              <a:rPr sz="1500" b="1" i="0">
                <a:solidFill>
                  <a:srgbClr val="0F172A"/>
                </a:solidFill>
                <a:latin typeface="Segoe UI"/>
              </a:rPr>
              <a:t>Use the C++</a:t>
            </a:r>
          </a:p>
          <a:p>
            <a:pPr algn="l">
              <a:lnSpc>
                <a:spcPct val="100000"/>
              </a:lnSpc>
              <a:spcAft>
                <a:spcPts val="0"/>
              </a:spcAft>
            </a:pPr>
            <a:r>
              <a:rPr sz="1200" b="0" i="0">
                <a:solidFill>
                  <a:srgbClr val="475569"/>
                </a:solidFill>
                <a:latin typeface="Segoe UI"/>
              </a:rPr>
              <a:t>copy the generated C++ and build it with any C++17 compiler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VERIFICATION</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Testing strategy and verified results</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13 / 15</a:t>
            </a:r>
          </a:p>
        </p:txBody>
      </p:sp>
      <p:graphicFrame>
        <p:nvGraphicFramePr>
          <p:cNvPr id="8" name="Table 7"/>
          <p:cNvGraphicFramePr>
            <a:graphicFrameLocks noGrp="1"/>
          </p:cNvGraphicFramePr>
          <p:nvPr/>
        </p:nvGraphicFramePr>
        <p:xfrm>
          <a:off x="548640" y="1463040"/>
          <a:ext cx="6675120" cy="3840480"/>
        </p:xfrm>
        <a:graphic>
          <a:graphicData uri="http://schemas.openxmlformats.org/drawingml/2006/table">
            <a:tbl>
              <a:tblPr firstRow="0" bandRow="0">
                <a:tableStyleId>{5C22544A-7EE6-4342-B048-85BDC9FD1C3A}</a:tableStyleId>
              </a:tblPr>
              <a:tblGrid>
                <a:gridCol w="2148840"/>
                <a:gridCol w="868680"/>
                <a:gridCol w="3657600"/>
              </a:tblGrid>
              <a:tr h="384048">
                <a:tc>
                  <a:txBody>
                    <a:bodyPr wrap="square"/>
                    <a:lstStyle/>
                    <a:p>
                      <a:r>
                        <a:rPr sz="1300" b="1">
                          <a:solidFill>
                            <a:srgbClr val="FFFFFF"/>
                          </a:solidFill>
                          <a:latin typeface="Segoe UI"/>
                        </a:rPr>
                        <a:t>Automated suite</a:t>
                      </a:r>
                    </a:p>
                  </a:txBody>
                  <a:tcPr marL="73152" marR="73152" marT="27432" marB="27432" anchor="ctr">
                    <a:solidFill>
                      <a:srgbClr val="131C2E"/>
                    </a:solidFill>
                  </a:tcPr>
                </a:tc>
                <a:tc>
                  <a:txBody>
                    <a:bodyPr wrap="square"/>
                    <a:lstStyle/>
                    <a:p>
                      <a:r>
                        <a:rPr sz="1300" b="1">
                          <a:solidFill>
                            <a:srgbClr val="FFFFFF"/>
                          </a:solidFill>
                          <a:latin typeface="Segoe UI"/>
                        </a:rPr>
                        <a:t>Tests</a:t>
                      </a:r>
                    </a:p>
                  </a:txBody>
                  <a:tcPr marL="73152" marR="73152" marT="27432" marB="27432" anchor="ctr">
                    <a:solidFill>
                      <a:srgbClr val="131C2E"/>
                    </a:solidFill>
                  </a:tcPr>
                </a:tc>
                <a:tc>
                  <a:txBody>
                    <a:bodyPr wrap="square"/>
                    <a:lstStyle/>
                    <a:p>
                      <a:r>
                        <a:rPr sz="1300" b="1">
                          <a:solidFill>
                            <a:srgbClr val="FFFFFF"/>
                          </a:solidFill>
                          <a:latin typeface="Segoe UI"/>
                        </a:rPr>
                        <a:t>Highlights</a:t>
                      </a:r>
                    </a:p>
                  </a:txBody>
                  <a:tcPr marL="73152" marR="73152" marT="27432" marB="27432" anchor="ctr">
                    <a:solidFill>
                      <a:srgbClr val="131C2E"/>
                    </a:solidFill>
                  </a:tcPr>
                </a:tc>
              </a:tr>
              <a:tr h="384048">
                <a:tc>
                  <a:txBody>
                    <a:bodyPr wrap="square"/>
                    <a:lstStyle/>
                    <a:p>
                      <a:r>
                        <a:rPr sz="1300" b="0">
                          <a:solidFill>
                            <a:srgbClr val="0F172A"/>
                          </a:solidFill>
                          <a:latin typeface="Segoe UI"/>
                        </a:rPr>
                        <a:t>Lexer</a:t>
                      </a:r>
                    </a:p>
                  </a:txBody>
                  <a:tcPr marL="73152" marR="73152" marT="27432" marB="27432" anchor="ctr">
                    <a:solidFill>
                      <a:srgbClr val="FFFFFF"/>
                    </a:solidFill>
                  </a:tcPr>
                </a:tc>
                <a:tc>
                  <a:txBody>
                    <a:bodyPr wrap="square"/>
                    <a:lstStyle/>
                    <a:p>
                      <a:r>
                        <a:rPr sz="1300" b="0">
                          <a:solidFill>
                            <a:srgbClr val="0F172A"/>
                          </a:solidFill>
                          <a:latin typeface="Segoe UI"/>
                        </a:rPr>
                        <a:t>12</a:t>
                      </a:r>
                    </a:p>
                  </a:txBody>
                  <a:tcPr marL="73152" marR="73152" marT="27432" marB="27432" anchor="ctr">
                    <a:solidFill>
                      <a:srgbClr val="FFFFFF"/>
                    </a:solidFill>
                  </a:tcPr>
                </a:tc>
                <a:tc>
                  <a:txBody>
                    <a:bodyPr wrap="square"/>
                    <a:lstStyle/>
                    <a:p>
                      <a:r>
                        <a:rPr sz="1300" b="0">
                          <a:solidFill>
                            <a:srgbClr val="0F172A"/>
                          </a:solidFill>
                          <a:latin typeface="Segoe UI"/>
                        </a:rPr>
                        <a:t>every lexical error code</a:t>
                      </a:r>
                    </a:p>
                  </a:txBody>
                  <a:tcPr marL="73152" marR="73152" marT="27432" marB="27432" anchor="ctr">
                    <a:solidFill>
                      <a:srgbClr val="FFFFFF"/>
                    </a:solidFill>
                  </a:tcPr>
                </a:tc>
              </a:tr>
              <a:tr h="384048">
                <a:tc>
                  <a:txBody>
                    <a:bodyPr wrap="square"/>
                    <a:lstStyle/>
                    <a:p>
                      <a:r>
                        <a:rPr sz="1300" b="0">
                          <a:solidFill>
                            <a:srgbClr val="0F172A"/>
                          </a:solidFill>
                          <a:latin typeface="Segoe UI"/>
                        </a:rPr>
                        <a:t>Parser + AST</a:t>
                      </a:r>
                    </a:p>
                  </a:txBody>
                  <a:tcPr marL="73152" marR="73152" marT="27432" marB="27432" anchor="ctr">
                    <a:solidFill>
                      <a:srgbClr val="F1F5F9"/>
                    </a:solidFill>
                  </a:tcPr>
                </a:tc>
                <a:tc>
                  <a:txBody>
                    <a:bodyPr wrap="square"/>
                    <a:lstStyle/>
                    <a:p>
                      <a:r>
                        <a:rPr sz="1300" b="0">
                          <a:solidFill>
                            <a:srgbClr val="0F172A"/>
                          </a:solidFill>
                          <a:latin typeface="Segoe UI"/>
                        </a:rPr>
                        <a:t>48</a:t>
                      </a:r>
                    </a:p>
                  </a:txBody>
                  <a:tcPr marL="73152" marR="73152" marT="27432" marB="27432" anchor="ctr">
                    <a:solidFill>
                      <a:srgbClr val="F1F5F9"/>
                    </a:solidFill>
                  </a:tcPr>
                </a:tc>
                <a:tc>
                  <a:txBody>
                    <a:bodyPr wrap="square"/>
                    <a:lstStyle/>
                    <a:p>
                      <a:r>
                        <a:rPr sz="1300" b="0">
                          <a:solidFill>
                            <a:srgbClr val="0F172A"/>
                          </a:solidFill>
                          <a:latin typeface="Segoe UI"/>
                        </a:rPr>
                        <a:t>precedence, 21 syntax errors</a:t>
                      </a:r>
                    </a:p>
                  </a:txBody>
                  <a:tcPr marL="73152" marR="73152" marT="27432" marB="27432" anchor="ctr">
                    <a:solidFill>
                      <a:srgbClr val="F1F5F9"/>
                    </a:solidFill>
                  </a:tcPr>
                </a:tc>
              </a:tr>
              <a:tr h="384048">
                <a:tc>
                  <a:txBody>
                    <a:bodyPr wrap="square"/>
                    <a:lstStyle/>
                    <a:p>
                      <a:r>
                        <a:rPr sz="1300" b="0">
                          <a:solidFill>
                            <a:srgbClr val="0F172A"/>
                          </a:solidFill>
                          <a:latin typeface="Segoe UI"/>
                        </a:rPr>
                        <a:t>Semantic</a:t>
                      </a:r>
                    </a:p>
                  </a:txBody>
                  <a:tcPr marL="73152" marR="73152" marT="27432" marB="27432" anchor="ctr">
                    <a:solidFill>
                      <a:srgbClr val="FFFFFF"/>
                    </a:solidFill>
                  </a:tcPr>
                </a:tc>
                <a:tc>
                  <a:txBody>
                    <a:bodyPr wrap="square"/>
                    <a:lstStyle/>
                    <a:p>
                      <a:r>
                        <a:rPr sz="1300" b="0">
                          <a:solidFill>
                            <a:srgbClr val="0F172A"/>
                          </a:solidFill>
                          <a:latin typeface="Segoe UI"/>
                        </a:rPr>
                        <a:t>31</a:t>
                      </a:r>
                    </a:p>
                  </a:txBody>
                  <a:tcPr marL="73152" marR="73152" marT="27432" marB="27432" anchor="ctr">
                    <a:solidFill>
                      <a:srgbClr val="FFFFFF"/>
                    </a:solidFill>
                  </a:tcPr>
                </a:tc>
                <a:tc>
                  <a:txBody>
                    <a:bodyPr wrap="square"/>
                    <a:lstStyle/>
                    <a:p>
                      <a:r>
                        <a:rPr sz="1300" b="0">
                          <a:solidFill>
                            <a:srgbClr val="0F172A"/>
                          </a:solidFill>
                          <a:latin typeface="Segoe UI"/>
                        </a:rPr>
                        <a:t>S001–S006, scopes</a:t>
                      </a:r>
                    </a:p>
                  </a:txBody>
                  <a:tcPr marL="73152" marR="73152" marT="27432" marB="27432" anchor="ctr">
                    <a:solidFill>
                      <a:srgbClr val="FFFFFF"/>
                    </a:solidFill>
                  </a:tcPr>
                </a:tc>
              </a:tr>
              <a:tr h="384048">
                <a:tc>
                  <a:txBody>
                    <a:bodyPr wrap="square"/>
                    <a:lstStyle/>
                    <a:p>
                      <a:r>
                        <a:rPr sz="1300" b="0">
                          <a:solidFill>
                            <a:srgbClr val="0F172A"/>
                          </a:solidFill>
                          <a:latin typeface="Segoe UI"/>
                        </a:rPr>
                        <a:t>TAC</a:t>
                      </a:r>
                    </a:p>
                  </a:txBody>
                  <a:tcPr marL="73152" marR="73152" marT="27432" marB="27432" anchor="ctr">
                    <a:solidFill>
                      <a:srgbClr val="F1F5F9"/>
                    </a:solidFill>
                  </a:tcPr>
                </a:tc>
                <a:tc>
                  <a:txBody>
                    <a:bodyPr wrap="square"/>
                    <a:lstStyle/>
                    <a:p>
                      <a:r>
                        <a:rPr sz="1300" b="0">
                          <a:solidFill>
                            <a:srgbClr val="0F172A"/>
                          </a:solidFill>
                          <a:latin typeface="Segoe UI"/>
                        </a:rPr>
                        <a:t>18</a:t>
                      </a:r>
                    </a:p>
                  </a:txBody>
                  <a:tcPr marL="73152" marR="73152" marT="27432" marB="27432" anchor="ctr">
                    <a:solidFill>
                      <a:srgbClr val="F1F5F9"/>
                    </a:solidFill>
                  </a:tcPr>
                </a:tc>
                <a:tc>
                  <a:txBody>
                    <a:bodyPr wrap="square"/>
                    <a:lstStyle/>
                    <a:p>
                      <a:r>
                        <a:rPr sz="1300" b="0">
                          <a:solidFill>
                            <a:srgbClr val="0F172A"/>
                          </a:solidFill>
                          <a:latin typeface="Segoe UI"/>
                        </a:rPr>
                        <a:t>TAC vs. AST interpreter</a:t>
                      </a:r>
                    </a:p>
                  </a:txBody>
                  <a:tcPr marL="73152" marR="73152" marT="27432" marB="27432" anchor="ctr">
                    <a:solidFill>
                      <a:srgbClr val="F1F5F9"/>
                    </a:solidFill>
                  </a:tcPr>
                </a:tc>
              </a:tr>
              <a:tr h="384048">
                <a:tc>
                  <a:txBody>
                    <a:bodyPr wrap="square"/>
                    <a:lstStyle/>
                    <a:p>
                      <a:r>
                        <a:rPr sz="1300" b="0">
                          <a:solidFill>
                            <a:srgbClr val="0F172A"/>
                          </a:solidFill>
                          <a:latin typeface="Segoe UI"/>
                        </a:rPr>
                        <a:t>Optimizer</a:t>
                      </a:r>
                    </a:p>
                  </a:txBody>
                  <a:tcPr marL="73152" marR="73152" marT="27432" marB="27432" anchor="ctr">
                    <a:solidFill>
                      <a:srgbClr val="FFFFFF"/>
                    </a:solidFill>
                  </a:tcPr>
                </a:tc>
                <a:tc>
                  <a:txBody>
                    <a:bodyPr wrap="square"/>
                    <a:lstStyle/>
                    <a:p>
                      <a:r>
                        <a:rPr sz="1300" b="0">
                          <a:solidFill>
                            <a:srgbClr val="0F172A"/>
                          </a:solidFill>
                          <a:latin typeface="Segoe UI"/>
                        </a:rPr>
                        <a:t>28</a:t>
                      </a:r>
                    </a:p>
                  </a:txBody>
                  <a:tcPr marL="73152" marR="73152" marT="27432" marB="27432" anchor="ctr">
                    <a:solidFill>
                      <a:srgbClr val="FFFFFF"/>
                    </a:solidFill>
                  </a:tcPr>
                </a:tc>
                <a:tc>
                  <a:txBody>
                    <a:bodyPr wrap="square"/>
                    <a:lstStyle/>
                    <a:p>
                      <a:r>
                        <a:rPr sz="1300" b="0">
                          <a:solidFill>
                            <a:srgbClr val="0F172A"/>
                          </a:solidFill>
                          <a:latin typeface="Segoe UI"/>
                        </a:rPr>
                        <a:t>300 random programs</a:t>
                      </a:r>
                    </a:p>
                  </a:txBody>
                  <a:tcPr marL="73152" marR="73152" marT="27432" marB="27432" anchor="ctr">
                    <a:solidFill>
                      <a:srgbClr val="FFFFFF"/>
                    </a:solidFill>
                  </a:tcPr>
                </a:tc>
              </a:tr>
              <a:tr h="384048">
                <a:tc>
                  <a:txBody>
                    <a:bodyPr wrap="square"/>
                    <a:lstStyle/>
                    <a:p>
                      <a:r>
                        <a:rPr sz="1300" b="0">
                          <a:solidFill>
                            <a:srgbClr val="0F172A"/>
                          </a:solidFill>
                          <a:latin typeface="Segoe UI"/>
                        </a:rPr>
                        <a:t>C++ generation</a:t>
                      </a:r>
                    </a:p>
                  </a:txBody>
                  <a:tcPr marL="73152" marR="73152" marT="27432" marB="27432" anchor="ctr">
                    <a:solidFill>
                      <a:srgbClr val="F1F5F9"/>
                    </a:solidFill>
                  </a:tcPr>
                </a:tc>
                <a:tc>
                  <a:txBody>
                    <a:bodyPr wrap="square"/>
                    <a:lstStyle/>
                    <a:p>
                      <a:r>
                        <a:rPr sz="1300" b="0">
                          <a:solidFill>
                            <a:srgbClr val="0F172A"/>
                          </a:solidFill>
                          <a:latin typeface="Segoe UI"/>
                        </a:rPr>
                        <a:t>36</a:t>
                      </a:r>
                    </a:p>
                  </a:txBody>
                  <a:tcPr marL="73152" marR="73152" marT="27432" marB="27432" anchor="ctr">
                    <a:solidFill>
                      <a:srgbClr val="F1F5F9"/>
                    </a:solidFill>
                  </a:tcPr>
                </a:tc>
                <a:tc>
                  <a:txBody>
                    <a:bodyPr wrap="square"/>
                    <a:lstStyle/>
                    <a:p>
                      <a:r>
                        <a:rPr sz="1300" b="0">
                          <a:solidFill>
                            <a:srgbClr val="0F172A"/>
                          </a:solidFill>
                          <a:latin typeface="Segoe UI"/>
                        </a:rPr>
                        <a:t>g++ build and run</a:t>
                      </a:r>
                    </a:p>
                  </a:txBody>
                  <a:tcPr marL="73152" marR="73152" marT="27432" marB="27432" anchor="ctr">
                    <a:solidFill>
                      <a:srgbClr val="F1F5F9"/>
                    </a:solidFill>
                  </a:tcPr>
                </a:tc>
              </a:tr>
              <a:tr h="384048">
                <a:tc>
                  <a:txBody>
                    <a:bodyPr wrap="square"/>
                    <a:lstStyle/>
                    <a:p>
                      <a:r>
                        <a:rPr sz="1300" b="0">
                          <a:solidFill>
                            <a:srgbClr val="0F172A"/>
                          </a:solidFill>
                          <a:latin typeface="Segoe UI"/>
                        </a:rPr>
                        <a:t>API + health</a:t>
                      </a:r>
                    </a:p>
                  </a:txBody>
                  <a:tcPr marL="73152" marR="73152" marT="27432" marB="27432" anchor="ctr">
                    <a:solidFill>
                      <a:srgbClr val="FFFFFF"/>
                    </a:solidFill>
                  </a:tcPr>
                </a:tc>
                <a:tc>
                  <a:txBody>
                    <a:bodyPr wrap="square"/>
                    <a:lstStyle/>
                    <a:p>
                      <a:r>
                        <a:rPr sz="1300" b="0">
                          <a:solidFill>
                            <a:srgbClr val="0F172A"/>
                          </a:solidFill>
                          <a:latin typeface="Segoe UI"/>
                        </a:rPr>
                        <a:t>34</a:t>
                      </a:r>
                    </a:p>
                  </a:txBody>
                  <a:tcPr marL="73152" marR="73152" marT="27432" marB="27432" anchor="ctr">
                    <a:solidFill>
                      <a:srgbClr val="FFFFFF"/>
                    </a:solidFill>
                  </a:tcPr>
                </a:tc>
                <a:tc>
                  <a:txBody>
                    <a:bodyPr wrap="square"/>
                    <a:lstStyle/>
                    <a:p>
                      <a:r>
                        <a:rPr sz="1300" b="0">
                          <a:solidFill>
                            <a:srgbClr val="0F172A"/>
                          </a:solidFill>
                          <a:latin typeface="Segoe UI"/>
                        </a:rPr>
                        <a:t>413/422/500, CORS</a:t>
                      </a:r>
                    </a:p>
                  </a:txBody>
                  <a:tcPr marL="73152" marR="73152" marT="27432" marB="27432" anchor="ctr">
                    <a:solidFill>
                      <a:srgbClr val="FFFFFF"/>
                    </a:solidFill>
                  </a:tcPr>
                </a:tc>
              </a:tr>
              <a:tr h="384048">
                <a:tc>
                  <a:txBody>
                    <a:bodyPr wrap="square"/>
                    <a:lstStyle/>
                    <a:p>
                      <a:r>
                        <a:rPr sz="1300" b="0">
                          <a:solidFill>
                            <a:srgbClr val="0F172A"/>
                          </a:solidFill>
                          <a:latin typeface="Segoe UI"/>
                        </a:rPr>
                        <a:t>End-to-end</a:t>
                      </a:r>
                    </a:p>
                  </a:txBody>
                  <a:tcPr marL="73152" marR="73152" marT="27432" marB="27432" anchor="ctr">
                    <a:solidFill>
                      <a:srgbClr val="F1F5F9"/>
                    </a:solidFill>
                  </a:tcPr>
                </a:tc>
                <a:tc>
                  <a:txBody>
                    <a:bodyPr wrap="square"/>
                    <a:lstStyle/>
                    <a:p>
                      <a:r>
                        <a:rPr sz="1300" b="0">
                          <a:solidFill>
                            <a:srgbClr val="0F172A"/>
                          </a:solidFill>
                          <a:latin typeface="Segoe UI"/>
                        </a:rPr>
                        <a:t>6</a:t>
                      </a:r>
                    </a:p>
                  </a:txBody>
                  <a:tcPr marL="73152" marR="73152" marT="27432" marB="27432" anchor="ctr">
                    <a:solidFill>
                      <a:srgbClr val="F1F5F9"/>
                    </a:solidFill>
                  </a:tcPr>
                </a:tc>
                <a:tc>
                  <a:txBody>
                    <a:bodyPr wrap="square"/>
                    <a:lstStyle/>
                    <a:p>
                      <a:r>
                        <a:rPr sz="1300" b="0">
                          <a:solidFill>
                            <a:srgbClr val="0F172A"/>
                          </a:solidFill>
                          <a:latin typeface="Segoe UI"/>
                        </a:rPr>
                        <a:t>server → HTTP → g++</a:t>
                      </a:r>
                    </a:p>
                  </a:txBody>
                  <a:tcPr marL="73152" marR="73152" marT="27432" marB="27432" anchor="ctr">
                    <a:solidFill>
                      <a:srgbClr val="F1F5F9"/>
                    </a:solidFill>
                  </a:tcPr>
                </a:tc>
              </a:tr>
              <a:tr h="384048">
                <a:tc>
                  <a:txBody>
                    <a:bodyPr wrap="square"/>
                    <a:lstStyle/>
                    <a:p>
                      <a:r>
                        <a:rPr sz="1300" b="0">
                          <a:solidFill>
                            <a:srgbClr val="0F172A"/>
                          </a:solidFill>
                          <a:latin typeface="Segoe UI"/>
                        </a:rPr>
                        <a:t>Frontend (Vitest)</a:t>
                      </a:r>
                    </a:p>
                  </a:txBody>
                  <a:tcPr marL="73152" marR="73152" marT="27432" marB="27432" anchor="ctr">
                    <a:solidFill>
                      <a:srgbClr val="FFFFFF"/>
                    </a:solidFill>
                  </a:tcPr>
                </a:tc>
                <a:tc>
                  <a:txBody>
                    <a:bodyPr wrap="square"/>
                    <a:lstStyle/>
                    <a:p>
                      <a:r>
                        <a:rPr sz="1300" b="0">
                          <a:solidFill>
                            <a:srgbClr val="0F172A"/>
                          </a:solidFill>
                          <a:latin typeface="Segoe UI"/>
                        </a:rPr>
                        <a:t>20</a:t>
                      </a:r>
                    </a:p>
                  </a:txBody>
                  <a:tcPr marL="73152" marR="73152" marT="27432" marB="27432" anchor="ctr">
                    <a:solidFill>
                      <a:srgbClr val="FFFFFF"/>
                    </a:solidFill>
                  </a:tcPr>
                </a:tc>
                <a:tc>
                  <a:txBody>
                    <a:bodyPr wrap="square"/>
                    <a:lstStyle/>
                    <a:p>
                      <a:r>
                        <a:rPr sz="1300" b="0">
                          <a:solidFill>
                            <a:srgbClr val="0F172A"/>
                          </a:solidFill>
                          <a:latin typeface="Segoe UI"/>
                        </a:rPr>
                        <a:t>API client, views</a:t>
                      </a:r>
                    </a:p>
                  </a:txBody>
                  <a:tcPr marL="73152" marR="73152" marT="27432" marB="27432" anchor="ctr">
                    <a:solidFill>
                      <a:srgbClr val="FFFFFF"/>
                    </a:solidFill>
                  </a:tcPr>
                </a:tc>
              </a:tr>
            </a:tbl>
          </a:graphicData>
        </a:graphic>
      </p:graphicFrame>
      <p:sp>
        <p:nvSpPr>
          <p:cNvPr id="9" name="TextBox 8"/>
          <p:cNvSpPr txBox="1"/>
          <p:nvPr/>
        </p:nvSpPr>
        <p:spPr>
          <a:xfrm>
            <a:off x="548640" y="5440680"/>
            <a:ext cx="6675120" cy="822960"/>
          </a:xfrm>
          <a:prstGeom prst="rect">
            <a:avLst/>
          </a:prstGeom>
          <a:noFill/>
        </p:spPr>
        <p:txBody>
          <a:bodyPr wrap="square" lIns="45720" rIns="45720" tIns="27432" bIns="27432" anchor="t"/>
          <a:lstStyle/>
          <a:p>
            <a:pPr algn="l">
              <a:lnSpc>
                <a:spcPct val="110000"/>
              </a:lnSpc>
              <a:spcAft>
                <a:spcPts val="400"/>
              </a:spcAft>
            </a:pPr>
            <a:r>
              <a:rPr sz="1350" b="1" i="0">
                <a:solidFill>
                  <a:srgbClr val="0D9488"/>
                </a:solidFill>
                <a:latin typeface="Segoe UI"/>
              </a:rPr>
              <a:t>Oracle: </a:t>
            </a:r>
            <a:r>
              <a:rPr sz="1350" b="0" i="0">
                <a:solidFill>
                  <a:srgbClr val="0F172A"/>
                </a:solidFill>
                <a:latin typeface="Segoe UI"/>
              </a:rPr>
              <a:t>each example must print the same output in the AST interpreter, original TAC, optimized TAC and a g++-built binary.</a:t>
            </a:r>
          </a:p>
        </p:txBody>
      </p:sp>
      <p:sp>
        <p:nvSpPr>
          <p:cNvPr id="10" name="Rounded Rectangle 9"/>
          <p:cNvSpPr/>
          <p:nvPr/>
        </p:nvSpPr>
        <p:spPr>
          <a:xfrm>
            <a:off x="7543800" y="1463040"/>
            <a:ext cx="1965960" cy="137160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1517904"/>
            <a:ext cx="1965960" cy="594360"/>
          </a:xfrm>
          <a:prstGeom prst="rect">
            <a:avLst/>
          </a:prstGeom>
          <a:noFill/>
        </p:spPr>
        <p:txBody>
          <a:bodyPr wrap="square" lIns="45720" rIns="45720" tIns="27432" bIns="27432" anchor="t"/>
          <a:lstStyle/>
          <a:p>
            <a:pPr algn="ctr">
              <a:lnSpc>
                <a:spcPct val="110000"/>
              </a:lnSpc>
              <a:spcAft>
                <a:spcPts val="400"/>
              </a:spcAft>
            </a:pPr>
            <a:r>
              <a:rPr sz="3400" b="1" i="0">
                <a:solidFill>
                  <a:srgbClr val="0D9488"/>
                </a:solidFill>
                <a:latin typeface="Segoe UI Semibold"/>
              </a:rPr>
              <a:t>213</a:t>
            </a:r>
          </a:p>
        </p:txBody>
      </p:sp>
      <p:sp>
        <p:nvSpPr>
          <p:cNvPr id="12" name="TextBox 11"/>
          <p:cNvSpPr txBox="1"/>
          <p:nvPr/>
        </p:nvSpPr>
        <p:spPr>
          <a:xfrm>
            <a:off x="7635240" y="2157984"/>
            <a:ext cx="1783080" cy="603504"/>
          </a:xfrm>
          <a:prstGeom prst="rect">
            <a:avLst/>
          </a:prstGeom>
          <a:noFill/>
        </p:spPr>
        <p:txBody>
          <a:bodyPr wrap="square" lIns="45720" rIns="45720" tIns="27432" bIns="27432" anchor="t"/>
          <a:lstStyle/>
          <a:p>
            <a:pPr algn="ctr">
              <a:lnSpc>
                <a:spcPct val="100000"/>
              </a:lnSpc>
              <a:spcAft>
                <a:spcPts val="0"/>
              </a:spcAft>
            </a:pPr>
            <a:r>
              <a:rPr sz="1200" b="0" i="0">
                <a:solidFill>
                  <a:srgbClr val="475569"/>
                </a:solidFill>
                <a:latin typeface="Segoe UI"/>
              </a:rPr>
              <a:t>backend tests
passed</a:t>
            </a:r>
          </a:p>
        </p:txBody>
      </p:sp>
      <p:sp>
        <p:nvSpPr>
          <p:cNvPr id="13" name="Rounded Rectangle 12"/>
          <p:cNvSpPr/>
          <p:nvPr/>
        </p:nvSpPr>
        <p:spPr>
          <a:xfrm>
            <a:off x="9674352" y="1463040"/>
            <a:ext cx="1965960" cy="137160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74352" y="1517904"/>
            <a:ext cx="1965960" cy="594360"/>
          </a:xfrm>
          <a:prstGeom prst="rect">
            <a:avLst/>
          </a:prstGeom>
          <a:noFill/>
        </p:spPr>
        <p:txBody>
          <a:bodyPr wrap="square" lIns="45720" rIns="45720" tIns="27432" bIns="27432" anchor="t"/>
          <a:lstStyle/>
          <a:p>
            <a:pPr algn="ctr">
              <a:lnSpc>
                <a:spcPct val="110000"/>
              </a:lnSpc>
              <a:spcAft>
                <a:spcPts val="400"/>
              </a:spcAft>
            </a:pPr>
            <a:r>
              <a:rPr sz="3400" b="1" i="0">
                <a:solidFill>
                  <a:srgbClr val="0D9488"/>
                </a:solidFill>
                <a:latin typeface="Segoe UI Semibold"/>
              </a:rPr>
              <a:t>20</a:t>
            </a:r>
          </a:p>
        </p:txBody>
      </p:sp>
      <p:sp>
        <p:nvSpPr>
          <p:cNvPr id="15" name="TextBox 14"/>
          <p:cNvSpPr txBox="1"/>
          <p:nvPr/>
        </p:nvSpPr>
        <p:spPr>
          <a:xfrm>
            <a:off x="9765792" y="2157984"/>
            <a:ext cx="1783080" cy="603504"/>
          </a:xfrm>
          <a:prstGeom prst="rect">
            <a:avLst/>
          </a:prstGeom>
          <a:noFill/>
        </p:spPr>
        <p:txBody>
          <a:bodyPr wrap="square" lIns="45720" rIns="45720" tIns="27432" bIns="27432" anchor="t"/>
          <a:lstStyle/>
          <a:p>
            <a:pPr algn="ctr">
              <a:lnSpc>
                <a:spcPct val="100000"/>
              </a:lnSpc>
              <a:spcAft>
                <a:spcPts val="0"/>
              </a:spcAft>
            </a:pPr>
            <a:r>
              <a:rPr sz="1200" b="0" i="0">
                <a:solidFill>
                  <a:srgbClr val="475569"/>
                </a:solidFill>
                <a:latin typeface="Segoe UI"/>
              </a:rPr>
              <a:t>frontend tests
passed</a:t>
            </a:r>
          </a:p>
        </p:txBody>
      </p:sp>
      <p:sp>
        <p:nvSpPr>
          <p:cNvPr id="16" name="Rounded Rectangle 15"/>
          <p:cNvSpPr/>
          <p:nvPr/>
        </p:nvSpPr>
        <p:spPr>
          <a:xfrm>
            <a:off x="7543800" y="3017520"/>
            <a:ext cx="4096512" cy="3200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26679" y="3108960"/>
            <a:ext cx="3749039" cy="365760"/>
          </a:xfrm>
          <a:prstGeom prst="rect">
            <a:avLst/>
          </a:prstGeom>
          <a:noFill/>
        </p:spPr>
        <p:txBody>
          <a:bodyPr wrap="square" lIns="45720" rIns="45720" tIns="27432" bIns="27432" anchor="t"/>
          <a:lstStyle/>
          <a:p>
            <a:pPr algn="l">
              <a:lnSpc>
                <a:spcPct val="110000"/>
              </a:lnSpc>
              <a:spcAft>
                <a:spcPts val="400"/>
              </a:spcAft>
            </a:pPr>
            <a:r>
              <a:rPr sz="1500" b="1" i="0">
                <a:solidFill>
                  <a:srgbClr val="0D9488"/>
                </a:solidFill>
                <a:latin typeface="Segoe UI Semibold"/>
              </a:rPr>
              <a:t>Manual checks (not automated)</a:t>
            </a:r>
          </a:p>
        </p:txBody>
      </p:sp>
      <p:sp>
        <p:nvSpPr>
          <p:cNvPr id="18" name="TextBox 17"/>
          <p:cNvSpPr txBox="1"/>
          <p:nvPr/>
        </p:nvSpPr>
        <p:spPr>
          <a:xfrm>
            <a:off x="7726679" y="3520440"/>
            <a:ext cx="3794760" cy="2697480"/>
          </a:xfrm>
          <a:prstGeom prst="rect">
            <a:avLst/>
          </a:prstGeom>
          <a:noFill/>
        </p:spPr>
        <p:txBody>
          <a:bodyPr wrap="square" lIns="45720" rIns="45720" tIns="27432" bIns="27432" anchor="t"/>
          <a:lstStyle/>
          <a:p>
            <a:pPr algn="l" marL="256032" indent="-256032">
              <a:lnSpc>
                <a:spcPct val="110000"/>
              </a:lnSpc>
              <a:spcAft>
                <a:spcPts val="300"/>
              </a:spcAft>
            </a:pPr>
            <a:r>
              <a:rPr sz="1250" b="1" i="0">
                <a:solidFill>
                  <a:srgbClr val="0D9488"/>
                </a:solidFill>
                <a:latin typeface="Segoe UI"/>
              </a:rPr>
              <a:t>▸	</a:t>
            </a:r>
            <a:r>
              <a:rPr sz="1250" b="0" i="0">
                <a:solidFill>
                  <a:srgbClr val="0D9488"/>
                </a:solidFill>
                <a:latin typeface="Consolas"/>
              </a:rPr>
              <a:t>/health</a:t>
            </a:r>
            <a:r>
              <a:rPr sz="1250" b="0" i="0">
                <a:solidFill>
                  <a:srgbClr val="0F172A"/>
                </a:solidFill>
                <a:latin typeface="Segoe UI"/>
              </a:rPr>
              <a:t> → HTTP 200</a:t>
            </a:r>
          </a:p>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CORS: Vercel origin allowed, others rejected</a:t>
            </a:r>
          </a:p>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Headless Edge: app online, all phases green</a:t>
            </a:r>
          </a:p>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Live C++ for 3 examples built with g++ = expected output</a:t>
            </a:r>
          </a:p>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Warm compile round trip 0.55–1.45 s</a:t>
            </a:r>
          </a:p>
          <a:p>
            <a:pPr algn="l" marL="256032" indent="-256032">
              <a:lnSpc>
                <a:spcPct val="110000"/>
              </a:lnSpc>
              <a:spcAft>
                <a:spcPts val="300"/>
              </a:spcAft>
            </a:pPr>
            <a:r>
              <a:rPr sz="1250" b="1" i="0">
                <a:solidFill>
                  <a:srgbClr val="0D9488"/>
                </a:solidFill>
                <a:latin typeface="Segoe UI"/>
              </a:rPr>
              <a:t>▸	</a:t>
            </a:r>
            <a:r>
              <a:rPr sz="1250" b="0" i="0">
                <a:solidFill>
                  <a:srgbClr val="0F172A"/>
                </a:solidFill>
                <a:latin typeface="Segoe UI"/>
              </a:rPr>
              <a:t>Audit: 192 random programs matched 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0241280" cy="320040"/>
          </a:xfrm>
          <a:prstGeom prst="rect">
            <a:avLst/>
          </a:prstGeom>
          <a:noFill/>
        </p:spPr>
        <p:txBody>
          <a:bodyPr wrap="square" lIns="45720" rIns="45720" tIns="27432" bIns="27432" anchor="t"/>
          <a:lstStyle/>
          <a:p>
            <a:pPr algn="l">
              <a:lnSpc>
                <a:spcPct val="110000"/>
              </a:lnSpc>
              <a:spcAft>
                <a:spcPts val="400"/>
              </a:spcAft>
            </a:pPr>
            <a:r>
              <a:rPr sz="1200" b="1" i="0">
                <a:solidFill>
                  <a:srgbClr val="0D9488"/>
                </a:solidFill>
                <a:latin typeface="Segoe UI Semibold"/>
              </a:rPr>
              <a:t>NEXT STEPS</a:t>
            </a:r>
          </a:p>
        </p:txBody>
      </p:sp>
      <p:sp>
        <p:nvSpPr>
          <p:cNvPr id="4" name="TextBox 3"/>
          <p:cNvSpPr txBox="1"/>
          <p:nvPr/>
        </p:nvSpPr>
        <p:spPr>
          <a:xfrm>
            <a:off x="548640" y="566928"/>
            <a:ext cx="11064240" cy="685800"/>
          </a:xfrm>
          <a:prstGeom prst="rect">
            <a:avLst/>
          </a:prstGeom>
          <a:noFill/>
        </p:spPr>
        <p:txBody>
          <a:bodyPr wrap="square" lIns="45720" rIns="45720" tIns="27432" bIns="27432" anchor="t"/>
          <a:lstStyle/>
          <a:p>
            <a:pPr algn="l">
              <a:lnSpc>
                <a:spcPct val="110000"/>
              </a:lnSpc>
              <a:spcAft>
                <a:spcPts val="400"/>
              </a:spcAft>
            </a:pPr>
            <a:r>
              <a:rPr sz="3000" b="1" i="0">
                <a:solidFill>
                  <a:srgbClr val="0F172A"/>
                </a:solidFill>
                <a:latin typeface="Segoe UI Semibold"/>
              </a:rPr>
              <a:t>Limitations and future enhancements</a:t>
            </a:r>
          </a:p>
        </p:txBody>
      </p:sp>
      <p:sp>
        <p:nvSpPr>
          <p:cNvPr id="5" name="Rectangle 4"/>
          <p:cNvSpPr/>
          <p:nvPr/>
        </p:nvSpPr>
        <p:spPr>
          <a:xfrm>
            <a:off x="548640" y="6446520"/>
            <a:ext cx="11091672"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92240"/>
            <a:ext cx="7315200" cy="274320"/>
          </a:xfrm>
          <a:prstGeom prst="rect">
            <a:avLst/>
          </a:prstGeom>
          <a:noFill/>
        </p:spPr>
        <p:txBody>
          <a:bodyPr wrap="square" lIns="45720" rIns="45720" tIns="27432" bIns="27432" anchor="t"/>
          <a:lstStyle/>
          <a:p>
            <a:pPr algn="l">
              <a:lnSpc>
                <a:spcPct val="110000"/>
              </a:lnSpc>
              <a:spcAft>
                <a:spcPts val="400"/>
              </a:spcAft>
            </a:pPr>
            <a:r>
              <a:rPr sz="1000" b="0" i="0">
                <a:solidFill>
                  <a:srgbClr val="475569"/>
                </a:solidFill>
                <a:latin typeface="Segoe UI"/>
              </a:rPr>
              <a:t>CodeBridge  ·  Pseudocode-to-C++ Compiler</a:t>
            </a:r>
          </a:p>
        </p:txBody>
      </p:sp>
      <p:sp>
        <p:nvSpPr>
          <p:cNvPr id="7" name="TextBox 6"/>
          <p:cNvSpPr txBox="1"/>
          <p:nvPr/>
        </p:nvSpPr>
        <p:spPr>
          <a:xfrm>
            <a:off x="9811512" y="6492240"/>
            <a:ext cx="1828800" cy="274320"/>
          </a:xfrm>
          <a:prstGeom prst="rect">
            <a:avLst/>
          </a:prstGeom>
          <a:noFill/>
        </p:spPr>
        <p:txBody>
          <a:bodyPr wrap="square" lIns="45720" rIns="45720" tIns="27432" bIns="27432" anchor="t"/>
          <a:lstStyle/>
          <a:p>
            <a:pPr algn="r">
              <a:lnSpc>
                <a:spcPct val="110000"/>
              </a:lnSpc>
              <a:spcAft>
                <a:spcPts val="400"/>
              </a:spcAft>
            </a:pPr>
            <a:r>
              <a:rPr sz="1000" b="0" i="0">
                <a:solidFill>
                  <a:srgbClr val="475569"/>
                </a:solidFill>
                <a:latin typeface="Segoe UI"/>
              </a:rPr>
              <a:t>14 / 15</a:t>
            </a:r>
          </a:p>
        </p:txBody>
      </p:sp>
      <p:sp>
        <p:nvSpPr>
          <p:cNvPr id="8" name="Rounded Rectangle 7"/>
          <p:cNvSpPr/>
          <p:nvPr/>
        </p:nvSpPr>
        <p:spPr>
          <a:xfrm>
            <a:off x="548640" y="1554480"/>
            <a:ext cx="5422392" cy="4663440"/>
          </a:xfrm>
          <a:prstGeom prst="roundRect">
            <a:avLst>
              <a:gd name="adj" fmla="val 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48640" y="1554480"/>
            <a:ext cx="5422392" cy="685800"/>
          </a:xfrm>
          <a:prstGeom prst="roundRect">
            <a:avLst>
              <a:gd name="adj" fmla="val 2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1645920"/>
            <a:ext cx="5422392" cy="502920"/>
          </a:xfrm>
          <a:prstGeom prst="rect">
            <a:avLst/>
          </a:prstGeom>
          <a:noFill/>
        </p:spPr>
        <p:txBody>
          <a:bodyPr wrap="square" lIns="45720" rIns="45720" tIns="27432" bIns="27432" anchor="t"/>
          <a:lstStyle/>
          <a:p>
            <a:pPr algn="ctr">
              <a:lnSpc>
                <a:spcPct val="110000"/>
              </a:lnSpc>
              <a:spcAft>
                <a:spcPts val="400"/>
              </a:spcAft>
            </a:pPr>
            <a:r>
              <a:rPr sz="2100" b="1" i="0">
                <a:solidFill>
                  <a:srgbClr val="FFFFFF"/>
                </a:solidFill>
                <a:latin typeface="Segoe UI Semibold"/>
              </a:rPr>
              <a:t>Current limitations</a:t>
            </a:r>
          </a:p>
        </p:txBody>
      </p:sp>
      <p:sp>
        <p:nvSpPr>
          <p:cNvPr id="11" name="TextBox 10"/>
          <p:cNvSpPr txBox="1"/>
          <p:nvPr/>
        </p:nvSpPr>
        <p:spPr>
          <a:xfrm>
            <a:off x="868680" y="2468880"/>
            <a:ext cx="4846320" cy="3657600"/>
          </a:xfrm>
          <a:prstGeom prst="rect">
            <a:avLst/>
          </a:prstGeom>
          <a:noFill/>
        </p:spPr>
        <p:txBody>
          <a:bodyPr wrap="square" lIns="45720" rIns="45720" tIns="27432" bIns="27432" anchor="t"/>
          <a:lstStyle/>
          <a:p>
            <a:pPr algn="l" marL="256032" indent="-256032">
              <a:lnSpc>
                <a:spcPct val="110000"/>
              </a:lnSpc>
              <a:spcAft>
                <a:spcPts val="1200"/>
              </a:spcAft>
            </a:pPr>
            <a:r>
              <a:rPr sz="1700" b="1" i="0">
                <a:solidFill>
                  <a:srgbClr val="B45309"/>
                </a:solidFill>
                <a:latin typeface="Segoe UI"/>
              </a:rPr>
              <a:t>▸	</a:t>
            </a:r>
            <a:r>
              <a:rPr sz="1700" b="0" i="0">
                <a:solidFill>
                  <a:srgbClr val="0F172A"/>
                </a:solidFill>
                <a:latin typeface="Segoe UI"/>
              </a:rPr>
              <a:t>No functions, arrays, </a:t>
            </a:r>
            <a:r>
              <a:rPr sz="1700" b="0" i="0">
                <a:solidFill>
                  <a:srgbClr val="0D9488"/>
                </a:solidFill>
                <a:latin typeface="Consolas"/>
              </a:rPr>
              <a:t>for</a:t>
            </a:r>
            <a:r>
              <a:rPr sz="1700" b="0" i="0">
                <a:solidFill>
                  <a:srgbClr val="0F172A"/>
                </a:solidFill>
                <a:latin typeface="Segoe UI"/>
              </a:rPr>
              <a:t> loops or input</a:t>
            </a:r>
          </a:p>
          <a:p>
            <a:pPr algn="l" marL="256032" indent="-256032">
              <a:lnSpc>
                <a:spcPct val="110000"/>
              </a:lnSpc>
              <a:spcAft>
                <a:spcPts val="1200"/>
              </a:spcAft>
            </a:pPr>
            <a:r>
              <a:rPr sz="1700" b="1" i="0">
                <a:solidFill>
                  <a:srgbClr val="B45309"/>
                </a:solidFill>
                <a:latin typeface="Segoe UI"/>
              </a:rPr>
              <a:t>▸	</a:t>
            </a:r>
            <a:r>
              <a:rPr sz="1700" b="0" i="0">
                <a:solidFill>
                  <a:srgbClr val="0F172A"/>
                </a:solidFill>
                <a:latin typeface="Segoe UI"/>
              </a:rPr>
              <a:t>Only the first syntax error is reported</a:t>
            </a:r>
          </a:p>
          <a:p>
            <a:pPr algn="l" marL="256032" indent="-256032">
              <a:lnSpc>
                <a:spcPct val="110000"/>
              </a:lnSpc>
              <a:spcAft>
                <a:spcPts val="1200"/>
              </a:spcAft>
            </a:pPr>
            <a:r>
              <a:rPr sz="1700" b="1" i="0">
                <a:solidFill>
                  <a:srgbClr val="B45309"/>
                </a:solidFill>
                <a:latin typeface="Segoe UI"/>
              </a:rPr>
              <a:t>▸	</a:t>
            </a:r>
            <a:r>
              <a:rPr sz="1700" b="0" i="0">
                <a:solidFill>
                  <a:srgbClr val="0F172A"/>
                </a:solidFill>
                <a:latin typeface="Segoe UI"/>
              </a:rPr>
              <a:t>Optimization is local to basic blocks; no loop-invariant code motion</a:t>
            </a:r>
          </a:p>
          <a:p>
            <a:pPr algn="l" marL="256032" indent="-256032">
              <a:lnSpc>
                <a:spcPct val="110000"/>
              </a:lnSpc>
              <a:spcAft>
                <a:spcPts val="1200"/>
              </a:spcAft>
            </a:pPr>
            <a:r>
              <a:rPr sz="1700" b="1" i="0">
                <a:solidFill>
                  <a:srgbClr val="B45309"/>
                </a:solidFill>
                <a:latin typeface="Segoe UI"/>
              </a:rPr>
              <a:t>▸	</a:t>
            </a:r>
            <a:r>
              <a:rPr sz="1700" b="0" i="0">
                <a:solidFill>
                  <a:srgbClr val="0F172A"/>
                </a:solidFill>
                <a:latin typeface="Segoe UI"/>
              </a:rPr>
              <a:t>Run-time ÷0 or overflow is undefined, as in C++</a:t>
            </a:r>
          </a:p>
          <a:p>
            <a:pPr algn="l" marL="256032" indent="-256032">
              <a:lnSpc>
                <a:spcPct val="110000"/>
              </a:lnSpc>
              <a:spcAft>
                <a:spcPts val="1200"/>
              </a:spcAft>
            </a:pPr>
            <a:r>
              <a:rPr sz="1700" b="1" i="0">
                <a:solidFill>
                  <a:srgbClr val="B45309"/>
                </a:solidFill>
                <a:latin typeface="Segoe UI"/>
              </a:rPr>
              <a:t>▸	</a:t>
            </a:r>
            <a:r>
              <a:rPr sz="1700" b="0" i="0">
                <a:solidFill>
                  <a:srgbClr val="0F172A"/>
                </a:solidFill>
                <a:latin typeface="Segoe UI"/>
              </a:rPr>
              <a:t>Free hosting sleeps when idle: cold start up to ~1 minute</a:t>
            </a:r>
          </a:p>
        </p:txBody>
      </p:sp>
      <p:sp>
        <p:nvSpPr>
          <p:cNvPr id="12" name="Rounded Rectangle 11"/>
          <p:cNvSpPr/>
          <p:nvPr/>
        </p:nvSpPr>
        <p:spPr>
          <a:xfrm>
            <a:off x="6217920" y="1554480"/>
            <a:ext cx="5422392" cy="4663440"/>
          </a:xfrm>
          <a:prstGeom prst="roundRect">
            <a:avLst>
              <a:gd name="adj" fmla="val 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217920" y="1554480"/>
            <a:ext cx="5422392" cy="685800"/>
          </a:xfrm>
          <a:prstGeom prst="roundRect">
            <a:avLst>
              <a:gd name="adj" fmla="val 2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17920" y="1645920"/>
            <a:ext cx="5422392" cy="502920"/>
          </a:xfrm>
          <a:prstGeom prst="rect">
            <a:avLst/>
          </a:prstGeom>
          <a:noFill/>
        </p:spPr>
        <p:txBody>
          <a:bodyPr wrap="square" lIns="45720" rIns="45720" tIns="27432" bIns="27432" anchor="t"/>
          <a:lstStyle/>
          <a:p>
            <a:pPr algn="ctr">
              <a:lnSpc>
                <a:spcPct val="110000"/>
              </a:lnSpc>
              <a:spcAft>
                <a:spcPts val="400"/>
              </a:spcAft>
            </a:pPr>
            <a:r>
              <a:rPr sz="2100" b="1" i="0">
                <a:solidFill>
                  <a:srgbClr val="FFFFFF"/>
                </a:solidFill>
                <a:latin typeface="Segoe UI Semibold"/>
              </a:rPr>
              <a:t>Future enhancements</a:t>
            </a:r>
          </a:p>
        </p:txBody>
      </p:sp>
      <p:sp>
        <p:nvSpPr>
          <p:cNvPr id="15" name="TextBox 14"/>
          <p:cNvSpPr txBox="1"/>
          <p:nvPr/>
        </p:nvSpPr>
        <p:spPr>
          <a:xfrm>
            <a:off x="6537959" y="2468880"/>
            <a:ext cx="4846320" cy="3657600"/>
          </a:xfrm>
          <a:prstGeom prst="rect">
            <a:avLst/>
          </a:prstGeom>
          <a:noFill/>
        </p:spPr>
        <p:txBody>
          <a:bodyPr wrap="square" lIns="45720" rIns="45720" tIns="27432" bIns="27432" anchor="t"/>
          <a:lstStyle/>
          <a:p>
            <a:pPr algn="l" marL="256032" indent="-256032">
              <a:lnSpc>
                <a:spcPct val="110000"/>
              </a:lnSpc>
              <a:spcAft>
                <a:spcPts val="1200"/>
              </a:spcAft>
            </a:pPr>
            <a:r>
              <a:rPr sz="1700" b="1" i="0">
                <a:solidFill>
                  <a:srgbClr val="0D9488"/>
                </a:solidFill>
                <a:latin typeface="Segoe UI"/>
              </a:rPr>
              <a:t>▸	</a:t>
            </a:r>
            <a:r>
              <a:rPr sz="1700" b="0" i="0">
                <a:solidFill>
                  <a:srgbClr val="0F172A"/>
                </a:solidFill>
                <a:latin typeface="Segoe UI"/>
              </a:rPr>
              <a:t>Functions with a call stack in TAC</a:t>
            </a:r>
          </a:p>
          <a:p>
            <a:pPr algn="l" marL="256032" indent="-256032">
              <a:lnSpc>
                <a:spcPct val="110000"/>
              </a:lnSpc>
              <a:spcAft>
                <a:spcPts val="1200"/>
              </a:spcAft>
            </a:pPr>
            <a:r>
              <a:rPr sz="1700" b="1" i="0">
                <a:solidFill>
                  <a:srgbClr val="0D9488"/>
                </a:solidFill>
                <a:latin typeface="Segoe UI"/>
              </a:rPr>
              <a:t>▸	</a:t>
            </a:r>
            <a:r>
              <a:rPr sz="1700" b="0" i="0">
                <a:solidFill>
                  <a:srgbClr val="0F172A"/>
                </a:solidFill>
                <a:latin typeface="Segoe UI"/>
              </a:rPr>
              <a:t>Panic-mode error recovery for multiple syntax errors</a:t>
            </a:r>
          </a:p>
          <a:p>
            <a:pPr algn="l" marL="256032" indent="-256032">
              <a:lnSpc>
                <a:spcPct val="110000"/>
              </a:lnSpc>
              <a:spcAft>
                <a:spcPts val="1200"/>
              </a:spcAft>
            </a:pPr>
            <a:r>
              <a:rPr sz="1700" b="1" i="0">
                <a:solidFill>
                  <a:srgbClr val="0D9488"/>
                </a:solidFill>
                <a:latin typeface="Segoe UI"/>
              </a:rPr>
              <a:t>▸	</a:t>
            </a:r>
            <a:r>
              <a:rPr sz="1700" b="0" i="0">
                <a:solidFill>
                  <a:srgbClr val="0F172A"/>
                </a:solidFill>
                <a:latin typeface="Segoe UI"/>
              </a:rPr>
              <a:t>Global data-flow analysis and SSA form</a:t>
            </a:r>
          </a:p>
          <a:p>
            <a:pPr algn="l" marL="256032" indent="-256032">
              <a:lnSpc>
                <a:spcPct val="110000"/>
              </a:lnSpc>
              <a:spcAft>
                <a:spcPts val="1200"/>
              </a:spcAft>
            </a:pPr>
            <a:r>
              <a:rPr sz="1700" b="1" i="0">
                <a:solidFill>
                  <a:srgbClr val="0D9488"/>
                </a:solidFill>
                <a:latin typeface="Segoe UI"/>
              </a:rPr>
              <a:t>▸	</a:t>
            </a:r>
            <a:r>
              <a:rPr sz="1700" b="0" i="0">
                <a:solidFill>
                  <a:srgbClr val="0F172A"/>
                </a:solidFill>
                <a:latin typeface="Segoe UI"/>
              </a:rPr>
              <a:t>Run generated C++ in the browser via WebAssembly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85800" y="548640"/>
            <a:ext cx="6400800" cy="365760"/>
          </a:xfrm>
          <a:prstGeom prst="rect">
            <a:avLst/>
          </a:prstGeom>
          <a:noFill/>
        </p:spPr>
        <p:txBody>
          <a:bodyPr wrap="square" lIns="45720" rIns="45720" tIns="27432" bIns="27432" anchor="t"/>
          <a:lstStyle/>
          <a:p>
            <a:pPr algn="l">
              <a:lnSpc>
                <a:spcPct val="110000"/>
              </a:lnSpc>
              <a:spcAft>
                <a:spcPts val="400"/>
              </a:spcAft>
            </a:pPr>
            <a:r>
              <a:rPr sz="1400" b="1" i="0">
                <a:solidFill>
                  <a:srgbClr val="2DD4BF"/>
                </a:solidFill>
                <a:latin typeface="Segoe UI Semibold"/>
              </a:rPr>
              <a:t>CONCLUSION</a:t>
            </a:r>
          </a:p>
        </p:txBody>
      </p:sp>
      <p:sp>
        <p:nvSpPr>
          <p:cNvPr id="4" name="TextBox 3"/>
          <p:cNvSpPr txBox="1"/>
          <p:nvPr/>
        </p:nvSpPr>
        <p:spPr>
          <a:xfrm>
            <a:off x="685800" y="914400"/>
            <a:ext cx="6766560" cy="731520"/>
          </a:xfrm>
          <a:prstGeom prst="rect">
            <a:avLst/>
          </a:prstGeom>
          <a:noFill/>
        </p:spPr>
        <p:txBody>
          <a:bodyPr wrap="square" lIns="45720" rIns="45720" tIns="27432" bIns="27432" anchor="t"/>
          <a:lstStyle/>
          <a:p>
            <a:pPr algn="l">
              <a:lnSpc>
                <a:spcPct val="110000"/>
              </a:lnSpc>
              <a:spcAft>
                <a:spcPts val="400"/>
              </a:spcAft>
            </a:pPr>
            <a:r>
              <a:rPr sz="3200" b="1" i="0">
                <a:solidFill>
                  <a:srgbClr val="FFFFFF"/>
                </a:solidFill>
                <a:latin typeface="Segoe UI Semibold"/>
              </a:rPr>
              <a:t>What CodeBridge delivers</a:t>
            </a:r>
          </a:p>
        </p:txBody>
      </p:sp>
      <p:sp>
        <p:nvSpPr>
          <p:cNvPr id="5" name="TextBox 4"/>
          <p:cNvSpPr txBox="1"/>
          <p:nvPr/>
        </p:nvSpPr>
        <p:spPr>
          <a:xfrm>
            <a:off x="685800" y="1783080"/>
            <a:ext cx="6583680" cy="3474720"/>
          </a:xfrm>
          <a:prstGeom prst="rect">
            <a:avLst/>
          </a:prstGeom>
          <a:noFill/>
        </p:spPr>
        <p:txBody>
          <a:bodyPr wrap="square" lIns="45720" rIns="45720" tIns="27432" bIns="27432" anchor="t"/>
          <a:lstStyle/>
          <a:p>
            <a:pPr algn="l" marL="256032" indent="-256032">
              <a:lnSpc>
                <a:spcPct val="110000"/>
              </a:lnSpc>
              <a:spcAft>
                <a:spcPts val="1200"/>
              </a:spcAft>
            </a:pPr>
            <a:r>
              <a:rPr sz="1800" b="1" i="0">
                <a:solidFill>
                  <a:srgbClr val="2DD4BF"/>
                </a:solidFill>
                <a:latin typeface="Segoe UI"/>
              </a:rPr>
              <a:t>▸	</a:t>
            </a:r>
            <a:r>
              <a:rPr sz="1800" b="0" i="0">
                <a:solidFill>
                  <a:srgbClr val="FFFFFF"/>
                </a:solidFill>
                <a:latin typeface="Segoe UI"/>
              </a:rPr>
              <a:t>A complete, hand-written six-phase compiler from pseudocode to C++17.</a:t>
            </a:r>
          </a:p>
          <a:p>
            <a:pPr algn="l" marL="256032" indent="-256032">
              <a:lnSpc>
                <a:spcPct val="110000"/>
              </a:lnSpc>
              <a:spcAft>
                <a:spcPts val="1200"/>
              </a:spcAft>
            </a:pPr>
            <a:r>
              <a:rPr sz="1800" b="1" i="0">
                <a:solidFill>
                  <a:srgbClr val="2DD4BF"/>
                </a:solidFill>
                <a:latin typeface="Segoe UI"/>
              </a:rPr>
              <a:t>▸	</a:t>
            </a:r>
            <a:r>
              <a:rPr sz="1800" b="0" i="0">
                <a:solidFill>
                  <a:srgbClr val="FFFFFF"/>
                </a:solidFill>
                <a:latin typeface="Segoe UI"/>
              </a:rPr>
              <a:t>Every phase visible in a deployed, responsive web workbench.</a:t>
            </a:r>
          </a:p>
          <a:p>
            <a:pPr algn="l" marL="256032" indent="-256032">
              <a:lnSpc>
                <a:spcPct val="110000"/>
              </a:lnSpc>
              <a:spcAft>
                <a:spcPts val="1200"/>
              </a:spcAft>
            </a:pPr>
            <a:r>
              <a:rPr sz="1800" b="1" i="0">
                <a:solidFill>
                  <a:srgbClr val="2DD4BF"/>
                </a:solidFill>
                <a:latin typeface="Segoe UI"/>
              </a:rPr>
              <a:t>▸	</a:t>
            </a:r>
            <a:r>
              <a:rPr sz="1800" b="0" i="0">
                <a:solidFill>
                  <a:srgbClr val="FFFFFF"/>
                </a:solidFill>
                <a:latin typeface="Segoe UI"/>
              </a:rPr>
              <a:t>Safe, measurable optimization (e.g. 25 → 14 TAC instructions).</a:t>
            </a:r>
          </a:p>
          <a:p>
            <a:pPr algn="l" marL="256032" indent="-256032">
              <a:lnSpc>
                <a:spcPct val="110000"/>
              </a:lnSpc>
              <a:spcAft>
                <a:spcPts val="1200"/>
              </a:spcAft>
            </a:pPr>
            <a:r>
              <a:rPr sz="1800" b="1" i="0">
                <a:solidFill>
                  <a:srgbClr val="2DD4BF"/>
                </a:solidFill>
                <a:latin typeface="Segoe UI"/>
              </a:rPr>
              <a:t>▸	</a:t>
            </a:r>
            <a:r>
              <a:rPr sz="1800" b="0" i="0">
                <a:solidFill>
                  <a:srgbClr val="FFFFFF"/>
                </a:solidFill>
                <a:latin typeface="Segoe UI"/>
              </a:rPr>
              <a:t>Correctness backed by 233 automated tests, reference interpreters and real g++ builds.</a:t>
            </a:r>
          </a:p>
        </p:txBody>
      </p:sp>
      <p:sp>
        <p:nvSpPr>
          <p:cNvPr id="6" name="Rounded Rectangle 5"/>
          <p:cNvSpPr/>
          <p:nvPr/>
        </p:nvSpPr>
        <p:spPr>
          <a:xfrm>
            <a:off x="7818120" y="914400"/>
            <a:ext cx="3840480" cy="4297680"/>
          </a:xfrm>
          <a:prstGeom prst="roundRect">
            <a:avLst>
              <a:gd name="adj" fmla="val 6000"/>
            </a:avLst>
          </a:prstGeom>
          <a:solidFill>
            <a:srgbClr val="131C2E"/>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18120" y="1417320"/>
            <a:ext cx="3840480" cy="914400"/>
          </a:xfrm>
          <a:prstGeom prst="rect">
            <a:avLst/>
          </a:prstGeom>
          <a:noFill/>
        </p:spPr>
        <p:txBody>
          <a:bodyPr wrap="square" lIns="45720" rIns="45720" tIns="27432" bIns="27432" anchor="t"/>
          <a:lstStyle/>
          <a:p>
            <a:pPr algn="ctr">
              <a:lnSpc>
                <a:spcPct val="110000"/>
              </a:lnSpc>
              <a:spcAft>
                <a:spcPts val="400"/>
              </a:spcAft>
            </a:pPr>
            <a:r>
              <a:rPr sz="3400" b="1" i="0">
                <a:solidFill>
                  <a:srgbClr val="FFFFFF"/>
                </a:solidFill>
                <a:latin typeface="Segoe UI Semibold"/>
              </a:rPr>
              <a:t>Thank you</a:t>
            </a:r>
          </a:p>
        </p:txBody>
      </p:sp>
      <p:sp>
        <p:nvSpPr>
          <p:cNvPr id="8" name="TextBox 7"/>
          <p:cNvSpPr txBox="1"/>
          <p:nvPr/>
        </p:nvSpPr>
        <p:spPr>
          <a:xfrm>
            <a:off x="7818120" y="2286000"/>
            <a:ext cx="3840480" cy="731520"/>
          </a:xfrm>
          <a:prstGeom prst="rect">
            <a:avLst/>
          </a:prstGeom>
          <a:noFill/>
        </p:spPr>
        <p:txBody>
          <a:bodyPr wrap="square" lIns="45720" rIns="45720" tIns="27432" bIns="27432" anchor="t"/>
          <a:lstStyle/>
          <a:p>
            <a:pPr algn="ctr">
              <a:lnSpc>
                <a:spcPct val="110000"/>
              </a:lnSpc>
              <a:spcAft>
                <a:spcPts val="400"/>
              </a:spcAft>
            </a:pPr>
            <a:r>
              <a:rPr sz="2800" b="0" i="0">
                <a:solidFill>
                  <a:srgbClr val="2DD4BF"/>
                </a:solidFill>
                <a:latin typeface="Segoe UI Semibold"/>
              </a:rPr>
              <a:t>Questions?</a:t>
            </a:r>
          </a:p>
        </p:txBody>
      </p:sp>
      <p:sp>
        <p:nvSpPr>
          <p:cNvPr id="9" name="TextBox 8"/>
          <p:cNvSpPr txBox="1"/>
          <p:nvPr/>
        </p:nvSpPr>
        <p:spPr>
          <a:xfrm>
            <a:off x="8046720" y="3291840"/>
            <a:ext cx="3383280" cy="1645920"/>
          </a:xfrm>
          <a:prstGeom prst="rect">
            <a:avLst/>
          </a:prstGeom>
          <a:noFill/>
        </p:spPr>
        <p:txBody>
          <a:bodyPr wrap="square" lIns="45720" rIns="45720" tIns="27432" bIns="27432" anchor="t"/>
          <a:lstStyle/>
          <a:p>
            <a:pPr algn="ctr">
              <a:lnSpc>
                <a:spcPct val="110000"/>
              </a:lnSpc>
              <a:spcAft>
                <a:spcPts val="300"/>
              </a:spcAft>
            </a:pPr>
            <a:r>
              <a:rPr sz="1300" b="1" i="0">
                <a:solidFill>
                  <a:srgbClr val="2DD4BF"/>
                </a:solidFill>
                <a:latin typeface="Segoe UI"/>
              </a:rPr>
              <a:t>Live app</a:t>
            </a:r>
          </a:p>
          <a:p>
            <a:pPr algn="ctr">
              <a:lnSpc>
                <a:spcPct val="110000"/>
              </a:lnSpc>
              <a:spcAft>
                <a:spcPts val="300"/>
              </a:spcAft>
            </a:pPr>
            <a:r>
              <a:rPr sz="1400" b="0" i="0">
                <a:solidFill>
                  <a:srgbClr val="FFFFFF"/>
                </a:solidFill>
                <a:latin typeface="Segoe UI"/>
              </a:rPr>
              <a:t>codebridge-swart.vercel.app</a:t>
            </a:r>
          </a:p>
          <a:p>
            <a:pPr algn="ctr">
              <a:lnSpc>
                <a:spcPct val="110000"/>
              </a:lnSpc>
              <a:spcAft>
                <a:spcPts val="300"/>
              </a:spcAft>
            </a:pPr>
            <a:r>
              <a:rPr sz="1300" b="1" i="0">
                <a:solidFill>
                  <a:srgbClr val="2DD4BF"/>
                </a:solidFill>
                <a:latin typeface="Segoe UI"/>
              </a:rPr>
              <a:t>Source code</a:t>
            </a:r>
          </a:p>
          <a:p>
            <a:pPr algn="ctr">
              <a:lnSpc>
                <a:spcPct val="110000"/>
              </a:lnSpc>
              <a:spcAft>
                <a:spcPts val="300"/>
              </a:spcAft>
            </a:pPr>
            <a:r>
              <a:rPr sz="1400" b="0" i="0">
                <a:solidFill>
                  <a:srgbClr val="FFFFFF"/>
                </a:solidFill>
                <a:latin typeface="Segoe UI"/>
              </a:rPr>
              <a:t>github.com/ashmita-dev/CodeBridge</a:t>
            </a:r>
          </a:p>
        </p:txBody>
      </p:sp>
      <p:sp>
        <p:nvSpPr>
          <p:cNvPr id="10" name="TextBox 9"/>
          <p:cNvSpPr txBox="1"/>
          <p:nvPr/>
        </p:nvSpPr>
        <p:spPr>
          <a:xfrm>
            <a:off x="685800" y="5852160"/>
            <a:ext cx="10972800" cy="365760"/>
          </a:xfrm>
          <a:prstGeom prst="rect">
            <a:avLst/>
          </a:prstGeom>
          <a:noFill/>
        </p:spPr>
        <p:txBody>
          <a:bodyPr wrap="square" lIns="45720" rIns="45720" tIns="27432" bIns="27432" anchor="t"/>
          <a:lstStyle/>
          <a:p>
            <a:pPr algn="l">
              <a:lnSpc>
                <a:spcPct val="110000"/>
              </a:lnSpc>
              <a:spcAft>
                <a:spcPts val="400"/>
              </a:spcAft>
            </a:pPr>
            <a:r>
              <a:rPr sz="1300" b="0" i="0">
                <a:solidFill>
                  <a:srgbClr val="94A3B8"/>
                </a:solidFill>
                <a:latin typeface="Segoe UI"/>
              </a:rPr>
              <a:t>[Student Name]  ·  [Roll Number]  ·  Guide: [Guide Name]  ·  [Institution]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CodeBridge: Pseudocode-to-C++ Compiler</dc:title>
  <dc:subject/>
  <dc:creator>[Student Name]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